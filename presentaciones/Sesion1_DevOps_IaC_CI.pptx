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a todos y bienvenidos al curso de diseño e implementación de soluciones DevOps en AWS. Soy Jorge y durante estas dos sesiones de cuatro horas vamos a recorrer el camino completo que sigue un cambio desde que un desarrollador lo escribe hasta que está funcionando en producción, y lo vamos a hacer con los servicios nativos de AWS.
El planteamiento es muy práctico. Cada bloque de teoría va seguido de un laboratorio guiado que haréis en vuestra propia cuenta o entorno de AWS, y todos los laboratorios los haremos desde AWS CloudShell, que es una terminal en el navegador con las herramientas ya instaladas, para que nadie pierda tiempo instalando nada en su equipo.
Los laboratorios son independientes entre sí: cada uno crea su propio punto de partida, así que si alguno se complica no arrastraréis el problema a la práctica siguiente. Y al final de cada práctica hay un apartado de limpieza que os pido que hagáis siempre, porque en la nube lo que se deja encendido se paga.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 hoy. Empezamos situando qué entendemos por DevOps y qué piezas nos ofrece AWS para cada fase del ciclo de entrega. Después entramos en la infraestructura como código, que es el cimiento de todo lo demás, y la practicamos con CloudFormation en el primer laboratorio.
Tras el descanso veremos la integración continua con CodeBuild, es decir, cómo compilar y probar automáticamente cada cambio, y lo practicaremos en el segundo laboratorio. Mañana construiremos sobre esto la entrega continua con CodePipeline, las estrategias de despliegue seguro, la observabilidad y la seguridad de las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cuatro capacidades que quiero que os llevéis. La primera es la infraestructura como código: que seáis capaces de describir la infraestructura en plantillas versionadas, desplegarlas de forma repetible y detectar cuándo alguien ha hecho cambios a mano que se salen de lo definido.
La segunda es la integración continua, con proyectos de CodeBuild que construyen y prueban el código en cada cambio y generan artefactos listos para desplegar. La tercera es la entrega continua, encadenando todo en pipelines con etapas, aprobaciones y despliegues automáticos.
Y la cuarta, que es la que marca la diferencia entre una pipeline de demostración y una de producción, son los despliegues seguros: estrategias canary con vuelta atrás automática cuando una alarma detecta errores, observabilidad y pipelines que no dependen de claves de acceso guardadas en ningún sitio. Las dos primeras las trabajamos hoy y las dos últimas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primer bloque, en el que vamos a fijar el marco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servicios quiero dejar claro algo que se olvida con frecuencia: DevOps no es una herramienta ni un puesto de trabajo, sino una forma de organizar el trabajo para entregar valor de manera rápida y fiable. Si compramos las mejores herramientas pero seguimos teniendo un equipo que desarrolla y otro que despliega una vez al trimestre, no estaremos haciendo DevOps.
Lo resumo en cuatro pilares. La cultura, que significa responsabilidad compartida: en AWS se usa mucho la expresión de que quien construye un servicio también lo opera. La automatización, porque todo lo que hacemos a mano más de dos veces es una fuente de errores y de lentitud. La medición, porque para mejorar necesitamos saber dónde estamos, y ahora veremos qué métricas se usan. Y la mejora continua, que se apoya en trabajar en lotes pequeños: un cambio pequeño es más fácil de revisar, de probar y de revertir que uno grande.
Todo lo que veremos en el curso, desde la infraestructura como código hasta los despliegues canary, son formas concretas de aplicar estos principios.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medición, la referencia que más se utiliza en el sector son las cuatro métricas del programa de investigación DORA, que llevan años estudiando qué distingue a los equipos que entregan software con más rendimiento.
Dos de ellas miden la velocidad: la frecuencia de despliegue, es decir, cada cuánto llega un cambio a producción, y el tiempo de entrega de cambios, que es lo que tarda un commit en estar en producción. Las otras dos miden la estabilidad: la tasa de fallo de cambios, o qué porcentaje de despliegues provoca una incidencia o una vuelta atrás, y el tiempo de recuperación cuando algo falla.
Lo interesante de los estudios de DORA es que muestran que velocidad y estabilidad no están reñidas: los equipos de mayor rendimiento son a la vez los que más despliegan y los que menos fallan, precisamente porque despliegan cambios pequeños y automatizados.
En la columna de la derecha tenéis de dónde podríamos sacar cada métrica en AWS. No hay un panel que os las dé hechas, pero el historial de CodePipeline, los eventos de CodeDeploy y las alarmas de CloudWatch contienen los datos necesarios para calcularlas.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de un cambio que vamos a automatizar durante el curso, y os pido que lo tengáis en mente porque cada laboratorio cubre un tramo.
Todo empieza en el código, en un repositorio Git, normalmente con una rama y una pull request que otra persona revisa. Cuando el cambio se integra, se dispara el build: se compila si es necesario, se ejecutan las pruebas unitarias, el análisis de estilo y los análisis de seguridad. Si todo va bien, se genera un artefacto, y aquí hay una idea clave: el artefacto debe ser inmutable y versionado, de modo que lo que se prueba en el entorno de pruebas sea exactamente lo mismo que se despliega en producción.
Después viene el despliegue por entornos, con aprobaciones manuales donde el negocio las necesite, y por último la observación, que es la etapa que muchos equipos olvidan: después de desplegar tenemos que confirmar con métricas que el cambio funciona, y si no funciona, revertirlo automáticamente. Hoy trabajaremos la infraestructura sobre la que se despliega y el tramo de build y test; mañana el despliegue y la observación.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ahora qué servicios de AWS cubren cada fase. Para el código, lo habitual hoy en día es usar GitHub, GitLab o Bitbucket y conectarlos con AWS mediante CodeConnections, el servicio que antes se llamaba CodeStar Connections y que permite que una pipeline se dispare con cada cambio en el repositorio.
Para el build y las pruebas tenemos CodeBuild, que levanta un contenedor efímero en cada ejecución, y lo complementan CodeArtifact, que es un repositorio de paquetes para dependencias, y ECR, el registro de imágenes de contenedores. CodePipeline orquesta todas las etapas, gestionando los artefactos que pasan de una a otra y las aprobaciones.
Para el despliegue tenemos la familia de infraestructura como código, con CloudFormation como base y SAM y CDK construidos encima, y CodeDeploy, que implementa estrategias de despliegue como canary o blue green. En observación, CloudWatch con sus métricas, logs y alarmas, X-Ray para trazas distribuidas y CloudTrail para auditar quién hizo qué. Y transversalmente, IAM, Secrets Manager y Parameter Store para la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segundo bloque, la infraestructura como código, que es la base sobre la que se construye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infraestructura como código consiste en describir la infraestructura en ficheros de texto que se versionan en Git, se revisan como cualquier otro código y se despliegan de forma automatizada. Así conseguimos entornos reproducibles, un historial de cambios y la posibilidad de montar un entorno idéntico en minutos.
En AWS tenemos cuatro opciones principales. CloudFormation es el servicio nativo: escribimos plantillas declarativas en YAML o JSON que describen el estado deseado, y el servicio se encarga de crear, modificar o eliminar recursos para alcanzarlo, guardando el estado por nosotros. SAM es una extensión de CloudFormation pensada para aplicaciones serverless, con una sintaxis mucho más compacta para funciones Lambda o APIs, y la usaremos mañana. CDK permite escribir la infraestructura en lenguajes de programación y genera CloudFormation por debajo.
Y fuera del ecosistema nativo está Terraform, o su bifurcación abierta OpenTofu, muy popular en entornos multi-nube, con la diferencia de que el estado lo gestionamos nosotros. En el curso usaremos CloudFormation y SAM porque son la base de la integración con CodePipeline, pero los conceptos son trasladables.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la estructura de una plantilla. Tiene varias secciones, pero las tres que usaréis siempre son estas.
En Parameters declaramos los valores que se proporcionan al desplegar, lo que nos permite usar la misma plantilla para varios entornos. Aquí tenemos un parámetro Entorno que solo admite tres valores, lo que ya es una pequeña validación.
En Resources declaramos los recursos que queremos. Cada uno tiene un nombre lógico, un tipo y unas propiedades. En este ejemplo, un bucket de S3 con el versionado activado y una etiqueta cuyo valor viene del parámetro, usando la función Ref. Fijaos en la línea DeletionPolicy Retain: significa que si borramos el stack, el bucket no se borrará, lo cual es fundamental para recursos que contienen datos.
En Outputs exponemos valores útiles, como el nombre real del bucket, y con Export los ponemos a disposición de otros stacks, que podrán importarlos. Las funciones intrínsecas como Ref, Sub o GetAtt son las que nos permiten conectar recursos entre sí sin escribir identificadores a mano. En el laboratorio trabajaréis con una plantilla muy parecida 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ciclo de vida de un stack, y cada paso tiene su porqué. Antes de desplegar validamos la plantilla, idealmente con cfn-lint, que detecta errores y malas prácticas mucho antes que el propio servicio.
Después, en lugar de aplicar los cambios directamente, creamos un change set, que es una previsualización de lo que va a ocurrir: qué recursos se añaden, cuáles se modifican y, muy importante, cuáles se reemplazan. Un reemplazo significa que CloudFormation borra el recurso y crea uno nuevo, y si ese recurso es una base de datos, las consecuencias pueden ser graves. Revisar el change set es el equivalente a revisar un plan antes de ejecutarlo.
Cuando lo ejecutamos, CloudFormation aplica los cambios respetando las dependencias entre recursos, y si algo falla hace rollback automáticamente al último estado estable. Y por último, la detección de drift compara la configuración real de los recursos con la plantilla y nos dice si alguien ha hecho cambios a mano desde la consola. Esto es clave, porque un cambio manual rompe la promesa de que la plantilla describe la realidad.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resumo las buenas prácticas y los antipatrones más frecuentes. Las plantillas deben vivir en Git y cambiar mediante pull requests revisadas, igual que el código de la aplicación. Conviene dividir la infraestructura en stacks pequeños agrupados por ciclo de vida: la red cambia poco, los datos no se deben tocar alegremente y la aplicación cambia constantemente, así que separarlos reduce el riesgo de cada despliegue.
En producción, los change sets deberían ser obligatorios, y los stacks críticos deberían tener activada la protección contra borrado y una stack policy que impida actualizar recursos sensibles por accidente. Y los valores que cambian entre entornos van en parámetros o se leen de Parameter Store.
Entre los antipatrones, el más habitual es el cambio manual en la consola que genera drift. Le sigue poner secretos en la plantilla, que acaban en Git y en el historial de CloudFormation. También los stacks monolíticos, donde un cambio menor pone en riesgo todo, y los nombres de recursos fijos, que impiden desplegar la misma plantilla dos veces en la misma cuenta. En el laboratorio veréis por qué usamos siempre un sufijo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el primer laboratorio. Abriréis AWS CloudShell en la región de Irlanda, eu-west-1, y crearéis una plantilla con un bucket de S3 y un tema de SNS, parametrizada por entorno y con un sufijo único para que no choquéis con los compañeros.
La validaréis y la desplegaréis con la línea de comandos, revisando los eventos del stack y sus salidas. Después prepararéis un change set que incluye un cambio inofensivo y un cambio que provoca el reemplazo de un recurso, para que veáis cómo lo señala CloudFormation antes de ejecutarlo. Esa es probablemente la lección más importante de la práctica.
En la última parte haréis a propósito un cambio manual desde la consola, detectaréis el drift y lo corregiréis por la vía correcta, que es actualizar la plantilla. Tenéis la guía completa en el repositorio, con todos los comandos. Unos cincuenta minutos; yo voy pasando para ayudaros.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 nuevo. ¿Alguien ha visto algo interesante en el change set, por ejemplo el reemplazo del tema de SNS? Lo comentamos un momento y seguimos con el tercer bloque, la integración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CodeBuild es un servicio de build totalmente gestionado: no hay servidores de integración continua que mantener, y cada ejecución se hace en un contenedor nuevo que se destruye al terminar, lo que garantiza builds limpios y reproducibles. Pagamos por minuto de build.
El elemento central es el proyecto, que define de dónde sale el código, en qué entorno se ejecuta, con qué rol y dónde se dejan los artefactos y los logs. El entorno es la imagen del contenedor, que puede ser una de las gestionadas por AWS, con muchos lenguajes preinstalados, o una imagen propia, más el tamaño de cómputo.
Lo que se ejecuta lo describe el fichero buildspec, que vive junto al código y que veremos en la siguiente diapositiva. El rol de servicio define qué puede hacer el build en la cuenta, y aquí la regla es clara: permisos mínimos, y nunca claves de acceso en variables de entorno.
Además, CodeBuild puede interpretar los resultados de las pruebas en formato JUnit y la cobertura, mostrándolos en la consola con su histórico, y ofrece caché para no descargar las dependencias en cada build, lo que se nota mucho en tiempo y en coste.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tenéis un buildspec completo para una aplicación Python, y os lo voy a leer de arriba abajo porque cada bloque tiene su razón de ser.
En env declaramos variables, y en este caso una que se lee de Parameter Store. Esta es la forma correcta de pasar secretos al build: el valor nunca aparece en el repositorio ni en la configuración del proyecto, y el rol de servicio necesita permiso para leer ese parámetro concreto.
Después vienen las fases. En install fijamos la versión de Python e instalamos las dependencias de desarrollo. En pre_build ejecutamos el análisis de estilo con ruff, porque queremos fallar rápido: si el código no pasa el lint, no merece la pena ejecutar las pruebas. En build ejecutamos las pruebas con pytest generando un informe JUnit, y en post_build empaquetamos la aplicación.
La sección reports le dice a CodeBuild dónde está el informe de pruebas para mostrarlo en la consola, artifacts indica qué ficheros forman el artefacto de salida, y cache guarda la caché de pip entre builds. Un detalle importante: si un comando de las fases install, pre_build o build falla, el build se marca como fallido, que es exactamente lo que queremos.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debería comprobar una buena integración continua? A la izquierda tenéis los controles que yo pondría en cualquier proyecto: el análisis de estilo, las pruebas unitarias con su informe y su cobertura, la validación de las plantillas de infraestructura, un análisis de seguridad tanto de las dependencias como de la propia infraestructura como código, con herramientas como checkov o cfn-nag, y por último la construcción del artefacto versionado.
A la derecha, las propiedades que hacen que una CI sea útil y no un estorbo. Tiene que ser rápida, porque si tarda cuarenta minutos los desarrolladores dejarán de esperarla. Tiene que ser determinista, sin pruebas que fallan unas veces sí y otras no, porque esas pruebas intermitentes destruyen la confianza en la pipeline. Tiene que fallar pronto y con un mensaje que explique qué ha pasado. No debe usar credenciales estáticas ni imprimir secretos en los logs. Y debe producir un único artefacto que luego se promociona entre entornos, en lugar de reconstruir el código para cada entorno, porque si reconstruimos ya no estamos desplegando exactamente lo que hemos probado.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laboratorio. Empezaréis desplegando con CloudFormation un pequeño punto de partida que os crea el bucket de origen y artefactos y el rol de servicio de CodeBuild, de modo que la práctica no depende de la anterior.
Después crearéis en CloudShell una aplicación Python sencilla, sus pruebas y el buildspec que acabamos de ver, la empaquetaréis y la subiréis al bucket. Crearéis el proyecto de CodeBuild desde la consola, que es la mejor forma de ver todas las opciones, y lanzaréis el primer build.
Revisaréis los logs, el informe de pruebas y el artefacto generado. Y para terminar romperéis una prueba a propósito, para ver cómo falla el build y cómo se presenta el error, y activaréis la caché para comparar tiempos. Tenéis unos cincuenta y cinco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sesión de hoy repasando lo esencial. Hemos visto que DevOps es ante todo una forma de trabajar basada en la cultura de responsabilidad compartida, la automatización, la medición y la mejora continua, y que las métricas DORA nos dan una forma objetiva de medir tanto la velocidad como la estabilidad.
En infraestructura como código, habéis desplegado stacks con CloudFormation y habéis comprobado dos mecanismos que hacen que sea segura: los change sets, que nos avisan de un reemplazo antes de que ocurra, y la detección de drift, que descubre los cambios manuales. Y en integración continua habéis construido un proyecto de CodeBuild que ejecuta lint y pruebas, publica informes y genera un artefacto.
Mañana encadenaremos todo esto en una pipeline completa con CodePipeline, desplegaremos una función Lambda con una estrategia canary que se revierte sola si una alarma detecta errores, y hablaremos de observabilidad y de seguridad de las pipelines. Os recuerdo que hagáis la limpieza de los laboratorios de hoy. Muchas gracias y hasta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548640" y="640080"/>
            <a:ext cx="3291840" cy="365760"/>
          </a:xfrm>
          <a:prstGeom prst="roundRect">
            <a:avLst>
              <a:gd name="adj" fmla="val 50000"/>
            </a:avLst>
          </a:prstGeom>
          <a:solidFill>
            <a:srgbClr val="FF9900"/>
          </a:solidFill>
          <a:ln w="12700">
            <a:solidFill>
              <a:srgbClr val="FF9900"/>
            </a:solidFill>
            <a:prstDash val="solid"/>
          </a:ln>
        </p:spPr>
      </p:sp>
      <p:sp>
        <p:nvSpPr>
          <p:cNvPr id="3" name="Text 1"/>
          <p:cNvSpPr txBox="1"/>
          <p:nvPr/>
        </p:nvSpPr>
        <p:spPr>
          <a:xfrm>
            <a:off x="548640" y="640080"/>
            <a:ext cx="3291840" cy="365760"/>
          </a:xfrm>
          <a:prstGeom prst="rect">
            <a:avLst/>
          </a:prstGeom>
          <a:noFill/>
          <a:ln/>
        </p:spPr>
        <p:txBody>
          <a:bodyPr wrap="square" lIns="0" tIns="0" rIns="0" bIns="0" rtlCol="0" anchor="ctr"/>
          <a:lstStyle/>
          <a:p>
            <a:pPr algn="ctr" indent="0" marL="0">
              <a:buNone/>
            </a:pPr>
            <a:r>
              <a:rPr lang="en-US" sz="1100" b="1" dirty="0">
                <a:solidFill>
                  <a:srgbClr val="232F3E"/>
                </a:solidFill>
                <a:latin typeface="Calibri" pitchFamily="34" charset="0"/>
                <a:ea typeface="Calibri" pitchFamily="34" charset="-122"/>
                <a:cs typeface="Calibri" pitchFamily="34" charset="-120"/>
              </a:rPr>
              <a:t>FormadoresIT  ·  Ingeniería</a:t>
            </a:r>
            <a:endParaRPr lang="en-US" sz="1100" dirty="0"/>
          </a:p>
        </p:txBody>
      </p:sp>
      <p:sp>
        <p:nvSpPr>
          <p:cNvPr id="4" name="Text 2"/>
          <p:cNvSpPr txBox="1"/>
          <p:nvPr/>
        </p:nvSpPr>
        <p:spPr>
          <a:xfrm>
            <a:off x="548640" y="1325880"/>
            <a:ext cx="7863840" cy="1463040"/>
          </a:xfrm>
          <a:prstGeom prst="rect">
            <a:avLst/>
          </a:prstGeom>
          <a:noFill/>
          <a:ln/>
        </p:spPr>
        <p:txBody>
          <a:bodyPr wrap="square" lIns="0" tIns="0" rIns="0" bIns="0" rtlCol="0" anchor="b"/>
          <a:lstStyle/>
          <a:p>
            <a:pPr indent="0" marL="0">
              <a:buNone/>
            </a:pPr>
            <a:r>
              <a:rPr lang="en-US" sz="3200" b="1" dirty="0">
                <a:solidFill>
                  <a:srgbClr val="FFFFFF"/>
                </a:solidFill>
                <a:latin typeface="Arial" pitchFamily="34" charset="0"/>
                <a:ea typeface="Arial" pitchFamily="34" charset="-122"/>
                <a:cs typeface="Arial" pitchFamily="34" charset="-120"/>
              </a:rPr>
              <a:t>Diseño e implementación de soluciones DevOps en AWS</a:t>
            </a:r>
            <a:endParaRPr lang="en-US" sz="3200" dirty="0"/>
          </a:p>
        </p:txBody>
      </p:sp>
      <p:sp>
        <p:nvSpPr>
          <p:cNvPr id="5" name="Text 3"/>
          <p:cNvSpPr txBox="1"/>
          <p:nvPr/>
        </p:nvSpPr>
        <p:spPr>
          <a:xfrm>
            <a:off x="548640" y="2926080"/>
            <a:ext cx="7680960" cy="731520"/>
          </a:xfrm>
          <a:prstGeom prst="rect">
            <a:avLst/>
          </a:prstGeom>
          <a:noFill/>
          <a:ln/>
        </p:spPr>
        <p:txBody>
          <a:bodyPr wrap="square" lIns="0" tIns="0" rIns="0" bIns="0" rtlCol="0" anchor="t"/>
          <a:lstStyle/>
          <a:p>
            <a:pPr indent="0" marL="0">
              <a:buNone/>
            </a:pPr>
            <a:r>
              <a:rPr lang="en-US" sz="1600" dirty="0">
                <a:solidFill>
                  <a:srgbClr val="C9D1DB"/>
                </a:solidFill>
                <a:latin typeface="Calibri" pitchFamily="34" charset="0"/>
                <a:ea typeface="Calibri" pitchFamily="34" charset="-122"/>
                <a:cs typeface="Calibri" pitchFamily="34" charset="-120"/>
              </a:rPr>
              <a:t>Sesión 1 · Principios DevOps, infraestructura como código e integración continua</a:t>
            </a:r>
            <a:endParaRPr lang="en-US" sz="1600" dirty="0"/>
          </a:p>
        </p:txBody>
      </p:sp>
      <p:sp>
        <p:nvSpPr>
          <p:cNvPr id="6" name="Text 4"/>
          <p:cNvSpPr txBox="1"/>
          <p:nvPr/>
        </p:nvSpPr>
        <p:spPr>
          <a:xfrm>
            <a:off x="548640" y="4114800"/>
            <a:ext cx="7680960" cy="36576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13/10/2026  ·  9:30 – 13:30  ·  Síncrono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Agenda de la sesión</a:t>
            </a:r>
            <a:endParaRPr lang="en-US" sz="2400" dirty="0"/>
          </a:p>
        </p:txBody>
      </p:sp>
      <p:sp>
        <p:nvSpPr>
          <p:cNvPr id="3" name="Shape 1"/>
          <p:cNvSpPr/>
          <p:nvPr/>
        </p:nvSpPr>
        <p:spPr>
          <a:xfrm>
            <a:off x="457200" y="1060704"/>
            <a:ext cx="8229600" cy="409194"/>
          </a:xfrm>
          <a:prstGeom prst="rect">
            <a:avLst/>
          </a:prstGeom>
          <a:solidFill>
            <a:srgbClr val="F3F5F7"/>
          </a:solidFill>
          <a:ln w="12700">
            <a:solidFill>
              <a:srgbClr val="F3F5F7"/>
            </a:solidFill>
            <a:prstDash val="solid"/>
          </a:ln>
        </p:spPr>
      </p:sp>
      <p:sp>
        <p:nvSpPr>
          <p:cNvPr id="4" name="Text 2"/>
          <p:cNvSpPr txBox="1"/>
          <p:nvPr/>
        </p:nvSpPr>
        <p:spPr>
          <a:xfrm>
            <a:off x="640080" y="109728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9:30</a:t>
            </a:r>
            <a:endParaRPr lang="en-US" sz="1300" dirty="0"/>
          </a:p>
        </p:txBody>
      </p:sp>
      <p:sp>
        <p:nvSpPr>
          <p:cNvPr id="5" name="Text 3"/>
          <p:cNvSpPr txBox="1"/>
          <p:nvPr/>
        </p:nvSpPr>
        <p:spPr>
          <a:xfrm>
            <a:off x="2194560" y="109728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Presentación y objetivos</a:t>
            </a:r>
            <a:endParaRPr lang="en-US" sz="1400" dirty="0"/>
          </a:p>
        </p:txBody>
      </p:sp>
      <p:sp>
        <p:nvSpPr>
          <p:cNvPr id="6" name="Text 4"/>
          <p:cNvSpPr txBox="1"/>
          <p:nvPr/>
        </p:nvSpPr>
        <p:spPr>
          <a:xfrm>
            <a:off x="640080" y="154305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9:40</a:t>
            </a:r>
            <a:endParaRPr lang="en-US" sz="1300" dirty="0"/>
          </a:p>
        </p:txBody>
      </p:sp>
      <p:sp>
        <p:nvSpPr>
          <p:cNvPr id="7" name="Text 5"/>
          <p:cNvSpPr txBox="1"/>
          <p:nvPr/>
        </p:nvSpPr>
        <p:spPr>
          <a:xfrm>
            <a:off x="2194560" y="154305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1 · DevOps y el ecosistema de AWS</a:t>
            </a:r>
            <a:endParaRPr lang="en-US" sz="1400" dirty="0"/>
          </a:p>
        </p:txBody>
      </p:sp>
      <p:sp>
        <p:nvSpPr>
          <p:cNvPr id="8" name="Shape 6"/>
          <p:cNvSpPr/>
          <p:nvPr/>
        </p:nvSpPr>
        <p:spPr>
          <a:xfrm>
            <a:off x="457200" y="1952244"/>
            <a:ext cx="8229600" cy="409194"/>
          </a:xfrm>
          <a:prstGeom prst="rect">
            <a:avLst/>
          </a:prstGeom>
          <a:solidFill>
            <a:srgbClr val="F3F5F7"/>
          </a:solidFill>
          <a:ln w="12700">
            <a:solidFill>
              <a:srgbClr val="F3F5F7"/>
            </a:solidFill>
            <a:prstDash val="solid"/>
          </a:ln>
        </p:spPr>
      </p:sp>
      <p:sp>
        <p:nvSpPr>
          <p:cNvPr id="9" name="Text 7"/>
          <p:cNvSpPr txBox="1"/>
          <p:nvPr/>
        </p:nvSpPr>
        <p:spPr>
          <a:xfrm>
            <a:off x="640080" y="198882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10:05</a:t>
            </a:r>
            <a:endParaRPr lang="en-US" sz="1300" dirty="0"/>
          </a:p>
        </p:txBody>
      </p:sp>
      <p:sp>
        <p:nvSpPr>
          <p:cNvPr id="10" name="Text 8"/>
          <p:cNvSpPr txBox="1"/>
          <p:nvPr/>
        </p:nvSpPr>
        <p:spPr>
          <a:xfrm>
            <a:off x="2194560" y="198882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2 · Infraestructura como código con CloudFormation</a:t>
            </a:r>
            <a:endParaRPr lang="en-US" sz="1400" dirty="0"/>
          </a:p>
        </p:txBody>
      </p:sp>
      <p:sp>
        <p:nvSpPr>
          <p:cNvPr id="11" name="Text 9"/>
          <p:cNvSpPr txBox="1"/>
          <p:nvPr/>
        </p:nvSpPr>
        <p:spPr>
          <a:xfrm>
            <a:off x="640080" y="243459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10:30</a:t>
            </a:r>
            <a:endParaRPr lang="en-US" sz="1300" dirty="0"/>
          </a:p>
        </p:txBody>
      </p:sp>
      <p:sp>
        <p:nvSpPr>
          <p:cNvPr id="12" name="Text 10"/>
          <p:cNvSpPr txBox="1"/>
          <p:nvPr/>
        </p:nvSpPr>
        <p:spPr>
          <a:xfrm>
            <a:off x="2194560" y="243459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Lab 01 · Stacks, change sets y detección de drift</a:t>
            </a:r>
            <a:endParaRPr lang="en-US" sz="1400" dirty="0"/>
          </a:p>
        </p:txBody>
      </p:sp>
      <p:sp>
        <p:nvSpPr>
          <p:cNvPr id="13" name="Shape 11"/>
          <p:cNvSpPr/>
          <p:nvPr/>
        </p:nvSpPr>
        <p:spPr>
          <a:xfrm>
            <a:off x="457200" y="2843784"/>
            <a:ext cx="8229600" cy="409194"/>
          </a:xfrm>
          <a:prstGeom prst="rect">
            <a:avLst/>
          </a:prstGeom>
          <a:solidFill>
            <a:srgbClr val="F3F5F7"/>
          </a:solidFill>
          <a:ln w="12700">
            <a:solidFill>
              <a:srgbClr val="F3F5F7"/>
            </a:solidFill>
            <a:prstDash val="solid"/>
          </a:ln>
        </p:spPr>
      </p:sp>
      <p:sp>
        <p:nvSpPr>
          <p:cNvPr id="14" name="Text 12"/>
          <p:cNvSpPr txBox="1"/>
          <p:nvPr/>
        </p:nvSpPr>
        <p:spPr>
          <a:xfrm>
            <a:off x="640080" y="288036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11:20</a:t>
            </a:r>
            <a:endParaRPr lang="en-US" sz="1300" dirty="0"/>
          </a:p>
        </p:txBody>
      </p:sp>
      <p:sp>
        <p:nvSpPr>
          <p:cNvPr id="15" name="Text 13"/>
          <p:cNvSpPr txBox="1"/>
          <p:nvPr/>
        </p:nvSpPr>
        <p:spPr>
          <a:xfrm>
            <a:off x="2194560" y="288036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Descanso</a:t>
            </a:r>
            <a:endParaRPr lang="en-US" sz="1400" dirty="0"/>
          </a:p>
        </p:txBody>
      </p:sp>
      <p:sp>
        <p:nvSpPr>
          <p:cNvPr id="16" name="Text 14"/>
          <p:cNvSpPr txBox="1"/>
          <p:nvPr/>
        </p:nvSpPr>
        <p:spPr>
          <a:xfrm>
            <a:off x="640080" y="332613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11:40</a:t>
            </a:r>
            <a:endParaRPr lang="en-US" sz="1300" dirty="0"/>
          </a:p>
        </p:txBody>
      </p:sp>
      <p:sp>
        <p:nvSpPr>
          <p:cNvPr id="17" name="Text 15"/>
          <p:cNvSpPr txBox="1"/>
          <p:nvPr/>
        </p:nvSpPr>
        <p:spPr>
          <a:xfrm>
            <a:off x="2194560" y="332613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3 · Integración continua con CodeBuild</a:t>
            </a:r>
            <a:endParaRPr lang="en-US" sz="1400" dirty="0"/>
          </a:p>
        </p:txBody>
      </p:sp>
      <p:sp>
        <p:nvSpPr>
          <p:cNvPr id="18" name="Shape 16"/>
          <p:cNvSpPr/>
          <p:nvPr/>
        </p:nvSpPr>
        <p:spPr>
          <a:xfrm>
            <a:off x="457200" y="3735324"/>
            <a:ext cx="8229600" cy="409194"/>
          </a:xfrm>
          <a:prstGeom prst="rect">
            <a:avLst/>
          </a:prstGeom>
          <a:solidFill>
            <a:srgbClr val="F3F5F7"/>
          </a:solidFill>
          <a:ln w="12700">
            <a:solidFill>
              <a:srgbClr val="F3F5F7"/>
            </a:solidFill>
            <a:prstDash val="solid"/>
          </a:ln>
        </p:spPr>
      </p:sp>
      <p:sp>
        <p:nvSpPr>
          <p:cNvPr id="19" name="Text 17"/>
          <p:cNvSpPr txBox="1"/>
          <p:nvPr/>
        </p:nvSpPr>
        <p:spPr>
          <a:xfrm>
            <a:off x="640080" y="377190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12:20</a:t>
            </a:r>
            <a:endParaRPr lang="en-US" sz="1300" dirty="0"/>
          </a:p>
        </p:txBody>
      </p:sp>
      <p:sp>
        <p:nvSpPr>
          <p:cNvPr id="20" name="Text 18"/>
          <p:cNvSpPr txBox="1"/>
          <p:nvPr/>
        </p:nvSpPr>
        <p:spPr>
          <a:xfrm>
            <a:off x="2194560" y="377190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Lab 02 · Build y pruebas automatizadas</a:t>
            </a:r>
            <a:endParaRPr lang="en-US" sz="1400" dirty="0"/>
          </a:p>
        </p:txBody>
      </p:sp>
      <p:sp>
        <p:nvSpPr>
          <p:cNvPr id="21" name="Text 19"/>
          <p:cNvSpPr txBox="1"/>
          <p:nvPr/>
        </p:nvSpPr>
        <p:spPr>
          <a:xfrm>
            <a:off x="640080" y="421767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13:15</a:t>
            </a:r>
            <a:endParaRPr lang="en-US" sz="1300" dirty="0"/>
          </a:p>
        </p:txBody>
      </p:sp>
      <p:sp>
        <p:nvSpPr>
          <p:cNvPr id="22" name="Text 20"/>
          <p:cNvSpPr txBox="1"/>
          <p:nvPr/>
        </p:nvSpPr>
        <p:spPr>
          <a:xfrm>
            <a:off x="2194560" y="421767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Cierre y avance de la sesión 2</a:t>
            </a:r>
            <a:endParaRPr lang="en-US" sz="14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Qué te llevarás de este curso</a:t>
            </a:r>
            <a:endParaRPr lang="en-US" sz="2400" dirty="0"/>
          </a:p>
        </p:txBody>
      </p:sp>
      <p:sp>
        <p:nvSpPr>
          <p:cNvPr id="3" name="Shape 1"/>
          <p:cNvSpPr/>
          <p:nvPr/>
        </p:nvSpPr>
        <p:spPr>
          <a:xfrm>
            <a:off x="457200" y="1143000"/>
            <a:ext cx="40005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Infraestructura como código</a:t>
            </a:r>
            <a:endParaRPr lang="en-US" sz="1350" dirty="0"/>
          </a:p>
        </p:txBody>
      </p:sp>
      <p:sp>
        <p:nvSpPr>
          <p:cNvPr id="7" name="Text 5"/>
          <p:cNvSpPr txBox="1"/>
          <p:nvPr/>
        </p:nvSpPr>
        <p:spPr>
          <a:xfrm>
            <a:off x="6583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Definir, versionar, revisar y desplegar infraestructura con CloudFormation y SAM, detectando cambios manuales.</a:t>
            </a:r>
            <a:endParaRPr lang="en-US" sz="1200" dirty="0"/>
          </a:p>
        </p:txBody>
      </p:sp>
      <p:sp>
        <p:nvSpPr>
          <p:cNvPr id="8" name="Shape 6"/>
          <p:cNvSpPr/>
          <p:nvPr/>
        </p:nvSpPr>
        <p:spPr>
          <a:xfrm>
            <a:off x="4686300" y="1143000"/>
            <a:ext cx="40005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48691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48691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721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Integración continua</a:t>
            </a:r>
            <a:endParaRPr lang="en-US" sz="1350" dirty="0"/>
          </a:p>
        </p:txBody>
      </p:sp>
      <p:sp>
        <p:nvSpPr>
          <p:cNvPr id="12" name="Text 10"/>
          <p:cNvSpPr txBox="1"/>
          <p:nvPr/>
        </p:nvSpPr>
        <p:spPr>
          <a:xfrm>
            <a:off x="48874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Proyectos de CodeBuild que construyen, prueban y publican artefactos con cada cambio.</a:t>
            </a:r>
            <a:endParaRPr lang="en-US" sz="1200" dirty="0"/>
          </a:p>
        </p:txBody>
      </p:sp>
      <p:sp>
        <p:nvSpPr>
          <p:cNvPr id="13" name="Shape 11"/>
          <p:cNvSpPr/>
          <p:nvPr/>
        </p:nvSpPr>
        <p:spPr>
          <a:xfrm>
            <a:off x="457200" y="2994660"/>
            <a:ext cx="40005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40080" y="317754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1430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Entrega continua</a:t>
            </a:r>
            <a:endParaRPr lang="en-US" sz="1350" dirty="0"/>
          </a:p>
        </p:txBody>
      </p:sp>
      <p:sp>
        <p:nvSpPr>
          <p:cNvPr id="17" name="Text 15"/>
          <p:cNvSpPr txBox="1"/>
          <p:nvPr/>
        </p:nvSpPr>
        <p:spPr>
          <a:xfrm>
            <a:off x="6583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Pipelines de CodePipeline con etapas, aprobaciones y despliegue automatizado.</a:t>
            </a:r>
            <a:endParaRPr lang="en-US" sz="1200" dirty="0"/>
          </a:p>
        </p:txBody>
      </p:sp>
      <p:sp>
        <p:nvSpPr>
          <p:cNvPr id="18" name="Shape 16"/>
          <p:cNvSpPr/>
          <p:nvPr/>
        </p:nvSpPr>
        <p:spPr>
          <a:xfrm>
            <a:off x="4686300" y="2994660"/>
            <a:ext cx="40005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48691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48691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721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Despliegues seguros</a:t>
            </a:r>
            <a:endParaRPr lang="en-US" sz="1350" dirty="0"/>
          </a:p>
        </p:txBody>
      </p:sp>
      <p:sp>
        <p:nvSpPr>
          <p:cNvPr id="22" name="Text 20"/>
          <p:cNvSpPr txBox="1"/>
          <p:nvPr/>
        </p:nvSpPr>
        <p:spPr>
          <a:xfrm>
            <a:off x="48874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Canary con rollback automático, observabilidad con CloudWatch y pipelines sin credenciales estáticas.</a:t>
            </a:r>
            <a:endParaRPr lang="en-US" sz="12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01</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DevOps y el ecosistema de AWS</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Principios, métricas y servicios para cada fase del ciclo de entrega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DevOps no es una herramienta: es un modo de trabajar</a:t>
            </a:r>
            <a:endParaRPr lang="en-US" sz="2400" dirty="0"/>
          </a:p>
        </p:txBody>
      </p:sp>
      <p:sp>
        <p:nvSpPr>
          <p:cNvPr id="3" name="Shape 1"/>
          <p:cNvSpPr/>
          <p:nvPr/>
        </p:nvSpPr>
        <p:spPr>
          <a:xfrm>
            <a:off x="457200" y="1143000"/>
            <a:ext cx="40005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Cultura</a:t>
            </a:r>
            <a:endParaRPr lang="en-US" sz="1350" dirty="0"/>
          </a:p>
        </p:txBody>
      </p:sp>
      <p:sp>
        <p:nvSpPr>
          <p:cNvPr id="7" name="Text 5"/>
          <p:cNvSpPr txBox="1"/>
          <p:nvPr/>
        </p:nvSpPr>
        <p:spPr>
          <a:xfrm>
            <a:off x="6583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Responsabilidad compartida entre desarrollo y operación: quien construye un servicio también lo opera.</a:t>
            </a:r>
            <a:endParaRPr lang="en-US" sz="1200" dirty="0"/>
          </a:p>
        </p:txBody>
      </p:sp>
      <p:sp>
        <p:nvSpPr>
          <p:cNvPr id="8" name="Shape 6"/>
          <p:cNvSpPr/>
          <p:nvPr/>
        </p:nvSpPr>
        <p:spPr>
          <a:xfrm>
            <a:off x="4686300" y="1143000"/>
            <a:ext cx="40005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48691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48691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721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Automatización</a:t>
            </a:r>
            <a:endParaRPr lang="en-US" sz="1350" dirty="0"/>
          </a:p>
        </p:txBody>
      </p:sp>
      <p:sp>
        <p:nvSpPr>
          <p:cNvPr id="12" name="Text 10"/>
          <p:cNvSpPr txBox="1"/>
          <p:nvPr/>
        </p:nvSpPr>
        <p:spPr>
          <a:xfrm>
            <a:off x="48874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Todo lo repetible se automatiza: infraestructura, builds, pruebas, despliegues y vuelta atrás.</a:t>
            </a:r>
            <a:endParaRPr lang="en-US" sz="1200" dirty="0"/>
          </a:p>
        </p:txBody>
      </p:sp>
      <p:sp>
        <p:nvSpPr>
          <p:cNvPr id="13" name="Shape 11"/>
          <p:cNvSpPr/>
          <p:nvPr/>
        </p:nvSpPr>
        <p:spPr>
          <a:xfrm>
            <a:off x="457200" y="2994660"/>
            <a:ext cx="40005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40080" y="317754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1430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Medición</a:t>
            </a:r>
            <a:endParaRPr lang="en-US" sz="1350" dirty="0"/>
          </a:p>
        </p:txBody>
      </p:sp>
      <p:sp>
        <p:nvSpPr>
          <p:cNvPr id="17" name="Text 15"/>
          <p:cNvSpPr txBox="1"/>
          <p:nvPr/>
        </p:nvSpPr>
        <p:spPr>
          <a:xfrm>
            <a:off x="6583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Decisiones basadas en métricas de entrega y de funcionamiento, no en percepciones.</a:t>
            </a:r>
            <a:endParaRPr lang="en-US" sz="1200" dirty="0"/>
          </a:p>
        </p:txBody>
      </p:sp>
      <p:sp>
        <p:nvSpPr>
          <p:cNvPr id="18" name="Shape 16"/>
          <p:cNvSpPr/>
          <p:nvPr/>
        </p:nvSpPr>
        <p:spPr>
          <a:xfrm>
            <a:off x="4686300" y="2994660"/>
            <a:ext cx="40005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48691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48691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721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Mejora continua</a:t>
            </a:r>
            <a:endParaRPr lang="en-US" sz="1350" dirty="0"/>
          </a:p>
        </p:txBody>
      </p:sp>
      <p:sp>
        <p:nvSpPr>
          <p:cNvPr id="22" name="Text 20"/>
          <p:cNvSpPr txBox="1"/>
          <p:nvPr/>
        </p:nvSpPr>
        <p:spPr>
          <a:xfrm>
            <a:off x="48874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Lotes pequeños, feedback rápido y aprendizaje de cada incidente sin buscar culpables.</a:t>
            </a:r>
            <a:endParaRPr lang="en-US" sz="12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Las cuatro métricas DORA</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3017520"/>
                <a:gridCol w="292608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Métrica</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mide</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Cómo ayuda AWS a medirla</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r>
              <a:tr h="502920">
                <a:tc>
                  <a:txBody>
                    <a:bodyPr/>
                    <a:lstStyle/>
                    <a:p>
                      <a:pPr indent="0" marL="0">
                        <a:buNone/>
                      </a:pPr>
                      <a:r>
                        <a:rPr lang="en-US" sz="1200" b="1" dirty="0">
                          <a:solidFill>
                            <a:srgbClr val="2B2F38"/>
                          </a:solidFill>
                          <a:latin typeface="Calibri" pitchFamily="34" charset="0"/>
                          <a:ea typeface="Calibri" pitchFamily="34" charset="-122"/>
                          <a:cs typeface="Calibri" pitchFamily="34" charset="-120"/>
                        </a:rPr>
                        <a:t>Frecuencia de despliegue</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Cada cuánto llega un cambio a producción</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Historial de ejecuciones de CodePipeline</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502920">
                <a:tc>
                  <a:txBody>
                    <a:bodyPr/>
                    <a:lstStyle/>
                    <a:p>
                      <a:pPr indent="0" marL="0">
                        <a:buNone/>
                      </a:pPr>
                      <a:r>
                        <a:rPr lang="en-US" sz="1200" b="1" dirty="0">
                          <a:solidFill>
                            <a:srgbClr val="2B2F38"/>
                          </a:solidFill>
                          <a:latin typeface="Calibri" pitchFamily="34" charset="0"/>
                          <a:ea typeface="Calibri" pitchFamily="34" charset="-122"/>
                          <a:cs typeface="Calibri" pitchFamily="34" charset="-120"/>
                        </a:rPr>
                        <a:t>Tiempo de entrega de cambios</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Del commit a producción</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Marcas de tiempo de fuente y despliegue</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B2F38"/>
                          </a:solidFill>
                          <a:latin typeface="Calibri" pitchFamily="34" charset="0"/>
                          <a:ea typeface="Calibri" pitchFamily="34" charset="-122"/>
                          <a:cs typeface="Calibri" pitchFamily="34" charset="-120"/>
                        </a:rPr>
                        <a:t>Tasa de fallo de cambios</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Despliegues que causan incidencias o rollback</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Rollbacks de CodeDeploy y CloudFormation</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502920">
                <a:tc>
                  <a:txBody>
                    <a:bodyPr/>
                    <a:lstStyle/>
                    <a:p>
                      <a:pPr indent="0" marL="0">
                        <a:buNone/>
                      </a:pPr>
                      <a:r>
                        <a:rPr lang="en-US" sz="1200" b="1" dirty="0">
                          <a:solidFill>
                            <a:srgbClr val="2B2F38"/>
                          </a:solidFill>
                          <a:latin typeface="Calibri" pitchFamily="34" charset="0"/>
                          <a:ea typeface="Calibri" pitchFamily="34" charset="-122"/>
                          <a:cs typeface="Calibri" pitchFamily="34" charset="-120"/>
                        </a:rPr>
                        <a:t>Tiempo de recuperación</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Desde el fallo hasta la restauración</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200" dirty="0">
                          <a:solidFill>
                            <a:srgbClr val="2B2F38"/>
                          </a:solidFill>
                          <a:latin typeface="Calibri" pitchFamily="34" charset="0"/>
                          <a:ea typeface="Calibri" pitchFamily="34" charset="-122"/>
                          <a:cs typeface="Calibri" pitchFamily="34" charset="-120"/>
                        </a:rPr>
                        <a:t>Alarmas de CloudWatch e incidentes</a:t>
                      </a:r>
                      <a:endParaRPr lang="en-US" sz="12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5" name="Text 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El recorrido de un cambio hasta producción</a:t>
            </a:r>
            <a:endParaRPr lang="en-US" sz="2400" dirty="0"/>
          </a:p>
        </p:txBody>
      </p:sp>
      <p:sp>
        <p:nvSpPr>
          <p:cNvPr id="3" name="Shape 1"/>
          <p:cNvSpPr/>
          <p:nvPr/>
        </p:nvSpPr>
        <p:spPr>
          <a:xfrm>
            <a:off x="457200" y="1508760"/>
            <a:ext cx="1499616" cy="3108960"/>
          </a:xfrm>
          <a:prstGeom prst="roundRect">
            <a:avLst>
              <a:gd name="adj" fmla="val 4878"/>
            </a:avLst>
          </a:prstGeom>
          <a:solidFill>
            <a:srgbClr val="F3F5F7"/>
          </a:solidFill>
          <a:ln w="12700">
            <a:solidFill>
              <a:srgbClr val="F3F5F7"/>
            </a:solidFill>
            <a:prstDash val="solid"/>
          </a:ln>
        </p:spPr>
      </p:sp>
      <p:sp>
        <p:nvSpPr>
          <p:cNvPr id="4" name="Shape 2"/>
          <p:cNvSpPr/>
          <p:nvPr/>
        </p:nvSpPr>
        <p:spPr>
          <a:xfrm>
            <a:off x="932688" y="1691640"/>
            <a:ext cx="548640" cy="548640"/>
          </a:xfrm>
          <a:prstGeom prst="ellipse">
            <a:avLst/>
          </a:prstGeom>
          <a:solidFill>
            <a:srgbClr val="232F3E"/>
          </a:solidFill>
          <a:ln w="12700">
            <a:solidFill>
              <a:srgbClr val="232F3E"/>
            </a:solidFill>
            <a:prstDash val="solid"/>
          </a:ln>
        </p:spPr>
      </p:sp>
      <p:sp>
        <p:nvSpPr>
          <p:cNvPr id="5" name="Text 3"/>
          <p:cNvSpPr txBox="1"/>
          <p:nvPr/>
        </p:nvSpPr>
        <p:spPr>
          <a:xfrm>
            <a:off x="93268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Código</a:t>
            </a:r>
            <a:endParaRPr lang="en-US" sz="1100" dirty="0"/>
          </a:p>
        </p:txBody>
      </p:sp>
      <p:sp>
        <p:nvSpPr>
          <p:cNvPr id="7" name="Text 5"/>
          <p:cNvSpPr txBox="1"/>
          <p:nvPr/>
        </p:nvSpPr>
        <p:spPr>
          <a:xfrm>
            <a:off x="594360"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Repositorio Git, rama y pull request con revisión.</a:t>
            </a:r>
            <a:endParaRPr lang="en-US" sz="1050" dirty="0"/>
          </a:p>
        </p:txBody>
      </p:sp>
      <p:sp>
        <p:nvSpPr>
          <p:cNvPr id="8" name="Shape 6"/>
          <p:cNvSpPr/>
          <p:nvPr/>
        </p:nvSpPr>
        <p:spPr>
          <a:xfrm>
            <a:off x="1527048" y="1965960"/>
            <a:ext cx="1042416" cy="0"/>
          </a:xfrm>
          <a:prstGeom prst="line">
            <a:avLst/>
          </a:prstGeom>
          <a:noFill/>
          <a:ln w="25400">
            <a:solidFill>
              <a:srgbClr val="FF9900"/>
            </a:solidFill>
            <a:prstDash val="solid"/>
            <a:tailEnd type="triangle"/>
          </a:ln>
        </p:spPr>
      </p:sp>
      <p:sp>
        <p:nvSpPr>
          <p:cNvPr id="9" name="Shape 7"/>
          <p:cNvSpPr/>
          <p:nvPr/>
        </p:nvSpPr>
        <p:spPr>
          <a:xfrm>
            <a:off x="2139696" y="1508760"/>
            <a:ext cx="1499616" cy="3108960"/>
          </a:xfrm>
          <a:prstGeom prst="roundRect">
            <a:avLst>
              <a:gd name="adj" fmla="val 4878"/>
            </a:avLst>
          </a:prstGeom>
          <a:solidFill>
            <a:srgbClr val="F3F5F7"/>
          </a:solidFill>
          <a:ln w="12700">
            <a:solidFill>
              <a:srgbClr val="F3F5F7"/>
            </a:solidFill>
            <a:prstDash val="solid"/>
          </a:ln>
        </p:spPr>
      </p:sp>
      <p:sp>
        <p:nvSpPr>
          <p:cNvPr id="10" name="Shape 8"/>
          <p:cNvSpPr/>
          <p:nvPr/>
        </p:nvSpPr>
        <p:spPr>
          <a:xfrm>
            <a:off x="2615184" y="1691640"/>
            <a:ext cx="548640" cy="548640"/>
          </a:xfrm>
          <a:prstGeom prst="ellipse">
            <a:avLst/>
          </a:prstGeom>
          <a:solidFill>
            <a:srgbClr val="232F3E"/>
          </a:solidFill>
          <a:ln w="12700">
            <a:solidFill>
              <a:srgbClr val="232F3E"/>
            </a:solidFill>
            <a:prstDash val="solid"/>
          </a:ln>
        </p:spPr>
      </p:sp>
      <p:sp>
        <p:nvSpPr>
          <p:cNvPr id="11" name="Text 9"/>
          <p:cNvSpPr txBox="1"/>
          <p:nvPr/>
        </p:nvSpPr>
        <p:spPr>
          <a:xfrm>
            <a:off x="2615184"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276856"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Build y test</a:t>
            </a:r>
            <a:endParaRPr lang="en-US" sz="1100" dirty="0"/>
          </a:p>
        </p:txBody>
      </p:sp>
      <p:sp>
        <p:nvSpPr>
          <p:cNvPr id="13" name="Text 11"/>
          <p:cNvSpPr txBox="1"/>
          <p:nvPr/>
        </p:nvSpPr>
        <p:spPr>
          <a:xfrm>
            <a:off x="2276856"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Compilación, pruebas unitarias, lint y análisis de seguridad.</a:t>
            </a:r>
            <a:endParaRPr lang="en-US" sz="1050" dirty="0"/>
          </a:p>
        </p:txBody>
      </p:sp>
      <p:sp>
        <p:nvSpPr>
          <p:cNvPr id="14" name="Shape 12"/>
          <p:cNvSpPr/>
          <p:nvPr/>
        </p:nvSpPr>
        <p:spPr>
          <a:xfrm>
            <a:off x="3209544" y="1965960"/>
            <a:ext cx="1042416" cy="0"/>
          </a:xfrm>
          <a:prstGeom prst="line">
            <a:avLst/>
          </a:prstGeom>
          <a:noFill/>
          <a:ln w="25400">
            <a:solidFill>
              <a:srgbClr val="FF9900"/>
            </a:solidFill>
            <a:prstDash val="solid"/>
            <a:tailEnd type="triangle"/>
          </a:ln>
        </p:spPr>
      </p:sp>
      <p:sp>
        <p:nvSpPr>
          <p:cNvPr id="15" name="Shape 13"/>
          <p:cNvSpPr/>
          <p:nvPr/>
        </p:nvSpPr>
        <p:spPr>
          <a:xfrm>
            <a:off x="3822192" y="1508760"/>
            <a:ext cx="1499616" cy="3108960"/>
          </a:xfrm>
          <a:prstGeom prst="roundRect">
            <a:avLst>
              <a:gd name="adj" fmla="val 4878"/>
            </a:avLst>
          </a:prstGeom>
          <a:solidFill>
            <a:srgbClr val="F3F5F7"/>
          </a:solidFill>
          <a:ln w="12700">
            <a:solidFill>
              <a:srgbClr val="F3F5F7"/>
            </a:solidFill>
            <a:prstDash val="solid"/>
          </a:ln>
        </p:spPr>
      </p:sp>
      <p:sp>
        <p:nvSpPr>
          <p:cNvPr id="16" name="Shape 14"/>
          <p:cNvSpPr/>
          <p:nvPr/>
        </p:nvSpPr>
        <p:spPr>
          <a:xfrm>
            <a:off x="4297680" y="1691640"/>
            <a:ext cx="548640" cy="548640"/>
          </a:xfrm>
          <a:prstGeom prst="ellipse">
            <a:avLst/>
          </a:prstGeom>
          <a:solidFill>
            <a:srgbClr val="232F3E"/>
          </a:solidFill>
          <a:ln w="12700">
            <a:solidFill>
              <a:srgbClr val="232F3E"/>
            </a:solidFill>
            <a:prstDash val="solid"/>
          </a:ln>
        </p:spPr>
      </p:sp>
      <p:sp>
        <p:nvSpPr>
          <p:cNvPr id="17" name="Text 15"/>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3959352"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Artefacto</a:t>
            </a:r>
            <a:endParaRPr lang="en-US" sz="1100" dirty="0"/>
          </a:p>
        </p:txBody>
      </p:sp>
      <p:sp>
        <p:nvSpPr>
          <p:cNvPr id="19" name="Text 17"/>
          <p:cNvSpPr txBox="1"/>
          <p:nvPr/>
        </p:nvSpPr>
        <p:spPr>
          <a:xfrm>
            <a:off x="3959352"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Paquete versionado e inmutable: zip, imagen o plantilla.</a:t>
            </a:r>
            <a:endParaRPr lang="en-US" sz="1050" dirty="0"/>
          </a:p>
        </p:txBody>
      </p:sp>
      <p:sp>
        <p:nvSpPr>
          <p:cNvPr id="20" name="Shape 18"/>
          <p:cNvSpPr/>
          <p:nvPr/>
        </p:nvSpPr>
        <p:spPr>
          <a:xfrm>
            <a:off x="4892040" y="1965960"/>
            <a:ext cx="1042416" cy="0"/>
          </a:xfrm>
          <a:prstGeom prst="line">
            <a:avLst/>
          </a:prstGeom>
          <a:noFill/>
          <a:ln w="25400">
            <a:solidFill>
              <a:srgbClr val="FF9900"/>
            </a:solidFill>
            <a:prstDash val="solid"/>
            <a:tailEnd type="triangle"/>
          </a:ln>
        </p:spPr>
      </p:sp>
      <p:sp>
        <p:nvSpPr>
          <p:cNvPr id="21" name="Shape 19"/>
          <p:cNvSpPr/>
          <p:nvPr/>
        </p:nvSpPr>
        <p:spPr>
          <a:xfrm>
            <a:off x="5504688" y="1508760"/>
            <a:ext cx="1499616" cy="3108960"/>
          </a:xfrm>
          <a:prstGeom prst="roundRect">
            <a:avLst>
              <a:gd name="adj" fmla="val 4878"/>
            </a:avLst>
          </a:prstGeom>
          <a:solidFill>
            <a:srgbClr val="F3F5F7"/>
          </a:solidFill>
          <a:ln w="12700">
            <a:solidFill>
              <a:srgbClr val="F3F5F7"/>
            </a:solidFill>
            <a:prstDash val="solid"/>
          </a:ln>
        </p:spPr>
      </p:sp>
      <p:sp>
        <p:nvSpPr>
          <p:cNvPr id="22" name="Shape 20"/>
          <p:cNvSpPr/>
          <p:nvPr/>
        </p:nvSpPr>
        <p:spPr>
          <a:xfrm>
            <a:off x="5980176" y="1691640"/>
            <a:ext cx="548640" cy="548640"/>
          </a:xfrm>
          <a:prstGeom prst="ellipse">
            <a:avLst/>
          </a:prstGeom>
          <a:solidFill>
            <a:srgbClr val="232F3E"/>
          </a:solidFill>
          <a:ln w="12700">
            <a:solidFill>
              <a:srgbClr val="232F3E"/>
            </a:solidFill>
            <a:prstDash val="solid"/>
          </a:ln>
        </p:spPr>
      </p:sp>
      <p:sp>
        <p:nvSpPr>
          <p:cNvPr id="23" name="Text 21"/>
          <p:cNvSpPr txBox="1"/>
          <p:nvPr/>
        </p:nvSpPr>
        <p:spPr>
          <a:xfrm>
            <a:off x="598017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5641848"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Despliegue</a:t>
            </a:r>
            <a:endParaRPr lang="en-US" sz="1100" dirty="0"/>
          </a:p>
        </p:txBody>
      </p:sp>
      <p:sp>
        <p:nvSpPr>
          <p:cNvPr id="25" name="Text 23"/>
          <p:cNvSpPr txBox="1"/>
          <p:nvPr/>
        </p:nvSpPr>
        <p:spPr>
          <a:xfrm>
            <a:off x="5641848"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Entornos de pruebas y producción, con aprobaciones si procede.</a:t>
            </a:r>
            <a:endParaRPr lang="en-US" sz="1050" dirty="0"/>
          </a:p>
        </p:txBody>
      </p:sp>
      <p:sp>
        <p:nvSpPr>
          <p:cNvPr id="26" name="Shape 24"/>
          <p:cNvSpPr/>
          <p:nvPr/>
        </p:nvSpPr>
        <p:spPr>
          <a:xfrm>
            <a:off x="6574536" y="1965960"/>
            <a:ext cx="1042416" cy="0"/>
          </a:xfrm>
          <a:prstGeom prst="line">
            <a:avLst/>
          </a:prstGeom>
          <a:noFill/>
          <a:ln w="25400">
            <a:solidFill>
              <a:srgbClr val="FF9900"/>
            </a:solidFill>
            <a:prstDash val="solid"/>
            <a:tailEnd type="triangle"/>
          </a:ln>
        </p:spPr>
      </p:sp>
      <p:sp>
        <p:nvSpPr>
          <p:cNvPr id="27" name="Shape 25"/>
          <p:cNvSpPr/>
          <p:nvPr/>
        </p:nvSpPr>
        <p:spPr>
          <a:xfrm>
            <a:off x="7187184" y="1508760"/>
            <a:ext cx="1499616" cy="3108960"/>
          </a:xfrm>
          <a:prstGeom prst="roundRect">
            <a:avLst>
              <a:gd name="adj" fmla="val 4878"/>
            </a:avLst>
          </a:prstGeom>
          <a:solidFill>
            <a:srgbClr val="F3F5F7"/>
          </a:solidFill>
          <a:ln w="12700">
            <a:solidFill>
              <a:srgbClr val="F3F5F7"/>
            </a:solidFill>
            <a:prstDash val="solid"/>
          </a:ln>
        </p:spPr>
      </p:sp>
      <p:sp>
        <p:nvSpPr>
          <p:cNvPr id="28" name="Shape 26"/>
          <p:cNvSpPr/>
          <p:nvPr/>
        </p:nvSpPr>
        <p:spPr>
          <a:xfrm>
            <a:off x="7662672" y="1691640"/>
            <a:ext cx="548640" cy="548640"/>
          </a:xfrm>
          <a:prstGeom prst="ellipse">
            <a:avLst/>
          </a:prstGeom>
          <a:solidFill>
            <a:srgbClr val="232F3E"/>
          </a:solidFill>
          <a:ln w="12700">
            <a:solidFill>
              <a:srgbClr val="232F3E"/>
            </a:solidFill>
            <a:prstDash val="solid"/>
          </a:ln>
        </p:spPr>
      </p:sp>
      <p:sp>
        <p:nvSpPr>
          <p:cNvPr id="29" name="Text 27"/>
          <p:cNvSpPr txBox="1"/>
          <p:nvPr/>
        </p:nvSpPr>
        <p:spPr>
          <a:xfrm>
            <a:off x="7662672"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7324344"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Observación</a:t>
            </a:r>
            <a:endParaRPr lang="en-US" sz="1100" dirty="0"/>
          </a:p>
        </p:txBody>
      </p:sp>
      <p:sp>
        <p:nvSpPr>
          <p:cNvPr id="31" name="Text 29"/>
          <p:cNvSpPr txBox="1"/>
          <p:nvPr/>
        </p:nvSpPr>
        <p:spPr>
          <a:xfrm>
            <a:off x="7324344"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Métricas, logs y alarmas que confirman o revierten el cambio.</a:t>
            </a:r>
            <a:endParaRPr lang="en-US" sz="1050" dirty="0"/>
          </a:p>
        </p:txBody>
      </p:sp>
      <p:sp>
        <p:nvSpPr>
          <p:cNvPr id="32" name="Text 30"/>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33" name="Text 31"/>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Servicios de AWS para cada fase</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017520"/>
                <a:gridCol w="3474720"/>
              </a:tblGrid>
              <a:tr h="48332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Fase</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Servicios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Papel</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Código</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GitHub, GitLab o Bitbucket vía CodeConnections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Origen de los cambios y disparador de pipelines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Build y test</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CodeBuild · CodeArtifact · ECR</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Entornos de build efímeros, dependencias e imágenes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Orquestación</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CodePipeline</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Encadena etapas, aprobaciones y artefactos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Despliegue</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CloudFormation · SAM · CDK · CodeDeploy</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Infraestructura y estrategias de despliegue</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Observación</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CloudWatch · X-Ray · CloudTrail</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Métricas, trazas, logs, alarmas y auditoría</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483326">
                <a:tc>
                  <a:txBody>
                    <a:bodyPr/>
                    <a:lstStyle/>
                    <a:p>
                      <a:pPr indent="0" marL="0">
                        <a:buNone/>
                      </a:pPr>
                      <a:r>
                        <a:rPr lang="en-US" sz="1150" b="1" dirty="0">
                          <a:solidFill>
                            <a:srgbClr val="2B2F38"/>
                          </a:solidFill>
                          <a:latin typeface="Calibri" pitchFamily="34" charset="0"/>
                          <a:ea typeface="Calibri" pitchFamily="34" charset="-122"/>
                          <a:cs typeface="Calibri" pitchFamily="34" charset="-120"/>
                        </a:rPr>
                        <a:t>Seguridad</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IAM · Secrets Manager · Parameter Store</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50" dirty="0">
                          <a:solidFill>
                            <a:srgbClr val="2B2F38"/>
                          </a:solidFill>
                          <a:latin typeface="Calibri" pitchFamily="34" charset="0"/>
                          <a:ea typeface="Calibri" pitchFamily="34" charset="-122"/>
                          <a:cs typeface="Calibri" pitchFamily="34" charset="-120"/>
                        </a:rPr>
                        <a:t>Permisos mínimos y gestión de secretos</a:t>
                      </a:r>
                      <a:endParaRPr lang="en-US" sz="115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5" name="Text 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02</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Infraestructura como código</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Plantillas versionadas, cambios revisables y entornos reproducibles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Opciones de infraestructura como código en AWS</a:t>
            </a:r>
            <a:endParaRPr lang="en-US" sz="2400" dirty="0"/>
          </a:p>
        </p:txBody>
      </p:sp>
      <p:sp>
        <p:nvSpPr>
          <p:cNvPr id="3" name="Shape 1"/>
          <p:cNvSpPr/>
          <p:nvPr/>
        </p:nvSpPr>
        <p:spPr>
          <a:xfrm>
            <a:off x="457200" y="1143000"/>
            <a:ext cx="40005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CloudFormation</a:t>
            </a:r>
            <a:endParaRPr lang="en-US" sz="1350" dirty="0"/>
          </a:p>
        </p:txBody>
      </p:sp>
      <p:sp>
        <p:nvSpPr>
          <p:cNvPr id="7" name="Text 5"/>
          <p:cNvSpPr txBox="1"/>
          <p:nvPr/>
        </p:nvSpPr>
        <p:spPr>
          <a:xfrm>
            <a:off x="6583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Servicio nativo y declarativo. Plantillas YAML o JSON que se despliegan como stacks con estado gestionado.</a:t>
            </a:r>
            <a:endParaRPr lang="en-US" sz="1200" dirty="0"/>
          </a:p>
        </p:txBody>
      </p:sp>
      <p:sp>
        <p:nvSpPr>
          <p:cNvPr id="8" name="Shape 6"/>
          <p:cNvSpPr/>
          <p:nvPr/>
        </p:nvSpPr>
        <p:spPr>
          <a:xfrm>
            <a:off x="4686300" y="1143000"/>
            <a:ext cx="40005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48691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48691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721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AWS SAM</a:t>
            </a:r>
            <a:endParaRPr lang="en-US" sz="1350" dirty="0"/>
          </a:p>
        </p:txBody>
      </p:sp>
      <p:sp>
        <p:nvSpPr>
          <p:cNvPr id="12" name="Text 10"/>
          <p:cNvSpPr txBox="1"/>
          <p:nvPr/>
        </p:nvSpPr>
        <p:spPr>
          <a:xfrm>
            <a:off x="48874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Extensión de CloudFormation para serverless: sintaxis abreviada y CLI para probar y desplegar.</a:t>
            </a:r>
            <a:endParaRPr lang="en-US" sz="1200" dirty="0"/>
          </a:p>
        </p:txBody>
      </p:sp>
      <p:sp>
        <p:nvSpPr>
          <p:cNvPr id="13" name="Shape 11"/>
          <p:cNvSpPr/>
          <p:nvPr/>
        </p:nvSpPr>
        <p:spPr>
          <a:xfrm>
            <a:off x="457200" y="2994660"/>
            <a:ext cx="40005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40080" y="317754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1430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AWS CDK</a:t>
            </a:r>
            <a:endParaRPr lang="en-US" sz="1350" dirty="0"/>
          </a:p>
        </p:txBody>
      </p:sp>
      <p:sp>
        <p:nvSpPr>
          <p:cNvPr id="17" name="Text 15"/>
          <p:cNvSpPr txBox="1"/>
          <p:nvPr/>
        </p:nvSpPr>
        <p:spPr>
          <a:xfrm>
            <a:off x="6583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Infraestructura en TypeScript, Python o Java que se sintetiza a CloudFormation.</a:t>
            </a:r>
            <a:endParaRPr lang="en-US" sz="1200" dirty="0"/>
          </a:p>
        </p:txBody>
      </p:sp>
      <p:sp>
        <p:nvSpPr>
          <p:cNvPr id="18" name="Shape 16"/>
          <p:cNvSpPr/>
          <p:nvPr/>
        </p:nvSpPr>
        <p:spPr>
          <a:xfrm>
            <a:off x="4686300" y="2994660"/>
            <a:ext cx="40005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48691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48691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721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Terraform / OpenTofu</a:t>
            </a:r>
            <a:endParaRPr lang="en-US" sz="1350" dirty="0"/>
          </a:p>
        </p:txBody>
      </p:sp>
      <p:sp>
        <p:nvSpPr>
          <p:cNvPr id="22" name="Text 20"/>
          <p:cNvSpPr txBox="1"/>
          <p:nvPr/>
        </p:nvSpPr>
        <p:spPr>
          <a:xfrm>
            <a:off x="48874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Multi-nube y declarativo, con estado propio que hay que custodiar y bloquear.</a:t>
            </a:r>
            <a:endParaRPr lang="en-US" sz="12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Anatomía de una plantilla de CloudFormation</a:t>
            </a:r>
            <a:endParaRPr lang="en-US" sz="2400" dirty="0"/>
          </a:p>
        </p:txBody>
      </p:sp>
      <p:sp>
        <p:nvSpPr>
          <p:cNvPr id="3" name="Text 1"/>
          <p:cNvSpPr txBox="1"/>
          <p:nvPr/>
        </p:nvSpPr>
        <p:spPr>
          <a:xfrm>
            <a:off x="457200" y="1097280"/>
            <a:ext cx="2926080" cy="3520440"/>
          </a:xfrm>
          <a:prstGeom prst="rect">
            <a:avLst/>
          </a:prstGeom>
          <a:noFill/>
          <a:ln/>
        </p:spPr>
        <p:txBody>
          <a:bodyPr wrap="square" lIns="0" tIns="0" rIns="0" bIns="0" rtlCol="0" anchor="t"/>
          <a:lstStyle/>
          <a:p>
            <a:pPr indent="0" marL="0">
              <a:spcAft>
                <a:spcPts val="800"/>
              </a:spcAft>
              <a:buNone/>
            </a:pPr>
            <a:r>
              <a:rPr lang="en-US" sz="1250" dirty="0">
                <a:solidFill>
                  <a:srgbClr val="2B2F38"/>
                </a:solidFill>
                <a:latin typeface="Calibri" pitchFamily="34" charset="0"/>
                <a:ea typeface="Calibri" pitchFamily="34" charset="-122"/>
                <a:cs typeface="Calibri" pitchFamily="34" charset="-120"/>
              </a:rPr>
              <a:t>Parameters recibe valores al desplegar, Resources declara lo que se crea y Outputs expone datos para otros stacks.</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Funciones intrínsecas: !Ref, !Sub, !GetAtt</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DeletionPolicy protege datos al borrar el stack</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Las etiquetas facilitan costes y gobierno</a:t>
            </a:r>
            <a:endParaRPr lang="en-US" sz="1250" dirty="0"/>
          </a:p>
        </p:txBody>
      </p:sp>
      <p:sp>
        <p:nvSpPr>
          <p:cNvPr id="4" name="Shape 2"/>
          <p:cNvSpPr/>
          <p:nvPr/>
        </p:nvSpPr>
        <p:spPr>
          <a:xfrm>
            <a:off x="3657600" y="1097280"/>
            <a:ext cx="5029200" cy="3520440"/>
          </a:xfrm>
          <a:prstGeom prst="roundRect">
            <a:avLst>
              <a:gd name="adj" fmla="val 1558"/>
            </a:avLst>
          </a:prstGeom>
          <a:solidFill>
            <a:srgbClr val="1E1E24"/>
          </a:solidFill>
          <a:ln w="12700">
            <a:solidFill>
              <a:srgbClr val="1E1E24"/>
            </a:solidFill>
            <a:prstDash val="solid"/>
          </a:ln>
        </p:spPr>
      </p:sp>
      <p:sp>
        <p:nvSpPr>
          <p:cNvPr id="5" name="Text 3"/>
          <p:cNvSpPr txBox="1"/>
          <p:nvPr/>
        </p:nvSpPr>
        <p:spPr>
          <a:xfrm>
            <a:off x="3840480" y="1170432"/>
            <a:ext cx="1828800" cy="228600"/>
          </a:xfrm>
          <a:prstGeom prst="rect">
            <a:avLst/>
          </a:prstGeom>
          <a:noFill/>
          <a:ln/>
        </p:spPr>
        <p:txBody>
          <a:bodyPr wrap="square" lIns="0" tIns="0" rIns="0" bIns="0" rtlCol="0" anchor="t"/>
          <a:lstStyle/>
          <a:p>
            <a:pPr indent="0" marL="0">
              <a:buNone/>
            </a:pPr>
            <a:r>
              <a:rPr lang="en-US" sz="900" b="1" dirty="0">
                <a:solidFill>
                  <a:srgbClr val="FF9900"/>
                </a:solidFill>
                <a:latin typeface="Calibri" pitchFamily="34" charset="0"/>
                <a:ea typeface="Calibri" pitchFamily="34" charset="-122"/>
                <a:cs typeface="Calibri" pitchFamily="34" charset="-120"/>
              </a:rPr>
              <a:t>YAML</a:t>
            </a:r>
            <a:endParaRPr lang="en-US" sz="900" dirty="0"/>
          </a:p>
        </p:txBody>
      </p:sp>
      <p:sp>
        <p:nvSpPr>
          <p:cNvPr id="6" name="Text 4"/>
          <p:cNvSpPr txBox="1"/>
          <p:nvPr/>
        </p:nvSpPr>
        <p:spPr>
          <a:xfrm>
            <a:off x="3840480" y="1417320"/>
            <a:ext cx="4663440" cy="3108960"/>
          </a:xfrm>
          <a:prstGeom prst="rect">
            <a:avLst/>
          </a:prstGeom>
          <a:noFill/>
          <a:ln/>
        </p:spPr>
        <p:txBody>
          <a:bodyPr wrap="square" lIns="0" tIns="0" rIns="0" bIns="0" rtlCol="0" anchor="t"/>
          <a:lstStyle/>
          <a:p>
            <a:pPr indent="0" marL="0">
              <a:buNone/>
            </a:pPr>
            <a:r>
              <a:rPr lang="en-US" sz="900" dirty="0">
                <a:solidFill>
                  <a:srgbClr val="E6E6E6"/>
                </a:solidFill>
                <a:latin typeface="Courier New" pitchFamily="34" charset="0"/>
                <a:ea typeface="Courier New" pitchFamily="34" charset="-122"/>
                <a:cs typeface="Courier New" pitchFamily="34" charset="-120"/>
              </a:rPr>
              <a:t>AWSTemplateFormatVersion: "2010-09-09"</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Description: Bucket de datos con versionado</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Parameters: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Entorno:</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Type: String</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AllowedValues: [dev, pre, pro]</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Resources: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BucketDatos: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Type: AWS::S3::Bucket</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DeletionPolicy: Retain</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Properties: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VersioningConfiguration:</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Status: Enabled</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Tags: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 Key: entorno</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Value: !Ref Entorno</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Outputs: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NombreBucket:</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Value: !Ref BucketDatos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Export:</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Name: !Sub "${AWS::StackName}-bucket"</a:t>
            </a:r>
            <a:endParaRPr lang="en-US" sz="900" dirty="0"/>
          </a:p>
        </p:txBody>
      </p:sp>
      <p:sp>
        <p:nvSpPr>
          <p:cNvPr id="7" name="Text 5"/>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8" name="Text 6"/>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Ciclo de vida de un stack</a:t>
            </a:r>
            <a:endParaRPr lang="en-US" sz="2400" dirty="0"/>
          </a:p>
        </p:txBody>
      </p:sp>
      <p:sp>
        <p:nvSpPr>
          <p:cNvPr id="3" name="Shape 1"/>
          <p:cNvSpPr/>
          <p:nvPr/>
        </p:nvSpPr>
        <p:spPr>
          <a:xfrm>
            <a:off x="457200" y="1508760"/>
            <a:ext cx="1499616" cy="3108960"/>
          </a:xfrm>
          <a:prstGeom prst="roundRect">
            <a:avLst>
              <a:gd name="adj" fmla="val 4878"/>
            </a:avLst>
          </a:prstGeom>
          <a:solidFill>
            <a:srgbClr val="F3F5F7"/>
          </a:solidFill>
          <a:ln w="12700">
            <a:solidFill>
              <a:srgbClr val="F3F5F7"/>
            </a:solidFill>
            <a:prstDash val="solid"/>
          </a:ln>
        </p:spPr>
      </p:sp>
      <p:sp>
        <p:nvSpPr>
          <p:cNvPr id="4" name="Shape 2"/>
          <p:cNvSpPr/>
          <p:nvPr/>
        </p:nvSpPr>
        <p:spPr>
          <a:xfrm>
            <a:off x="932688" y="1691640"/>
            <a:ext cx="548640" cy="548640"/>
          </a:xfrm>
          <a:prstGeom prst="ellipse">
            <a:avLst/>
          </a:prstGeom>
          <a:solidFill>
            <a:srgbClr val="232F3E"/>
          </a:solidFill>
          <a:ln w="12700">
            <a:solidFill>
              <a:srgbClr val="232F3E"/>
            </a:solidFill>
            <a:prstDash val="solid"/>
          </a:ln>
        </p:spPr>
      </p:sp>
      <p:sp>
        <p:nvSpPr>
          <p:cNvPr id="5" name="Text 3"/>
          <p:cNvSpPr txBox="1"/>
          <p:nvPr/>
        </p:nvSpPr>
        <p:spPr>
          <a:xfrm>
            <a:off x="93268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Validar</a:t>
            </a:r>
            <a:endParaRPr lang="en-US" sz="1100" dirty="0"/>
          </a:p>
        </p:txBody>
      </p:sp>
      <p:sp>
        <p:nvSpPr>
          <p:cNvPr id="7" name="Text 5"/>
          <p:cNvSpPr txBox="1"/>
          <p:nvPr/>
        </p:nvSpPr>
        <p:spPr>
          <a:xfrm>
            <a:off x="594360"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cfn-lint y validate-template antes de desplegar.</a:t>
            </a:r>
            <a:endParaRPr lang="en-US" sz="1050" dirty="0"/>
          </a:p>
        </p:txBody>
      </p:sp>
      <p:sp>
        <p:nvSpPr>
          <p:cNvPr id="8" name="Shape 6"/>
          <p:cNvSpPr/>
          <p:nvPr/>
        </p:nvSpPr>
        <p:spPr>
          <a:xfrm>
            <a:off x="1527048" y="1965960"/>
            <a:ext cx="1042416" cy="0"/>
          </a:xfrm>
          <a:prstGeom prst="line">
            <a:avLst/>
          </a:prstGeom>
          <a:noFill/>
          <a:ln w="25400">
            <a:solidFill>
              <a:srgbClr val="FF9900"/>
            </a:solidFill>
            <a:prstDash val="solid"/>
            <a:tailEnd type="triangle"/>
          </a:ln>
        </p:spPr>
      </p:sp>
      <p:sp>
        <p:nvSpPr>
          <p:cNvPr id="9" name="Shape 7"/>
          <p:cNvSpPr/>
          <p:nvPr/>
        </p:nvSpPr>
        <p:spPr>
          <a:xfrm>
            <a:off x="2139696" y="1508760"/>
            <a:ext cx="1499616" cy="3108960"/>
          </a:xfrm>
          <a:prstGeom prst="roundRect">
            <a:avLst>
              <a:gd name="adj" fmla="val 4878"/>
            </a:avLst>
          </a:prstGeom>
          <a:solidFill>
            <a:srgbClr val="F3F5F7"/>
          </a:solidFill>
          <a:ln w="12700">
            <a:solidFill>
              <a:srgbClr val="F3F5F7"/>
            </a:solidFill>
            <a:prstDash val="solid"/>
          </a:ln>
        </p:spPr>
      </p:sp>
      <p:sp>
        <p:nvSpPr>
          <p:cNvPr id="10" name="Shape 8"/>
          <p:cNvSpPr/>
          <p:nvPr/>
        </p:nvSpPr>
        <p:spPr>
          <a:xfrm>
            <a:off x="2615184" y="1691640"/>
            <a:ext cx="548640" cy="548640"/>
          </a:xfrm>
          <a:prstGeom prst="ellipse">
            <a:avLst/>
          </a:prstGeom>
          <a:solidFill>
            <a:srgbClr val="232F3E"/>
          </a:solidFill>
          <a:ln w="12700">
            <a:solidFill>
              <a:srgbClr val="232F3E"/>
            </a:solidFill>
            <a:prstDash val="solid"/>
          </a:ln>
        </p:spPr>
      </p:sp>
      <p:sp>
        <p:nvSpPr>
          <p:cNvPr id="11" name="Text 9"/>
          <p:cNvSpPr txBox="1"/>
          <p:nvPr/>
        </p:nvSpPr>
        <p:spPr>
          <a:xfrm>
            <a:off x="2615184"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276856"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Change set</a:t>
            </a:r>
            <a:endParaRPr lang="en-US" sz="1100" dirty="0"/>
          </a:p>
        </p:txBody>
      </p:sp>
      <p:sp>
        <p:nvSpPr>
          <p:cNvPr id="13" name="Text 11"/>
          <p:cNvSpPr txBox="1"/>
          <p:nvPr/>
        </p:nvSpPr>
        <p:spPr>
          <a:xfrm>
            <a:off x="2276856"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Previsualizar qué se añade, modifica o reemplaza.</a:t>
            </a:r>
            <a:endParaRPr lang="en-US" sz="1050" dirty="0"/>
          </a:p>
        </p:txBody>
      </p:sp>
      <p:sp>
        <p:nvSpPr>
          <p:cNvPr id="14" name="Shape 12"/>
          <p:cNvSpPr/>
          <p:nvPr/>
        </p:nvSpPr>
        <p:spPr>
          <a:xfrm>
            <a:off x="3209544" y="1965960"/>
            <a:ext cx="1042416" cy="0"/>
          </a:xfrm>
          <a:prstGeom prst="line">
            <a:avLst/>
          </a:prstGeom>
          <a:noFill/>
          <a:ln w="25400">
            <a:solidFill>
              <a:srgbClr val="FF9900"/>
            </a:solidFill>
            <a:prstDash val="solid"/>
            <a:tailEnd type="triangle"/>
          </a:ln>
        </p:spPr>
      </p:sp>
      <p:sp>
        <p:nvSpPr>
          <p:cNvPr id="15" name="Shape 13"/>
          <p:cNvSpPr/>
          <p:nvPr/>
        </p:nvSpPr>
        <p:spPr>
          <a:xfrm>
            <a:off x="3822192" y="1508760"/>
            <a:ext cx="1499616" cy="3108960"/>
          </a:xfrm>
          <a:prstGeom prst="roundRect">
            <a:avLst>
              <a:gd name="adj" fmla="val 4878"/>
            </a:avLst>
          </a:prstGeom>
          <a:solidFill>
            <a:srgbClr val="F3F5F7"/>
          </a:solidFill>
          <a:ln w="12700">
            <a:solidFill>
              <a:srgbClr val="F3F5F7"/>
            </a:solidFill>
            <a:prstDash val="solid"/>
          </a:ln>
        </p:spPr>
      </p:sp>
      <p:sp>
        <p:nvSpPr>
          <p:cNvPr id="16" name="Shape 14"/>
          <p:cNvSpPr/>
          <p:nvPr/>
        </p:nvSpPr>
        <p:spPr>
          <a:xfrm>
            <a:off x="4297680" y="1691640"/>
            <a:ext cx="548640" cy="548640"/>
          </a:xfrm>
          <a:prstGeom prst="ellipse">
            <a:avLst/>
          </a:prstGeom>
          <a:solidFill>
            <a:srgbClr val="232F3E"/>
          </a:solidFill>
          <a:ln w="12700">
            <a:solidFill>
              <a:srgbClr val="232F3E"/>
            </a:solidFill>
            <a:prstDash val="solid"/>
          </a:ln>
        </p:spPr>
      </p:sp>
      <p:sp>
        <p:nvSpPr>
          <p:cNvPr id="17" name="Text 15"/>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3959352"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Ejecutar</a:t>
            </a:r>
            <a:endParaRPr lang="en-US" sz="1100" dirty="0"/>
          </a:p>
        </p:txBody>
      </p:sp>
      <p:sp>
        <p:nvSpPr>
          <p:cNvPr id="19" name="Text 17"/>
          <p:cNvSpPr txBox="1"/>
          <p:nvPr/>
        </p:nvSpPr>
        <p:spPr>
          <a:xfrm>
            <a:off x="3959352"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CloudFormation aplica los cambios en orden de dependencias.</a:t>
            </a:r>
            <a:endParaRPr lang="en-US" sz="1050" dirty="0"/>
          </a:p>
        </p:txBody>
      </p:sp>
      <p:sp>
        <p:nvSpPr>
          <p:cNvPr id="20" name="Shape 18"/>
          <p:cNvSpPr/>
          <p:nvPr/>
        </p:nvSpPr>
        <p:spPr>
          <a:xfrm>
            <a:off x="4892040" y="1965960"/>
            <a:ext cx="1042416" cy="0"/>
          </a:xfrm>
          <a:prstGeom prst="line">
            <a:avLst/>
          </a:prstGeom>
          <a:noFill/>
          <a:ln w="25400">
            <a:solidFill>
              <a:srgbClr val="FF9900"/>
            </a:solidFill>
            <a:prstDash val="solid"/>
            <a:tailEnd type="triangle"/>
          </a:ln>
        </p:spPr>
      </p:sp>
      <p:sp>
        <p:nvSpPr>
          <p:cNvPr id="21" name="Shape 19"/>
          <p:cNvSpPr/>
          <p:nvPr/>
        </p:nvSpPr>
        <p:spPr>
          <a:xfrm>
            <a:off x="5504688" y="1508760"/>
            <a:ext cx="1499616" cy="3108960"/>
          </a:xfrm>
          <a:prstGeom prst="roundRect">
            <a:avLst>
              <a:gd name="adj" fmla="val 4878"/>
            </a:avLst>
          </a:prstGeom>
          <a:solidFill>
            <a:srgbClr val="F3F5F7"/>
          </a:solidFill>
          <a:ln w="12700">
            <a:solidFill>
              <a:srgbClr val="F3F5F7"/>
            </a:solidFill>
            <a:prstDash val="solid"/>
          </a:ln>
        </p:spPr>
      </p:sp>
      <p:sp>
        <p:nvSpPr>
          <p:cNvPr id="22" name="Shape 20"/>
          <p:cNvSpPr/>
          <p:nvPr/>
        </p:nvSpPr>
        <p:spPr>
          <a:xfrm>
            <a:off x="5980176" y="1691640"/>
            <a:ext cx="548640" cy="548640"/>
          </a:xfrm>
          <a:prstGeom prst="ellipse">
            <a:avLst/>
          </a:prstGeom>
          <a:solidFill>
            <a:srgbClr val="232F3E"/>
          </a:solidFill>
          <a:ln w="12700">
            <a:solidFill>
              <a:srgbClr val="232F3E"/>
            </a:solidFill>
            <a:prstDash val="solid"/>
          </a:ln>
        </p:spPr>
      </p:sp>
      <p:sp>
        <p:nvSpPr>
          <p:cNvPr id="23" name="Text 21"/>
          <p:cNvSpPr txBox="1"/>
          <p:nvPr/>
        </p:nvSpPr>
        <p:spPr>
          <a:xfrm>
            <a:off x="598017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5641848"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Rollback</a:t>
            </a:r>
            <a:endParaRPr lang="en-US" sz="1100" dirty="0"/>
          </a:p>
        </p:txBody>
      </p:sp>
      <p:sp>
        <p:nvSpPr>
          <p:cNvPr id="25" name="Text 23"/>
          <p:cNvSpPr txBox="1"/>
          <p:nvPr/>
        </p:nvSpPr>
        <p:spPr>
          <a:xfrm>
            <a:off x="5641848"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Si algo falla, vuelve al último estado estable.</a:t>
            </a:r>
            <a:endParaRPr lang="en-US" sz="1050" dirty="0"/>
          </a:p>
        </p:txBody>
      </p:sp>
      <p:sp>
        <p:nvSpPr>
          <p:cNvPr id="26" name="Shape 24"/>
          <p:cNvSpPr/>
          <p:nvPr/>
        </p:nvSpPr>
        <p:spPr>
          <a:xfrm>
            <a:off x="6574536" y="1965960"/>
            <a:ext cx="1042416" cy="0"/>
          </a:xfrm>
          <a:prstGeom prst="line">
            <a:avLst/>
          </a:prstGeom>
          <a:noFill/>
          <a:ln w="25400">
            <a:solidFill>
              <a:srgbClr val="FF9900"/>
            </a:solidFill>
            <a:prstDash val="solid"/>
            <a:tailEnd type="triangle"/>
          </a:ln>
        </p:spPr>
      </p:sp>
      <p:sp>
        <p:nvSpPr>
          <p:cNvPr id="27" name="Shape 25"/>
          <p:cNvSpPr/>
          <p:nvPr/>
        </p:nvSpPr>
        <p:spPr>
          <a:xfrm>
            <a:off x="7187184" y="1508760"/>
            <a:ext cx="1499616" cy="3108960"/>
          </a:xfrm>
          <a:prstGeom prst="roundRect">
            <a:avLst>
              <a:gd name="adj" fmla="val 4878"/>
            </a:avLst>
          </a:prstGeom>
          <a:solidFill>
            <a:srgbClr val="F3F5F7"/>
          </a:solidFill>
          <a:ln w="12700">
            <a:solidFill>
              <a:srgbClr val="F3F5F7"/>
            </a:solidFill>
            <a:prstDash val="solid"/>
          </a:ln>
        </p:spPr>
      </p:sp>
      <p:sp>
        <p:nvSpPr>
          <p:cNvPr id="28" name="Shape 26"/>
          <p:cNvSpPr/>
          <p:nvPr/>
        </p:nvSpPr>
        <p:spPr>
          <a:xfrm>
            <a:off x="7662672" y="1691640"/>
            <a:ext cx="548640" cy="548640"/>
          </a:xfrm>
          <a:prstGeom prst="ellipse">
            <a:avLst/>
          </a:prstGeom>
          <a:solidFill>
            <a:srgbClr val="232F3E"/>
          </a:solidFill>
          <a:ln w="12700">
            <a:solidFill>
              <a:srgbClr val="232F3E"/>
            </a:solidFill>
            <a:prstDash val="solid"/>
          </a:ln>
        </p:spPr>
      </p:sp>
      <p:sp>
        <p:nvSpPr>
          <p:cNvPr id="29" name="Text 27"/>
          <p:cNvSpPr txBox="1"/>
          <p:nvPr/>
        </p:nvSpPr>
        <p:spPr>
          <a:xfrm>
            <a:off x="7662672"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7324344"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Drift</a:t>
            </a:r>
            <a:endParaRPr lang="en-US" sz="1100" dirty="0"/>
          </a:p>
        </p:txBody>
      </p:sp>
      <p:sp>
        <p:nvSpPr>
          <p:cNvPr id="31" name="Text 29"/>
          <p:cNvSpPr txBox="1"/>
          <p:nvPr/>
        </p:nvSpPr>
        <p:spPr>
          <a:xfrm>
            <a:off x="7324344"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Detectar cambios manuales fuera de la plantilla.</a:t>
            </a:r>
            <a:endParaRPr lang="en-US" sz="1050" dirty="0"/>
          </a:p>
        </p:txBody>
      </p:sp>
      <p:sp>
        <p:nvSpPr>
          <p:cNvPr id="32" name="Text 30"/>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33" name="Text 31"/>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Buenas prácticas y antipatrones</a:t>
            </a:r>
            <a:endParaRPr lang="en-US" sz="2400" dirty="0"/>
          </a:p>
        </p:txBody>
      </p:sp>
      <p:sp>
        <p:nvSpPr>
          <p:cNvPr id="3" name="Shape 1"/>
          <p:cNvSpPr/>
          <p:nvPr/>
        </p:nvSpPr>
        <p:spPr>
          <a:xfrm>
            <a:off x="457200" y="1097280"/>
            <a:ext cx="4005072" cy="3520440"/>
          </a:xfrm>
          <a:prstGeom prst="roundRect">
            <a:avLst>
              <a:gd name="adj" fmla="val 2078"/>
            </a:avLst>
          </a:prstGeom>
          <a:solidFill>
            <a:srgbClr val="F3F5F7"/>
          </a:solidFill>
          <a:ln w="12700">
            <a:solidFill>
              <a:srgbClr val="F3F5F7"/>
            </a:solidFill>
            <a:prstDash val="solid"/>
          </a:ln>
        </p:spPr>
      </p:sp>
      <p:sp>
        <p:nvSpPr>
          <p:cNvPr id="4" name="Text 2"/>
          <p:cNvSpPr txBox="1"/>
          <p:nvPr/>
        </p:nvSpPr>
        <p:spPr>
          <a:xfrm>
            <a:off x="685800" y="1234440"/>
            <a:ext cx="3547872" cy="411480"/>
          </a:xfrm>
          <a:prstGeom prst="rect">
            <a:avLst/>
          </a:prstGeom>
          <a:noFill/>
          <a:ln/>
        </p:spPr>
        <p:txBody>
          <a:bodyPr wrap="square" lIns="0" tIns="0" rIns="0" bIns="0" rtlCol="0" anchor="ctr"/>
          <a:lstStyle/>
          <a:p>
            <a:pPr indent="0" marL="0">
              <a:buNone/>
            </a:pPr>
            <a:r>
              <a:rPr lang="en-US" sz="1500" b="1" dirty="0">
                <a:solidFill>
                  <a:srgbClr val="232F3E"/>
                </a:solidFill>
                <a:latin typeface="Arial" pitchFamily="34" charset="0"/>
                <a:ea typeface="Arial" pitchFamily="34" charset="-122"/>
                <a:cs typeface="Arial" pitchFamily="34" charset="-120"/>
              </a:rPr>
              <a:t>Buenas prácticas</a:t>
            </a:r>
            <a:endParaRPr lang="en-US" sz="1500" dirty="0"/>
          </a:p>
        </p:txBody>
      </p:sp>
      <p:sp>
        <p:nvSpPr>
          <p:cNvPr id="5" name="Text 3"/>
          <p:cNvSpPr txBox="1"/>
          <p:nvPr/>
        </p:nvSpPr>
        <p:spPr>
          <a:xfrm>
            <a:off x="685800"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Plantillas en Git con revisión por pull request</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Stacks pequeños por ciclo de vida: red, datos, aplicación</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Change sets obligatorios antes de producción</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Protección contra borrado y stack policies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Parámetros y SSM en lugar de valores fijos</a:t>
            </a:r>
            <a:endParaRPr lang="en-US" sz="1350" dirty="0"/>
          </a:p>
        </p:txBody>
      </p:sp>
      <p:sp>
        <p:nvSpPr>
          <p:cNvPr id="6" name="Shape 4"/>
          <p:cNvSpPr/>
          <p:nvPr/>
        </p:nvSpPr>
        <p:spPr>
          <a:xfrm>
            <a:off x="4681728" y="1097280"/>
            <a:ext cx="4005072" cy="3520440"/>
          </a:xfrm>
          <a:prstGeom prst="roundRect">
            <a:avLst>
              <a:gd name="adj" fmla="val 2078"/>
            </a:avLst>
          </a:prstGeom>
          <a:solidFill>
            <a:srgbClr val="FFF4E5"/>
          </a:solidFill>
          <a:ln w="12700">
            <a:solidFill>
              <a:srgbClr val="FFF4E5"/>
            </a:solidFill>
            <a:prstDash val="solid"/>
          </a:ln>
        </p:spPr>
      </p:sp>
      <p:sp>
        <p:nvSpPr>
          <p:cNvPr id="7" name="Text 5"/>
          <p:cNvSpPr txBox="1"/>
          <p:nvPr/>
        </p:nvSpPr>
        <p:spPr>
          <a:xfrm>
            <a:off x="4910328" y="1234440"/>
            <a:ext cx="3547872" cy="411480"/>
          </a:xfrm>
          <a:prstGeom prst="rect">
            <a:avLst/>
          </a:prstGeom>
          <a:noFill/>
          <a:ln/>
        </p:spPr>
        <p:txBody>
          <a:bodyPr wrap="square" lIns="0" tIns="0" rIns="0" bIns="0" rtlCol="0" anchor="ctr"/>
          <a:lstStyle/>
          <a:p>
            <a:pPr indent="0" marL="0">
              <a:buNone/>
            </a:pPr>
            <a:r>
              <a:rPr lang="en-US" sz="1500" b="1" dirty="0">
                <a:solidFill>
                  <a:srgbClr val="B35C00"/>
                </a:solidFill>
                <a:latin typeface="Arial" pitchFamily="34" charset="0"/>
                <a:ea typeface="Arial" pitchFamily="34" charset="-122"/>
                <a:cs typeface="Arial" pitchFamily="34" charset="-120"/>
              </a:rPr>
              <a:t>Antipatrones</a:t>
            </a:r>
            <a:endParaRPr lang="en-US" sz="1500" dirty="0"/>
          </a:p>
        </p:txBody>
      </p:sp>
      <p:sp>
        <p:nvSpPr>
          <p:cNvPr id="8" name="Text 6"/>
          <p:cNvSpPr txBox="1"/>
          <p:nvPr/>
        </p:nvSpPr>
        <p:spPr>
          <a:xfrm>
            <a:off x="4910328"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Cambios manuales en consola que generan drift</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Secretos en texto plano dentro de la plantilla</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Un único stack monolítico para todo</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Nombres fijos que impiden desplegar dos entornos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Desplegar sin revisar reemplazos de recursos</a:t>
            </a:r>
            <a:endParaRPr lang="en-US" sz="1350" dirty="0"/>
          </a:p>
        </p:txBody>
      </p:sp>
      <p:sp>
        <p:nvSpPr>
          <p:cNvPr id="9" name="Text 7"/>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10" name="Text 8"/>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232F3E"/>
          </a:solidFill>
          <a:ln w="12700">
            <a:solidFill>
              <a:srgbClr val="232F3E"/>
            </a:solidFill>
            <a:prstDash val="solid"/>
          </a:ln>
        </p:spPr>
      </p:sp>
      <p:sp>
        <p:nvSpPr>
          <p:cNvPr id="3" name="Text 1"/>
          <p:cNvSpPr txBox="1"/>
          <p:nvPr/>
        </p:nvSpPr>
        <p:spPr>
          <a:xfrm>
            <a:off x="411480" y="548640"/>
            <a:ext cx="2286000" cy="32004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PRÁCTICA</a:t>
            </a:r>
            <a:endParaRPr lang="en-US" sz="1200" dirty="0"/>
          </a:p>
        </p:txBody>
      </p:sp>
      <p:sp>
        <p:nvSpPr>
          <p:cNvPr id="4" name="Text 2"/>
          <p:cNvSpPr txBox="1"/>
          <p:nvPr/>
        </p:nvSpPr>
        <p:spPr>
          <a:xfrm>
            <a:off x="411480" y="868680"/>
            <a:ext cx="237744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Lab 01</a:t>
            </a:r>
            <a:endParaRPr lang="en-US" sz="4000" dirty="0"/>
          </a:p>
        </p:txBody>
      </p:sp>
      <p:sp>
        <p:nvSpPr>
          <p:cNvPr id="5" name="Text 3"/>
          <p:cNvSpPr txBox="1"/>
          <p:nvPr/>
        </p:nvSpPr>
        <p:spPr>
          <a:xfrm>
            <a:off x="411480" y="1783080"/>
            <a:ext cx="2286000" cy="320040"/>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50 minutos</a:t>
            </a:r>
            <a:endParaRPr lang="en-US" sz="1300" dirty="0"/>
          </a:p>
        </p:txBody>
      </p:sp>
      <p:sp>
        <p:nvSpPr>
          <p:cNvPr id="6" name="Text 4"/>
          <p:cNvSpPr txBox="1"/>
          <p:nvPr/>
        </p:nvSpPr>
        <p:spPr>
          <a:xfrm>
            <a:off x="411480" y="4114800"/>
            <a:ext cx="2377440" cy="548640"/>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practicas/Lab01_cloudformation</a:t>
            </a:r>
            <a:endParaRPr lang="en-US" sz="1000" dirty="0"/>
          </a:p>
        </p:txBody>
      </p:sp>
      <p:sp>
        <p:nvSpPr>
          <p:cNvPr id="7" name="Text 5"/>
          <p:cNvSpPr txBox="1"/>
          <p:nvPr/>
        </p:nvSpPr>
        <p:spPr>
          <a:xfrm>
            <a:off x="3383280" y="411480"/>
            <a:ext cx="5303520" cy="822960"/>
          </a:xfrm>
          <a:prstGeom prst="rect">
            <a:avLst/>
          </a:prstGeom>
          <a:noFill/>
          <a:ln/>
        </p:spPr>
        <p:txBody>
          <a:bodyPr wrap="square" lIns="0" tIns="0" rIns="0" bIns="0" rtlCol="0" anchor="ctr"/>
          <a:lstStyle/>
          <a:p>
            <a:pPr indent="0" marL="0">
              <a:buNone/>
            </a:pPr>
            <a:r>
              <a:rPr lang="en-US" sz="2200" b="1" dirty="0">
                <a:solidFill>
                  <a:srgbClr val="232F3E"/>
                </a:solidFill>
                <a:latin typeface="Arial" pitchFamily="34" charset="0"/>
                <a:ea typeface="Arial" pitchFamily="34" charset="-122"/>
                <a:cs typeface="Arial" pitchFamily="34" charset="-120"/>
              </a:rPr>
              <a:t>Stacks, change sets y detección de drift</a:t>
            </a:r>
            <a:endParaRPr lang="en-US" sz="2200" dirty="0"/>
          </a:p>
        </p:txBody>
      </p:sp>
      <p:sp>
        <p:nvSpPr>
          <p:cNvPr id="8" name="Text 6"/>
          <p:cNvSpPr txBox="1"/>
          <p:nvPr/>
        </p:nvSpPr>
        <p:spPr>
          <a:xfrm>
            <a:off x="3383280" y="1280160"/>
            <a:ext cx="5303520" cy="640080"/>
          </a:xfrm>
          <a:prstGeom prst="rect">
            <a:avLst/>
          </a:prstGeom>
          <a:noFill/>
          <a:ln/>
        </p:spPr>
        <p:txBody>
          <a:bodyPr wrap="square" lIns="0" tIns="0" rIns="0" bIns="0" rtlCol="0" anchor="t"/>
          <a:lstStyle/>
          <a:p>
            <a:pPr indent="0" marL="0">
              <a:buNone/>
            </a:pPr>
            <a:r>
              <a:rPr lang="en-US" sz="1250" i="1" dirty="0">
                <a:solidFill>
                  <a:srgbClr val="555B66"/>
                </a:solidFill>
                <a:latin typeface="Calibri" pitchFamily="34" charset="0"/>
                <a:ea typeface="Calibri" pitchFamily="34" charset="-122"/>
                <a:cs typeface="Calibri" pitchFamily="34" charset="-120"/>
              </a:rPr>
              <a:t>Desplegar un stack parametrizado, modificarlo de forma controlada con un change set y detectar un cambio manual.</a:t>
            </a:r>
            <a:endParaRPr lang="en-US" sz="1250" dirty="0"/>
          </a:p>
        </p:txBody>
      </p:sp>
      <p:sp>
        <p:nvSpPr>
          <p:cNvPr id="9" name="Shape 7"/>
          <p:cNvSpPr/>
          <p:nvPr/>
        </p:nvSpPr>
        <p:spPr>
          <a:xfrm>
            <a:off x="3383280" y="2011680"/>
            <a:ext cx="329184" cy="329184"/>
          </a:xfrm>
          <a:prstGeom prst="ellipse">
            <a:avLst/>
          </a:prstGeom>
          <a:solidFill>
            <a:srgbClr val="FF9900"/>
          </a:solidFill>
          <a:ln w="12700">
            <a:solidFill>
              <a:srgbClr val="FF9900"/>
            </a:solidFill>
            <a:prstDash val="solid"/>
          </a:ln>
        </p:spPr>
      </p:sp>
      <p:sp>
        <p:nvSpPr>
          <p:cNvPr id="10" name="Text 8"/>
          <p:cNvSpPr txBox="1"/>
          <p:nvPr/>
        </p:nvSpPr>
        <p:spPr>
          <a:xfrm>
            <a:off x="3383280" y="2011680"/>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3840480" y="1993392"/>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Abrir CloudShell y preparar la plantilla con tu sufijo único</a:t>
            </a:r>
            <a:endParaRPr lang="en-US" sz="1200" dirty="0"/>
          </a:p>
        </p:txBody>
      </p:sp>
      <p:sp>
        <p:nvSpPr>
          <p:cNvPr id="12" name="Shape 10"/>
          <p:cNvSpPr/>
          <p:nvPr/>
        </p:nvSpPr>
        <p:spPr>
          <a:xfrm>
            <a:off x="3383280" y="2542032"/>
            <a:ext cx="329184" cy="329184"/>
          </a:xfrm>
          <a:prstGeom prst="ellipse">
            <a:avLst/>
          </a:prstGeom>
          <a:solidFill>
            <a:srgbClr val="FF9900"/>
          </a:solidFill>
          <a:ln w="12700">
            <a:solidFill>
              <a:srgbClr val="FF9900"/>
            </a:solidFill>
            <a:prstDash val="solid"/>
          </a:ln>
        </p:spPr>
      </p:sp>
      <p:sp>
        <p:nvSpPr>
          <p:cNvPr id="13" name="Text 11"/>
          <p:cNvSpPr txBox="1"/>
          <p:nvPr/>
        </p:nvSpPr>
        <p:spPr>
          <a:xfrm>
            <a:off x="3383280" y="2542032"/>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3840480" y="2523744"/>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Validar y desplegar el stack; revisar eventos y outputs</a:t>
            </a:r>
            <a:endParaRPr lang="en-US" sz="1200" dirty="0"/>
          </a:p>
        </p:txBody>
      </p:sp>
      <p:sp>
        <p:nvSpPr>
          <p:cNvPr id="15" name="Shape 13"/>
          <p:cNvSpPr/>
          <p:nvPr/>
        </p:nvSpPr>
        <p:spPr>
          <a:xfrm>
            <a:off x="3383280" y="3072384"/>
            <a:ext cx="329184" cy="329184"/>
          </a:xfrm>
          <a:prstGeom prst="ellipse">
            <a:avLst/>
          </a:prstGeom>
          <a:solidFill>
            <a:srgbClr val="FF9900"/>
          </a:solidFill>
          <a:ln w="12700">
            <a:solidFill>
              <a:srgbClr val="FF9900"/>
            </a:solidFill>
            <a:prstDash val="solid"/>
          </a:ln>
        </p:spPr>
      </p:sp>
      <p:sp>
        <p:nvSpPr>
          <p:cNvPr id="16" name="Text 14"/>
          <p:cNvSpPr txBox="1"/>
          <p:nvPr/>
        </p:nvSpPr>
        <p:spPr>
          <a:xfrm>
            <a:off x="3383280" y="3072384"/>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3840480" y="3054096"/>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Crear un change set con cambios y un reemplazo; analizarlo</a:t>
            </a:r>
            <a:endParaRPr lang="en-US" sz="1200" dirty="0"/>
          </a:p>
        </p:txBody>
      </p:sp>
      <p:sp>
        <p:nvSpPr>
          <p:cNvPr id="18" name="Shape 16"/>
          <p:cNvSpPr/>
          <p:nvPr/>
        </p:nvSpPr>
        <p:spPr>
          <a:xfrm>
            <a:off x="3383280" y="3602736"/>
            <a:ext cx="329184" cy="329184"/>
          </a:xfrm>
          <a:prstGeom prst="ellipse">
            <a:avLst/>
          </a:prstGeom>
          <a:solidFill>
            <a:srgbClr val="FF9900"/>
          </a:solidFill>
          <a:ln w="12700">
            <a:solidFill>
              <a:srgbClr val="FF9900"/>
            </a:solidFill>
            <a:prstDash val="solid"/>
          </a:ln>
        </p:spPr>
      </p:sp>
      <p:sp>
        <p:nvSpPr>
          <p:cNvPr id="19" name="Text 17"/>
          <p:cNvSpPr txBox="1"/>
          <p:nvPr/>
        </p:nvSpPr>
        <p:spPr>
          <a:xfrm>
            <a:off x="3383280" y="3602736"/>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3840480" y="3584448"/>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Provocar un cambio manual y detectar el drift</a:t>
            </a:r>
            <a:endParaRPr lang="en-US" sz="1200" dirty="0"/>
          </a:p>
        </p:txBody>
      </p:sp>
      <p:sp>
        <p:nvSpPr>
          <p:cNvPr id="21" name="Shape 19"/>
          <p:cNvSpPr/>
          <p:nvPr/>
        </p:nvSpPr>
        <p:spPr>
          <a:xfrm>
            <a:off x="3383280" y="4133088"/>
            <a:ext cx="329184" cy="329184"/>
          </a:xfrm>
          <a:prstGeom prst="ellipse">
            <a:avLst/>
          </a:prstGeom>
          <a:solidFill>
            <a:srgbClr val="FF9900"/>
          </a:solidFill>
          <a:ln w="12700">
            <a:solidFill>
              <a:srgbClr val="FF9900"/>
            </a:solidFill>
            <a:prstDash val="solid"/>
          </a:ln>
        </p:spPr>
      </p:sp>
      <p:sp>
        <p:nvSpPr>
          <p:cNvPr id="22" name="Text 20"/>
          <p:cNvSpPr txBox="1"/>
          <p:nvPr/>
        </p:nvSpPr>
        <p:spPr>
          <a:xfrm>
            <a:off x="3383280" y="4133088"/>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3840480" y="4114800"/>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Corregir el drift desde la plantilla y limpiar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03</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Integración continua con AWS CodeBuild</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Cada cambio se construye y se prueba de forma automática y reproducible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Conceptos clave de CodeBuild</a:t>
            </a:r>
            <a:endParaRPr lang="en-US" sz="2400" dirty="0"/>
          </a:p>
        </p:txBody>
      </p:sp>
      <p:sp>
        <p:nvSpPr>
          <p:cNvPr id="3" name="Shape 1"/>
          <p:cNvSpPr/>
          <p:nvPr/>
        </p:nvSpPr>
        <p:spPr>
          <a:xfrm>
            <a:off x="457200" y="1143000"/>
            <a:ext cx="25908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Proyecto</a:t>
            </a:r>
            <a:endParaRPr lang="en-US" sz="1350" dirty="0"/>
          </a:p>
        </p:txBody>
      </p:sp>
      <p:sp>
        <p:nvSpPr>
          <p:cNvPr id="7" name="Text 5"/>
          <p:cNvSpPr txBox="1"/>
          <p:nvPr/>
        </p:nvSpPr>
        <p:spPr>
          <a:xfrm>
            <a:off x="6583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Define origen, entorno, rol de servicio, artefactos y logs. Es la unidad reutilizable.</a:t>
            </a:r>
            <a:endParaRPr lang="en-US" sz="1100" dirty="0"/>
          </a:p>
        </p:txBody>
      </p:sp>
      <p:sp>
        <p:nvSpPr>
          <p:cNvPr id="8" name="Shape 6"/>
          <p:cNvSpPr/>
          <p:nvPr/>
        </p:nvSpPr>
        <p:spPr>
          <a:xfrm>
            <a:off x="3276600" y="1143000"/>
            <a:ext cx="25908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34594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34594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39624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Entorno</a:t>
            </a:r>
            <a:endParaRPr lang="en-US" sz="1350" dirty="0"/>
          </a:p>
        </p:txBody>
      </p:sp>
      <p:sp>
        <p:nvSpPr>
          <p:cNvPr id="12" name="Text 10"/>
          <p:cNvSpPr txBox="1"/>
          <p:nvPr/>
        </p:nvSpPr>
        <p:spPr>
          <a:xfrm>
            <a:off x="34777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Imagen gestionada o propia, tamaño de cómputo y variables. Cada build es un contenedor nuevo.</a:t>
            </a:r>
            <a:endParaRPr lang="en-US" sz="1100" dirty="0"/>
          </a:p>
        </p:txBody>
      </p:sp>
      <p:sp>
        <p:nvSpPr>
          <p:cNvPr id="13" name="Shape 11"/>
          <p:cNvSpPr/>
          <p:nvPr/>
        </p:nvSpPr>
        <p:spPr>
          <a:xfrm>
            <a:off x="6096000" y="1143000"/>
            <a:ext cx="25908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278880" y="132588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2788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67818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buildspec.yml</a:t>
            </a:r>
            <a:endParaRPr lang="en-US" sz="1350" dirty="0"/>
          </a:p>
        </p:txBody>
      </p:sp>
      <p:sp>
        <p:nvSpPr>
          <p:cNvPr id="17" name="Text 15"/>
          <p:cNvSpPr txBox="1"/>
          <p:nvPr/>
        </p:nvSpPr>
        <p:spPr>
          <a:xfrm>
            <a:off x="62971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Fases install, pre_build, build y post_build, junto con artefactos, informes y caché.</a:t>
            </a:r>
            <a:endParaRPr lang="en-US" sz="1100" dirty="0"/>
          </a:p>
        </p:txBody>
      </p:sp>
      <p:sp>
        <p:nvSpPr>
          <p:cNvPr id="18" name="Shape 16"/>
          <p:cNvSpPr/>
          <p:nvPr/>
        </p:nvSpPr>
        <p:spPr>
          <a:xfrm>
            <a:off x="457200" y="2994660"/>
            <a:ext cx="25908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6400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11430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Rol de servicio</a:t>
            </a:r>
            <a:endParaRPr lang="en-US" sz="1350" dirty="0"/>
          </a:p>
        </p:txBody>
      </p:sp>
      <p:sp>
        <p:nvSpPr>
          <p:cNvPr id="22" name="Text 20"/>
          <p:cNvSpPr txBox="1"/>
          <p:nvPr/>
        </p:nvSpPr>
        <p:spPr>
          <a:xfrm>
            <a:off x="6583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Los permisos del build. Mínimos y específicos: nunca claves de acceso en variables.</a:t>
            </a:r>
            <a:endParaRPr lang="en-US" sz="1100" dirty="0"/>
          </a:p>
        </p:txBody>
      </p:sp>
      <p:sp>
        <p:nvSpPr>
          <p:cNvPr id="23" name="Shape 21"/>
          <p:cNvSpPr/>
          <p:nvPr/>
        </p:nvSpPr>
        <p:spPr>
          <a:xfrm>
            <a:off x="3276600" y="2994660"/>
            <a:ext cx="2590800" cy="1623060"/>
          </a:xfrm>
          <a:prstGeom prst="roundRect">
            <a:avLst>
              <a:gd name="adj" fmla="val 4507"/>
            </a:avLst>
          </a:prstGeom>
          <a:solidFill>
            <a:srgbClr val="F3F5F7"/>
          </a:solidFill>
          <a:ln w="12700">
            <a:solidFill>
              <a:srgbClr val="F3F5F7"/>
            </a:solidFill>
            <a:prstDash val="solid"/>
          </a:ln>
        </p:spPr>
      </p:sp>
      <p:sp>
        <p:nvSpPr>
          <p:cNvPr id="24" name="Shape 22"/>
          <p:cNvSpPr/>
          <p:nvPr/>
        </p:nvSpPr>
        <p:spPr>
          <a:xfrm>
            <a:off x="3459480" y="3177540"/>
            <a:ext cx="384048" cy="384048"/>
          </a:xfrm>
          <a:prstGeom prst="ellipse">
            <a:avLst/>
          </a:prstGeom>
          <a:solidFill>
            <a:srgbClr val="FF9900"/>
          </a:solidFill>
          <a:ln w="12700">
            <a:solidFill>
              <a:srgbClr val="FF9900"/>
            </a:solidFill>
            <a:prstDash val="solid"/>
          </a:ln>
        </p:spPr>
      </p:sp>
      <p:sp>
        <p:nvSpPr>
          <p:cNvPr id="25" name="Text 23"/>
          <p:cNvSpPr txBox="1"/>
          <p:nvPr/>
        </p:nvSpPr>
        <p:spPr>
          <a:xfrm>
            <a:off x="34594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5</a:t>
            </a:r>
            <a:endParaRPr lang="en-US" sz="1300" dirty="0"/>
          </a:p>
        </p:txBody>
      </p:sp>
      <p:sp>
        <p:nvSpPr>
          <p:cNvPr id="26" name="Text 24"/>
          <p:cNvSpPr txBox="1"/>
          <p:nvPr/>
        </p:nvSpPr>
        <p:spPr>
          <a:xfrm>
            <a:off x="39624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Informes</a:t>
            </a:r>
            <a:endParaRPr lang="en-US" sz="1350" dirty="0"/>
          </a:p>
        </p:txBody>
      </p:sp>
      <p:sp>
        <p:nvSpPr>
          <p:cNvPr id="27" name="Text 25"/>
          <p:cNvSpPr txBox="1"/>
          <p:nvPr/>
        </p:nvSpPr>
        <p:spPr>
          <a:xfrm>
            <a:off x="34777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Resultados de pruebas en JUnit y cobertura visibles en la consola con histórico.</a:t>
            </a:r>
            <a:endParaRPr lang="en-US" sz="1100" dirty="0"/>
          </a:p>
        </p:txBody>
      </p:sp>
      <p:sp>
        <p:nvSpPr>
          <p:cNvPr id="28" name="Shape 26"/>
          <p:cNvSpPr/>
          <p:nvPr/>
        </p:nvSpPr>
        <p:spPr>
          <a:xfrm>
            <a:off x="6096000" y="2994660"/>
            <a:ext cx="2590800" cy="1623060"/>
          </a:xfrm>
          <a:prstGeom prst="roundRect">
            <a:avLst>
              <a:gd name="adj" fmla="val 4507"/>
            </a:avLst>
          </a:prstGeom>
          <a:solidFill>
            <a:srgbClr val="F3F5F7"/>
          </a:solidFill>
          <a:ln w="12700">
            <a:solidFill>
              <a:srgbClr val="F3F5F7"/>
            </a:solidFill>
            <a:prstDash val="solid"/>
          </a:ln>
        </p:spPr>
      </p:sp>
      <p:sp>
        <p:nvSpPr>
          <p:cNvPr id="29" name="Shape 27"/>
          <p:cNvSpPr/>
          <p:nvPr/>
        </p:nvSpPr>
        <p:spPr>
          <a:xfrm>
            <a:off x="6278880" y="3177540"/>
            <a:ext cx="384048" cy="384048"/>
          </a:xfrm>
          <a:prstGeom prst="ellipse">
            <a:avLst/>
          </a:prstGeom>
          <a:solidFill>
            <a:srgbClr val="FF9900"/>
          </a:solidFill>
          <a:ln w="12700">
            <a:solidFill>
              <a:srgbClr val="FF9900"/>
            </a:solidFill>
            <a:prstDash val="solid"/>
          </a:ln>
        </p:spPr>
      </p:sp>
      <p:sp>
        <p:nvSpPr>
          <p:cNvPr id="30" name="Text 28"/>
          <p:cNvSpPr txBox="1"/>
          <p:nvPr/>
        </p:nvSpPr>
        <p:spPr>
          <a:xfrm>
            <a:off x="62788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67818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Caché</a:t>
            </a:r>
            <a:endParaRPr lang="en-US" sz="1350" dirty="0"/>
          </a:p>
        </p:txBody>
      </p:sp>
      <p:sp>
        <p:nvSpPr>
          <p:cNvPr id="32" name="Text 30"/>
          <p:cNvSpPr txBox="1"/>
          <p:nvPr/>
        </p:nvSpPr>
        <p:spPr>
          <a:xfrm>
            <a:off x="62971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Local o en S3 para dependencias: builds más rápidos y más baratos.</a:t>
            </a:r>
            <a:endParaRPr lang="en-US" sz="1100" dirty="0"/>
          </a:p>
        </p:txBody>
      </p:sp>
      <p:sp>
        <p:nvSpPr>
          <p:cNvPr id="33" name="Text 3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34" name="Text 3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Un buildspec.yml completo</a:t>
            </a:r>
            <a:endParaRPr lang="en-US" sz="2400" dirty="0"/>
          </a:p>
        </p:txBody>
      </p:sp>
      <p:sp>
        <p:nvSpPr>
          <p:cNvPr id="3" name="Text 1"/>
          <p:cNvSpPr txBox="1"/>
          <p:nvPr/>
        </p:nvSpPr>
        <p:spPr>
          <a:xfrm>
            <a:off x="457200" y="1097280"/>
            <a:ext cx="2926080" cy="3520440"/>
          </a:xfrm>
          <a:prstGeom prst="rect">
            <a:avLst/>
          </a:prstGeom>
          <a:noFill/>
          <a:ln/>
        </p:spPr>
        <p:txBody>
          <a:bodyPr wrap="square" lIns="0" tIns="0" rIns="0" bIns="0" rtlCol="0" anchor="t"/>
          <a:lstStyle/>
          <a:p>
            <a:pPr indent="0" marL="0">
              <a:spcAft>
                <a:spcPts val="800"/>
              </a:spcAft>
              <a:buNone/>
            </a:pPr>
            <a:r>
              <a:rPr lang="en-US" sz="1250" dirty="0">
                <a:solidFill>
                  <a:srgbClr val="2B2F38"/>
                </a:solidFill>
                <a:latin typeface="Calibri" pitchFamily="34" charset="0"/>
                <a:ea typeface="Calibri" pitchFamily="34" charset="-122"/>
                <a:cs typeface="Calibri" pitchFamily="34" charset="-120"/>
              </a:rPr>
              <a:t>El buildspec vive en el repositorio junto al código, así que cambia y se revisa con él.</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Si falla una fase de build, el build falla</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reports publica los resultados de las pruebas</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Los secretos se leen de Parameter Store o Secrets Manager</a:t>
            </a:r>
            <a:endParaRPr lang="en-US" sz="1250" dirty="0"/>
          </a:p>
        </p:txBody>
      </p:sp>
      <p:sp>
        <p:nvSpPr>
          <p:cNvPr id="4" name="Shape 2"/>
          <p:cNvSpPr/>
          <p:nvPr/>
        </p:nvSpPr>
        <p:spPr>
          <a:xfrm>
            <a:off x="3657600" y="1097280"/>
            <a:ext cx="5029200" cy="3520440"/>
          </a:xfrm>
          <a:prstGeom prst="roundRect">
            <a:avLst>
              <a:gd name="adj" fmla="val 1558"/>
            </a:avLst>
          </a:prstGeom>
          <a:solidFill>
            <a:srgbClr val="1E1E24"/>
          </a:solidFill>
          <a:ln w="12700">
            <a:solidFill>
              <a:srgbClr val="1E1E24"/>
            </a:solidFill>
            <a:prstDash val="solid"/>
          </a:ln>
        </p:spPr>
      </p:sp>
      <p:sp>
        <p:nvSpPr>
          <p:cNvPr id="5" name="Text 3"/>
          <p:cNvSpPr txBox="1"/>
          <p:nvPr/>
        </p:nvSpPr>
        <p:spPr>
          <a:xfrm>
            <a:off x="3840480" y="1170432"/>
            <a:ext cx="1828800" cy="228600"/>
          </a:xfrm>
          <a:prstGeom prst="rect">
            <a:avLst/>
          </a:prstGeom>
          <a:noFill/>
          <a:ln/>
        </p:spPr>
        <p:txBody>
          <a:bodyPr wrap="square" lIns="0" tIns="0" rIns="0" bIns="0" rtlCol="0" anchor="t"/>
          <a:lstStyle/>
          <a:p>
            <a:pPr indent="0" marL="0">
              <a:buNone/>
            </a:pPr>
            <a:r>
              <a:rPr lang="en-US" sz="900" b="1" dirty="0">
                <a:solidFill>
                  <a:srgbClr val="FF9900"/>
                </a:solidFill>
                <a:latin typeface="Calibri" pitchFamily="34" charset="0"/>
                <a:ea typeface="Calibri" pitchFamily="34" charset="-122"/>
                <a:cs typeface="Calibri" pitchFamily="34" charset="-120"/>
              </a:rPr>
              <a:t>YAML</a:t>
            </a:r>
            <a:endParaRPr lang="en-US" sz="900" dirty="0"/>
          </a:p>
        </p:txBody>
      </p:sp>
      <p:sp>
        <p:nvSpPr>
          <p:cNvPr id="6" name="Text 4"/>
          <p:cNvSpPr txBox="1"/>
          <p:nvPr/>
        </p:nvSpPr>
        <p:spPr>
          <a:xfrm>
            <a:off x="3840480" y="1417320"/>
            <a:ext cx="4663440" cy="3108960"/>
          </a:xfrm>
          <a:prstGeom prst="rect">
            <a:avLst/>
          </a:prstGeom>
          <a:noFill/>
          <a:ln/>
        </p:spPr>
        <p:txBody>
          <a:bodyPr wrap="square" lIns="0" tIns="0" rIns="0" bIns="0" rtlCol="0" anchor="t"/>
          <a:lstStyle/>
          <a:p>
            <a:pPr indent="0" marL="0">
              <a:buNone/>
            </a:pPr>
            <a:r>
              <a:rPr lang="en-US" sz="700" dirty="0">
                <a:solidFill>
                  <a:srgbClr val="E6E6E6"/>
                </a:solidFill>
                <a:latin typeface="Courier New" pitchFamily="34" charset="0"/>
                <a:ea typeface="Courier New" pitchFamily="34" charset="-122"/>
                <a:cs typeface="Courier New" pitchFamily="34" charset="-120"/>
              </a:rPr>
              <a:t>version: 0.2</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env:</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parameter-store:</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API_TOKEN: /formacion/lab02/token</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phases: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install:</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runtime-versions: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python: 3.12</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commands: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 pip install -r requirements-dev.txt</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pre_build:</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commands: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 ruff check src tests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build:</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commands: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 pytest --junitxml=reports/junit.xml</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post_build:</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commands: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 zip -r app.zip src</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reports: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pruebas: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files: [junit.xml]</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base-directory: reports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artifacts:</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files: [app.zip]</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cache:</a:t>
            </a:r>
            <a:endParaRPr lang="en-US" sz="700" dirty="0"/>
          </a:p>
          <a:p>
            <a:pPr indent="0" marL="0">
              <a:buNone/>
            </a:pPr>
            <a:r>
              <a:rPr lang="en-US" sz="700" dirty="0">
                <a:solidFill>
                  <a:srgbClr val="E6E6E6"/>
                </a:solidFill>
                <a:latin typeface="Courier New" pitchFamily="34" charset="0"/>
                <a:ea typeface="Courier New" pitchFamily="34" charset="-122"/>
                <a:cs typeface="Courier New" pitchFamily="34" charset="-120"/>
              </a:rPr>
              <a:t>  paths: ["/root/.cache/pip/**/*"]</a:t>
            </a:r>
            <a:endParaRPr lang="en-US" sz="700" dirty="0"/>
          </a:p>
        </p:txBody>
      </p:sp>
      <p:sp>
        <p:nvSpPr>
          <p:cNvPr id="7" name="Text 5"/>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8" name="Text 6"/>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Qué debe comprobar una buena CI</a:t>
            </a:r>
            <a:endParaRPr lang="en-US" sz="2400" dirty="0"/>
          </a:p>
        </p:txBody>
      </p:sp>
      <p:sp>
        <p:nvSpPr>
          <p:cNvPr id="3" name="Shape 1"/>
          <p:cNvSpPr/>
          <p:nvPr/>
        </p:nvSpPr>
        <p:spPr>
          <a:xfrm>
            <a:off x="457200" y="1097280"/>
            <a:ext cx="4005072" cy="3520440"/>
          </a:xfrm>
          <a:prstGeom prst="roundRect">
            <a:avLst>
              <a:gd name="adj" fmla="val 2078"/>
            </a:avLst>
          </a:prstGeom>
          <a:solidFill>
            <a:srgbClr val="F3F5F7"/>
          </a:solidFill>
          <a:ln w="12700">
            <a:solidFill>
              <a:srgbClr val="F3F5F7"/>
            </a:solidFill>
            <a:prstDash val="solid"/>
          </a:ln>
        </p:spPr>
      </p:sp>
      <p:sp>
        <p:nvSpPr>
          <p:cNvPr id="4" name="Text 2"/>
          <p:cNvSpPr txBox="1"/>
          <p:nvPr/>
        </p:nvSpPr>
        <p:spPr>
          <a:xfrm>
            <a:off x="685800" y="1234440"/>
            <a:ext cx="3547872" cy="411480"/>
          </a:xfrm>
          <a:prstGeom prst="rect">
            <a:avLst/>
          </a:prstGeom>
          <a:noFill/>
          <a:ln/>
        </p:spPr>
        <p:txBody>
          <a:bodyPr wrap="square" lIns="0" tIns="0" rIns="0" bIns="0" rtlCol="0" anchor="ctr"/>
          <a:lstStyle/>
          <a:p>
            <a:pPr indent="0" marL="0">
              <a:buNone/>
            </a:pPr>
            <a:r>
              <a:rPr lang="en-US" sz="1500" b="1" dirty="0">
                <a:solidFill>
                  <a:srgbClr val="232F3E"/>
                </a:solidFill>
                <a:latin typeface="Arial" pitchFamily="34" charset="0"/>
                <a:ea typeface="Arial" pitchFamily="34" charset="-122"/>
                <a:cs typeface="Arial" pitchFamily="34" charset="-120"/>
              </a:rPr>
              <a:t>Controles en cada build</a:t>
            </a:r>
            <a:endParaRPr lang="en-US" sz="1500" dirty="0"/>
          </a:p>
        </p:txBody>
      </p:sp>
      <p:sp>
        <p:nvSpPr>
          <p:cNvPr id="5" name="Text 3"/>
          <p:cNvSpPr txBox="1"/>
          <p:nvPr/>
        </p:nvSpPr>
        <p:spPr>
          <a:xfrm>
            <a:off x="685800"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Lint y formato del código</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Pruebas unitarias con informe y cobertura</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Validación de plantillas con cfn-lint</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Análisis de seguridad: dependencias y IaC</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Construcción del artefacto versionado</a:t>
            </a:r>
            <a:endParaRPr lang="en-US" sz="1350" dirty="0"/>
          </a:p>
        </p:txBody>
      </p:sp>
      <p:sp>
        <p:nvSpPr>
          <p:cNvPr id="6" name="Shape 4"/>
          <p:cNvSpPr/>
          <p:nvPr/>
        </p:nvSpPr>
        <p:spPr>
          <a:xfrm>
            <a:off x="4681728" y="1097280"/>
            <a:ext cx="4005072" cy="3520440"/>
          </a:xfrm>
          <a:prstGeom prst="roundRect">
            <a:avLst>
              <a:gd name="adj" fmla="val 2078"/>
            </a:avLst>
          </a:prstGeom>
          <a:solidFill>
            <a:srgbClr val="FFF4E5"/>
          </a:solidFill>
          <a:ln w="12700">
            <a:solidFill>
              <a:srgbClr val="FFF4E5"/>
            </a:solidFill>
            <a:prstDash val="solid"/>
          </a:ln>
        </p:spPr>
      </p:sp>
      <p:sp>
        <p:nvSpPr>
          <p:cNvPr id="7" name="Text 5"/>
          <p:cNvSpPr txBox="1"/>
          <p:nvPr/>
        </p:nvSpPr>
        <p:spPr>
          <a:xfrm>
            <a:off x="4910328" y="1234440"/>
            <a:ext cx="3547872" cy="411480"/>
          </a:xfrm>
          <a:prstGeom prst="rect">
            <a:avLst/>
          </a:prstGeom>
          <a:noFill/>
          <a:ln/>
        </p:spPr>
        <p:txBody>
          <a:bodyPr wrap="square" lIns="0" tIns="0" rIns="0" bIns="0" rtlCol="0" anchor="ctr"/>
          <a:lstStyle/>
          <a:p>
            <a:pPr indent="0" marL="0">
              <a:buNone/>
            </a:pPr>
            <a:r>
              <a:rPr lang="en-US" sz="1500" b="1" dirty="0">
                <a:solidFill>
                  <a:srgbClr val="B35C00"/>
                </a:solidFill>
                <a:latin typeface="Arial" pitchFamily="34" charset="0"/>
                <a:ea typeface="Arial" pitchFamily="34" charset="-122"/>
                <a:cs typeface="Arial" pitchFamily="34" charset="-120"/>
              </a:rPr>
              <a:t>Propiedades deseables</a:t>
            </a:r>
            <a:endParaRPr lang="en-US" sz="1500" dirty="0"/>
          </a:p>
        </p:txBody>
      </p:sp>
      <p:sp>
        <p:nvSpPr>
          <p:cNvPr id="8" name="Text 6"/>
          <p:cNvSpPr txBox="1"/>
          <p:nvPr/>
        </p:nvSpPr>
        <p:spPr>
          <a:xfrm>
            <a:off x="4910328"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Rápida: feedback en minutos, no en horas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Determinista: mismas entradas, mismo resultado</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Falla pronto y con un mensaje claro</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Sin credenciales estáticas ni secretos en logs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Artefacto único que se promociona entre entornos</a:t>
            </a:r>
            <a:endParaRPr lang="en-US" sz="1350" dirty="0"/>
          </a:p>
        </p:txBody>
      </p:sp>
      <p:sp>
        <p:nvSpPr>
          <p:cNvPr id="9" name="Text 7"/>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1</a:t>
            </a:r>
            <a:endParaRPr lang="en-US" sz="900" dirty="0"/>
          </a:p>
        </p:txBody>
      </p:sp>
      <p:sp>
        <p:nvSpPr>
          <p:cNvPr id="10" name="Text 8"/>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232F3E"/>
          </a:solidFill>
          <a:ln w="12700">
            <a:solidFill>
              <a:srgbClr val="232F3E"/>
            </a:solidFill>
            <a:prstDash val="solid"/>
          </a:ln>
        </p:spPr>
      </p:sp>
      <p:sp>
        <p:nvSpPr>
          <p:cNvPr id="3" name="Text 1"/>
          <p:cNvSpPr txBox="1"/>
          <p:nvPr/>
        </p:nvSpPr>
        <p:spPr>
          <a:xfrm>
            <a:off x="411480" y="548640"/>
            <a:ext cx="2286000" cy="32004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PRÁCTICA</a:t>
            </a:r>
            <a:endParaRPr lang="en-US" sz="1200" dirty="0"/>
          </a:p>
        </p:txBody>
      </p:sp>
      <p:sp>
        <p:nvSpPr>
          <p:cNvPr id="4" name="Text 2"/>
          <p:cNvSpPr txBox="1"/>
          <p:nvPr/>
        </p:nvSpPr>
        <p:spPr>
          <a:xfrm>
            <a:off x="411480" y="868680"/>
            <a:ext cx="237744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Lab 02</a:t>
            </a:r>
            <a:endParaRPr lang="en-US" sz="4000" dirty="0"/>
          </a:p>
        </p:txBody>
      </p:sp>
      <p:sp>
        <p:nvSpPr>
          <p:cNvPr id="5" name="Text 3"/>
          <p:cNvSpPr txBox="1"/>
          <p:nvPr/>
        </p:nvSpPr>
        <p:spPr>
          <a:xfrm>
            <a:off x="411480" y="1783080"/>
            <a:ext cx="2286000" cy="320040"/>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55 minutos</a:t>
            </a:r>
            <a:endParaRPr lang="en-US" sz="1300" dirty="0"/>
          </a:p>
        </p:txBody>
      </p:sp>
      <p:sp>
        <p:nvSpPr>
          <p:cNvPr id="6" name="Text 4"/>
          <p:cNvSpPr txBox="1"/>
          <p:nvPr/>
        </p:nvSpPr>
        <p:spPr>
          <a:xfrm>
            <a:off x="411480" y="4114800"/>
            <a:ext cx="2377440" cy="548640"/>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practicas/Lab02_codebuild</a:t>
            </a:r>
            <a:endParaRPr lang="en-US" sz="1000" dirty="0"/>
          </a:p>
        </p:txBody>
      </p:sp>
      <p:sp>
        <p:nvSpPr>
          <p:cNvPr id="7" name="Text 5"/>
          <p:cNvSpPr txBox="1"/>
          <p:nvPr/>
        </p:nvSpPr>
        <p:spPr>
          <a:xfrm>
            <a:off x="3383280" y="411480"/>
            <a:ext cx="5303520" cy="822960"/>
          </a:xfrm>
          <a:prstGeom prst="rect">
            <a:avLst/>
          </a:prstGeom>
          <a:noFill/>
          <a:ln/>
        </p:spPr>
        <p:txBody>
          <a:bodyPr wrap="square" lIns="0" tIns="0" rIns="0" bIns="0" rtlCol="0" anchor="ctr"/>
          <a:lstStyle/>
          <a:p>
            <a:pPr indent="0" marL="0">
              <a:buNone/>
            </a:pPr>
            <a:r>
              <a:rPr lang="en-US" sz="2200" b="1" dirty="0">
                <a:solidFill>
                  <a:srgbClr val="232F3E"/>
                </a:solidFill>
                <a:latin typeface="Arial" pitchFamily="34" charset="0"/>
                <a:ea typeface="Arial" pitchFamily="34" charset="-122"/>
                <a:cs typeface="Arial" pitchFamily="34" charset="-120"/>
              </a:rPr>
              <a:t>Build y pruebas automatizadas con CodeBuild</a:t>
            </a:r>
            <a:endParaRPr lang="en-US" sz="2200" dirty="0"/>
          </a:p>
        </p:txBody>
      </p:sp>
      <p:sp>
        <p:nvSpPr>
          <p:cNvPr id="8" name="Text 6"/>
          <p:cNvSpPr txBox="1"/>
          <p:nvPr/>
        </p:nvSpPr>
        <p:spPr>
          <a:xfrm>
            <a:off x="3383280" y="1280160"/>
            <a:ext cx="5303520" cy="640080"/>
          </a:xfrm>
          <a:prstGeom prst="rect">
            <a:avLst/>
          </a:prstGeom>
          <a:noFill/>
          <a:ln/>
        </p:spPr>
        <p:txBody>
          <a:bodyPr wrap="square" lIns="0" tIns="0" rIns="0" bIns="0" rtlCol="0" anchor="t"/>
          <a:lstStyle/>
          <a:p>
            <a:pPr indent="0" marL="0">
              <a:buNone/>
            </a:pPr>
            <a:r>
              <a:rPr lang="en-US" sz="1250" i="1" dirty="0">
                <a:solidFill>
                  <a:srgbClr val="555B66"/>
                </a:solidFill>
                <a:latin typeface="Calibri" pitchFamily="34" charset="0"/>
                <a:ea typeface="Calibri" pitchFamily="34" charset="-122"/>
                <a:cs typeface="Calibri" pitchFamily="34" charset="-120"/>
              </a:rPr>
              <a:t>Crear un proyecto de CodeBuild que ejecute lint y pruebas, publique informes y genere un artefacto.</a:t>
            </a:r>
            <a:endParaRPr lang="en-US" sz="1250" dirty="0"/>
          </a:p>
        </p:txBody>
      </p:sp>
      <p:sp>
        <p:nvSpPr>
          <p:cNvPr id="9" name="Shape 7"/>
          <p:cNvSpPr/>
          <p:nvPr/>
        </p:nvSpPr>
        <p:spPr>
          <a:xfrm>
            <a:off x="3383280" y="2011680"/>
            <a:ext cx="329184" cy="329184"/>
          </a:xfrm>
          <a:prstGeom prst="ellipse">
            <a:avLst/>
          </a:prstGeom>
          <a:solidFill>
            <a:srgbClr val="FF9900"/>
          </a:solidFill>
          <a:ln w="12700">
            <a:solidFill>
              <a:srgbClr val="FF9900"/>
            </a:solidFill>
            <a:prstDash val="solid"/>
          </a:ln>
        </p:spPr>
      </p:sp>
      <p:sp>
        <p:nvSpPr>
          <p:cNvPr id="10" name="Text 8"/>
          <p:cNvSpPr txBox="1"/>
          <p:nvPr/>
        </p:nvSpPr>
        <p:spPr>
          <a:xfrm>
            <a:off x="3383280" y="2011680"/>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3840480" y="1993392"/>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Desplegar el punto de partida: bucket y rol de servicio</a:t>
            </a:r>
            <a:endParaRPr lang="en-US" sz="1200" dirty="0"/>
          </a:p>
        </p:txBody>
      </p:sp>
      <p:sp>
        <p:nvSpPr>
          <p:cNvPr id="12" name="Shape 10"/>
          <p:cNvSpPr/>
          <p:nvPr/>
        </p:nvSpPr>
        <p:spPr>
          <a:xfrm>
            <a:off x="3383280" y="2542032"/>
            <a:ext cx="329184" cy="329184"/>
          </a:xfrm>
          <a:prstGeom prst="ellipse">
            <a:avLst/>
          </a:prstGeom>
          <a:solidFill>
            <a:srgbClr val="FF9900"/>
          </a:solidFill>
          <a:ln w="12700">
            <a:solidFill>
              <a:srgbClr val="FF9900"/>
            </a:solidFill>
            <a:prstDash val="solid"/>
          </a:ln>
        </p:spPr>
      </p:sp>
      <p:sp>
        <p:nvSpPr>
          <p:cNvPr id="13" name="Text 11"/>
          <p:cNvSpPr txBox="1"/>
          <p:nvPr/>
        </p:nvSpPr>
        <p:spPr>
          <a:xfrm>
            <a:off x="3383280" y="2542032"/>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3840480" y="2523744"/>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Crear la aplicación, sus pruebas y el buildspec</a:t>
            </a:r>
            <a:endParaRPr lang="en-US" sz="1200" dirty="0"/>
          </a:p>
        </p:txBody>
      </p:sp>
      <p:sp>
        <p:nvSpPr>
          <p:cNvPr id="15" name="Shape 13"/>
          <p:cNvSpPr/>
          <p:nvPr/>
        </p:nvSpPr>
        <p:spPr>
          <a:xfrm>
            <a:off x="3383280" y="3072384"/>
            <a:ext cx="329184" cy="329184"/>
          </a:xfrm>
          <a:prstGeom prst="ellipse">
            <a:avLst/>
          </a:prstGeom>
          <a:solidFill>
            <a:srgbClr val="FF9900"/>
          </a:solidFill>
          <a:ln w="12700">
            <a:solidFill>
              <a:srgbClr val="FF9900"/>
            </a:solidFill>
            <a:prstDash val="solid"/>
          </a:ln>
        </p:spPr>
      </p:sp>
      <p:sp>
        <p:nvSpPr>
          <p:cNvPr id="16" name="Text 14"/>
          <p:cNvSpPr txBox="1"/>
          <p:nvPr/>
        </p:nvSpPr>
        <p:spPr>
          <a:xfrm>
            <a:off x="3383280" y="3072384"/>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3840480" y="3054096"/>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Crear el proyecto de CodeBuild y lanzar el primer build</a:t>
            </a:r>
            <a:endParaRPr lang="en-US" sz="1200" dirty="0"/>
          </a:p>
        </p:txBody>
      </p:sp>
      <p:sp>
        <p:nvSpPr>
          <p:cNvPr id="18" name="Shape 16"/>
          <p:cNvSpPr/>
          <p:nvPr/>
        </p:nvSpPr>
        <p:spPr>
          <a:xfrm>
            <a:off x="3383280" y="3602736"/>
            <a:ext cx="329184" cy="329184"/>
          </a:xfrm>
          <a:prstGeom prst="ellipse">
            <a:avLst/>
          </a:prstGeom>
          <a:solidFill>
            <a:srgbClr val="FF9900"/>
          </a:solidFill>
          <a:ln w="12700">
            <a:solidFill>
              <a:srgbClr val="FF9900"/>
            </a:solidFill>
            <a:prstDash val="solid"/>
          </a:ln>
        </p:spPr>
      </p:sp>
      <p:sp>
        <p:nvSpPr>
          <p:cNvPr id="19" name="Text 17"/>
          <p:cNvSpPr txBox="1"/>
          <p:nvPr/>
        </p:nvSpPr>
        <p:spPr>
          <a:xfrm>
            <a:off x="3383280" y="3602736"/>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3840480" y="3584448"/>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Revisar logs, informe de pruebas y artefacto generado</a:t>
            </a:r>
            <a:endParaRPr lang="en-US" sz="1200" dirty="0"/>
          </a:p>
        </p:txBody>
      </p:sp>
      <p:sp>
        <p:nvSpPr>
          <p:cNvPr id="21" name="Shape 19"/>
          <p:cNvSpPr/>
          <p:nvPr/>
        </p:nvSpPr>
        <p:spPr>
          <a:xfrm>
            <a:off x="3383280" y="4133088"/>
            <a:ext cx="329184" cy="329184"/>
          </a:xfrm>
          <a:prstGeom prst="ellipse">
            <a:avLst/>
          </a:prstGeom>
          <a:solidFill>
            <a:srgbClr val="FF9900"/>
          </a:solidFill>
          <a:ln w="12700">
            <a:solidFill>
              <a:srgbClr val="FF9900"/>
            </a:solidFill>
            <a:prstDash val="solid"/>
          </a:ln>
        </p:spPr>
      </p:sp>
      <p:sp>
        <p:nvSpPr>
          <p:cNvPr id="22" name="Text 20"/>
          <p:cNvSpPr txBox="1"/>
          <p:nvPr/>
        </p:nvSpPr>
        <p:spPr>
          <a:xfrm>
            <a:off x="3383280" y="4133088"/>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3840480" y="4114800"/>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Romper una prueba, ver el fallo y activar la caché</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Resumen de la sesión 1</a:t>
            </a:r>
            <a:endParaRPr lang="en-US" sz="3000" dirty="0"/>
          </a:p>
        </p:txBody>
      </p:sp>
      <p:sp>
        <p:nvSpPr>
          <p:cNvPr id="3" name="Shape 1"/>
          <p:cNvSpPr/>
          <p:nvPr/>
        </p:nvSpPr>
        <p:spPr>
          <a:xfrm>
            <a:off x="548640" y="1463040"/>
            <a:ext cx="365760" cy="365760"/>
          </a:xfrm>
          <a:prstGeom prst="ellipse">
            <a:avLst/>
          </a:prstGeom>
          <a:solidFill>
            <a:srgbClr val="FF9900"/>
          </a:solidFill>
          <a:ln w="12700">
            <a:solidFill>
              <a:srgbClr val="FF9900"/>
            </a:solidFill>
            <a:prstDash val="solid"/>
          </a:ln>
        </p:spPr>
      </p:sp>
      <p:sp>
        <p:nvSpPr>
          <p:cNvPr id="4" name="Text 2"/>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5" name="Text 3"/>
          <p:cNvSpPr txBox="1"/>
          <p:nvPr/>
        </p:nvSpPr>
        <p:spPr>
          <a:xfrm>
            <a:off x="1097280" y="141732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DevOps es cultura, automatización, medición y mejora continua</a:t>
            </a:r>
            <a:endParaRPr lang="en-US" sz="1400" dirty="0"/>
          </a:p>
        </p:txBody>
      </p:sp>
      <p:sp>
        <p:nvSpPr>
          <p:cNvPr id="6" name="Shape 4"/>
          <p:cNvSpPr/>
          <p:nvPr/>
        </p:nvSpPr>
        <p:spPr>
          <a:xfrm>
            <a:off x="548640" y="2011680"/>
            <a:ext cx="365760" cy="365760"/>
          </a:xfrm>
          <a:prstGeom prst="ellipse">
            <a:avLst/>
          </a:prstGeom>
          <a:solidFill>
            <a:srgbClr val="FF9900"/>
          </a:solidFill>
          <a:ln w="12700">
            <a:solidFill>
              <a:srgbClr val="FF9900"/>
            </a:solidFill>
            <a:prstDash val="solid"/>
          </a:ln>
        </p:spPr>
      </p:sp>
      <p:sp>
        <p:nvSpPr>
          <p:cNvPr id="7" name="Text 5"/>
          <p:cNvSpPr txBox="1"/>
          <p:nvPr/>
        </p:nvSpPr>
        <p:spPr>
          <a:xfrm>
            <a:off x="548640" y="201168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8" name="Text 6"/>
          <p:cNvSpPr txBox="1"/>
          <p:nvPr/>
        </p:nvSpPr>
        <p:spPr>
          <a:xfrm>
            <a:off x="1097280" y="196596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Las métricas DORA equilibran velocidad y estabilidad</a:t>
            </a:r>
            <a:endParaRPr lang="en-US" sz="1400" dirty="0"/>
          </a:p>
        </p:txBody>
      </p:sp>
      <p:sp>
        <p:nvSpPr>
          <p:cNvPr id="9" name="Shape 7"/>
          <p:cNvSpPr/>
          <p:nvPr/>
        </p:nvSpPr>
        <p:spPr>
          <a:xfrm>
            <a:off x="548640" y="2560320"/>
            <a:ext cx="365760" cy="365760"/>
          </a:xfrm>
          <a:prstGeom prst="ellipse">
            <a:avLst/>
          </a:prstGeom>
          <a:solidFill>
            <a:srgbClr val="FF9900"/>
          </a:solidFill>
          <a:ln w="12700">
            <a:solidFill>
              <a:srgbClr val="FF9900"/>
            </a:solidFill>
            <a:prstDash val="solid"/>
          </a:ln>
        </p:spPr>
      </p:sp>
      <p:sp>
        <p:nvSpPr>
          <p:cNvPr id="10" name="Text 8"/>
          <p:cNvSpPr txBox="1"/>
          <p:nvPr/>
        </p:nvSpPr>
        <p:spPr>
          <a:xfrm>
            <a:off x="548640" y="256032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1" name="Text 9"/>
          <p:cNvSpPr txBox="1"/>
          <p:nvPr/>
        </p:nvSpPr>
        <p:spPr>
          <a:xfrm>
            <a:off x="1097280" y="251460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Change sets y detección de drift hacen segura la IaC</a:t>
            </a:r>
            <a:endParaRPr lang="en-US" sz="1400" dirty="0"/>
          </a:p>
        </p:txBody>
      </p:sp>
      <p:sp>
        <p:nvSpPr>
          <p:cNvPr id="12" name="Shape 10"/>
          <p:cNvSpPr/>
          <p:nvPr/>
        </p:nvSpPr>
        <p:spPr>
          <a:xfrm>
            <a:off x="548640" y="3108960"/>
            <a:ext cx="365760" cy="365760"/>
          </a:xfrm>
          <a:prstGeom prst="ellipse">
            <a:avLst/>
          </a:prstGeom>
          <a:solidFill>
            <a:srgbClr val="FF9900"/>
          </a:solidFill>
          <a:ln w="12700">
            <a:solidFill>
              <a:srgbClr val="FF9900"/>
            </a:solidFill>
            <a:prstDash val="solid"/>
          </a:ln>
        </p:spPr>
      </p:sp>
      <p:sp>
        <p:nvSpPr>
          <p:cNvPr id="13" name="Text 11"/>
          <p:cNvSpPr txBox="1"/>
          <p:nvPr/>
        </p:nvSpPr>
        <p:spPr>
          <a:xfrm>
            <a:off x="548640" y="310896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4" name="Text 12"/>
          <p:cNvSpPr txBox="1"/>
          <p:nvPr/>
        </p:nvSpPr>
        <p:spPr>
          <a:xfrm>
            <a:off x="1097280" y="306324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CodeBuild ofrece builds efímeros, reproducibles y con informes</a:t>
            </a:r>
            <a:endParaRPr lang="en-US" sz="1400" dirty="0"/>
          </a:p>
        </p:txBody>
      </p:sp>
      <p:sp>
        <p:nvSpPr>
          <p:cNvPr id="15" name="Shape 13"/>
          <p:cNvSpPr/>
          <p:nvPr/>
        </p:nvSpPr>
        <p:spPr>
          <a:xfrm>
            <a:off x="548640" y="3657600"/>
            <a:ext cx="365760" cy="365760"/>
          </a:xfrm>
          <a:prstGeom prst="ellipse">
            <a:avLst/>
          </a:prstGeom>
          <a:solidFill>
            <a:srgbClr val="FF9900"/>
          </a:solidFill>
          <a:ln w="12700">
            <a:solidFill>
              <a:srgbClr val="FF9900"/>
            </a:solidFill>
            <a:prstDash val="solid"/>
          </a:ln>
        </p:spPr>
      </p:sp>
      <p:sp>
        <p:nvSpPr>
          <p:cNvPr id="16" name="Text 14"/>
          <p:cNvSpPr txBox="1"/>
          <p:nvPr/>
        </p:nvSpPr>
        <p:spPr>
          <a:xfrm>
            <a:off x="548640" y="365760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7" name="Text 15"/>
          <p:cNvSpPr txBox="1"/>
          <p:nvPr/>
        </p:nvSpPr>
        <p:spPr>
          <a:xfrm>
            <a:off x="1097280" y="361188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Mañana: CodePipeline, canary con rollback, observabilidad y seguridad</a:t>
            </a:r>
            <a:endParaRPr lang="en-US" sz="1400" dirty="0"/>
          </a:p>
        </p:txBody>
      </p:sp>
      <p:sp>
        <p:nvSpPr>
          <p:cNvPr id="18" name="Text 16"/>
          <p:cNvSpPr txBox="1"/>
          <p:nvPr/>
        </p:nvSpPr>
        <p:spPr>
          <a:xfrm>
            <a:off x="548640" y="4480560"/>
            <a:ext cx="8046720" cy="36576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Sesión 2 · 14/10/2026 · 9:30 – 13:30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e implementación de soluciones DevOps en AWS – Sesión 1</dc:title>
  <dc:subject>PptxGenJS Presentation</dc:subject>
  <dc:creator>Jorge</dc:creator>
  <cp:lastModifiedBy>Jorge</cp:lastModifiedBy>
  <cp:revision>1</cp:revision>
  <dcterms:created xsi:type="dcterms:W3CDTF">2026-09-30T08:41:20Z</dcterms:created>
  <dcterms:modified xsi:type="dcterms:W3CDTF">2026-09-30T08:41:20Z</dcterms:modified>
</cp:coreProperties>
</file>