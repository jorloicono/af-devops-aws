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Buenos días de nuevo. Ayer pusimos los cimientos: la infraestructura como código con CloudFormation y la integración continua con CodeBuild. Hoy vamos a unir las piezas en una pipeline de entrega continua y, sobre todo, vamos a hacer que los despliegues sean seguros, de manera que un error no llegue a todos los usuarios y se revierta solo. Terminaremos con la observabilidad y la seguridad de las propias pipelines, que es donde muchas organizaciones tienen sus puntos débiles.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Empezamos con dos preguntas sobre lo que vimos ayer.
La primera: un change set muestra que una base de datos RDS se va a reemplazar. ¿Qué significa y qué haríais? Significa que CloudFormation va a crear una base de datos nueva y a eliminar la antigua, normalmente porque hemos cambiado una propiedad que no se puede modificar en caliente, como el identificador. Antes de ejecutarlo habría que parar, revisar qué propiedad lo provoca y, si el cambio es realmente necesario, planificar una migración con copia de seguridad. Además, una DeletionPolicy de tipo Snapshot o Retain y una stack policy nos protegerían de un accidente.
La segunda: ¿por qué no reconstruimos el código en cada entorno? Porque si reconstruimos, lo que desplegamos en producción no es exactamente lo que probamos: pueden cambiar versiones de dependencias o el propio entorno de build. Lo correcto es construir una sola vez un artefacto inmutable y versionado y promocionar ese mismo artefacto de un entorno a otro, cambiando solo la configuración.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agenda de hoy: entrega continua con CodePipeline y su laboratorio, despliegues seguros y observabilidad con el laboratorio de canary, y un bloque final sobre seguridad de pipelines y arquitectura multi-cuenta.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Entramos en el cuarto bloque, la entrega continua.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pipeline de CodePipeline se organiza en etapas, cada etapa contiene una o varias acciones, y las acciones se pasan artefactos entre sí, que se guardan en un bucket de S3 de la propia pipeline.
La primera etapa es siempre el origen, que puede ser un repositorio Git a través de CodeConnections o, como haremos en el laboratorio para simplificar, un fichero zip en un bucket de S3 con versionado. Cada cambio en el origen dispara una ejecución.
La etapa de build usa CodeBuild para probar el código y empaquetarlo, generando en nuestro caso una plantilla de CloudFormation lista para desplegar. Después desplegamos en un entorno de pruebas, y aquí podríamos añadir pruebas de integración. La aprobación manual detiene la pipeline hasta que alguien con permiso la aprueba o la rechaza, dejando un comentario que queda registrado.
Y la etapa de producción despliega exactamente el mismo artefacto, cambiando solo los parámetros. Fijaos en que no hay un segundo build: esa es la promoción del artefacto de la que hablábamos en el repaso.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pipelines de tipo V2, que son las que se crean por defecto hoy, añaden capacidades muy útiles. Los disparadores Git permiten filtrar qué cambios lanzan la pipeline, por ejemplo solo las etiquetas de versión o solo los cambios en una carpeta concreta de un monorepositorio.
Las variables permiten parametrizar la ejecución y quedan registradas en el historial. Los modos de ejecución deciden qué ocurre cuando llega un cambio mientras otro está en curso: en modo superseded la ejecución nueva sustituye a la antigua en espera, en queued se encolan y en parallel se ejecutan a la vez, lo que es útil para ramas de funcionalidad.
El rollback de etapa permite volver a desplegar la última versión correcta de una etapa, y las condiciones permiten, por ejemplo, impedir que una etapa arranque si hay una alarma de CloudWatch activa, o hacer que falle si después del despliegue salta una alarma. Y en cuanto al coste, las V2 se facturan por minuto de acción, lo que hace razonable tener muchas pipelines pequeñas en lugar de una gigante.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Desplegar no es lo mismo que liberar una funcionalidad, y las estrategias de despliegue nos permiten controlar cuánto riesgo asumimos en cada cambio.
La más sencilla es la actualización in situ o por lotes, que va sustituyendo la versión en grupos de instancias; es económica, pero durante el despliegue conviven versiones y la vuelta atrás implica otro despliegue. En blue green levantamos un entorno completo con la versión nueva y cambiamos el tráfico de golpe, con la ventaja de que volver atrás es tan sencillo como devolver el tráfico al entorno antiguo.
En canary enviamos primero un porcentaje pequeño del tráfico, por ejemplo un diez por ciento, a la versión nueva, esperamos unos minutos vigilando las alarmas y, si todo va bien, pasamos el resto. La estrategia lineal es parecida, pero con incrementos iguales. CodeDeploy implementa ambas para Lambda y para ECS, con vuelta atrás automática si salta una alarma.
Y las feature flags, que en AWS ofrece AppConfig, separan completamente el despliegue del código de la activación de la funcionalidad. Mañana en vuestros proyectos lo habitual será combinar varias: canary para el despliegue y flags para las funcionalidades de riesgo.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Vamos con el tercer laboratorio, que es el más completo del curso. El punto de partida os crea con CloudFormation los buckets y los roles necesarios, para que podáis centraros en la pipeline.
Prepararéis una función Lambda sencilla con su plantilla SAM y un buildspec que ejecuta las pruebas y empaqueta la plantilla. Crearéis la pipeline desde la consola con origen en un bucket de S3 y una etapa de build, y después añadiréis una aprobación manual y la etapa de despliegue con CloudFormation.
Para terminar, publicaréis una segunda versión del código y seguiréis la ejecución de principio a fin, aprobando el paso a producción y comprobando que la función desplegada devuelve la nueva versión. Tenéis unos sesenta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Bienvenidos del descanso. Entramos en el quinto bloque, que resume su objetivo en el subtítulo: si algo va mal, que se note pronto, que afecte a pocos usuarios y que se revierta solo.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plantilla SAM resume en pocas líneas un despliegue canary completo con vuelta atrás automática, y es exactamente lo que haréis en el último laboratorio.
La propiedad AutoPublishAlias hace que, cada vez que cambia el código, SAM publique una nueva versión inmutable de la función y mueva el alias live hacia ella. Los clientes siempre invocan el alias, nunca una versión concreta. La propiedad DeploymentPreference le dice a SAM que ese movimiento del alias no sea instantáneo, sino que lo gestione CodeDeploy con la configuración Canary diez por ciento cinco minutos: durante cinco minutos, el diez por ciento de las invocaciones va a la versión nueva y el noventa por ciento sigue en la anterior.
Durante ese tiempo CodeDeploy vigila la alarma que le indicamos, que en este caso cuenta los errores de la versión nueva invocada a través del alias. Fijaos en la dimensión ExecutedVersion: así la alarma solo mira la versión que estamos desplegando. Si hay un solo error, la alarma salta y CodeDeploy devuelve todo el tráfico a la versión anterior sin que nadie tenga que intervenir. Además, podríamos añadir funciones de validación antes y después de mover el tráfico.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canary funciona porque hay una alarma que vigila, y eso nos lleva a la observabilidad, que es la otra cara de los despliegues seguros. Sin buenas señales, la vuelta atrás automática no sirve de nada.
Las métricas de CloudWatch son la base. Para una función Lambda o una API, las que no deberían faltar son los errores, la latencia en percentiles altos, como el p99, y el throttling. Sobre ellas creamos alarmas, y cuando tenemos muchas conviene combinarlas en alarmas compuestas para no despertar a nadie por un falso positivo.
Los logs deben ser estructurados, en formato JSON, porque así Logs Insights permite consultarlos como si fueran una tabla. Las trazas, con X-Ray o con Application Signals, nos permiten seguir una petición a través de varios servicios y ver dónde se va el tiempo. Y CloudTrail registra todas las llamadas a la API de AWS, lo que incluye quién aprobó un despliegue o quién modificó una pipeline, algo imprescindible para la auditoría.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Veamos con un poco más de detalle qué ocurre durante uno de estos despliegues, porque os ayudará a interpretar lo que veréis en la consola de CodeDeploy durante el laboratorio.
Primero, SAM publica una versión nueva e inmutable de la función. Una versión de Lambda es una fotografía del código y la configuración que ya no se puede modificar, y por eso podemos volver a ella con total seguridad.
Antes de mover una sola petición real, CodeDeploy puede ejecutar un hook llamado PreTraffic, que no es más que otra función Lambda que nosotros escribimos para invocar la versión nueva directamente y comprobar que responde bien. Si ese hook informa de un fallo, el despliegue se detiene sin que ningún usuario lo haya notado. Es la mejor defensa cuando el tráfico real es escaso, por ejemplo de madrugada.
Después viene el desplazamiento de tráfico propiamente dicho, que Lambda implementa con un alias ponderado: el alias live apunta a la versión antigua como principal y envía un porcentaje a la nueva. Cuando se completa, el alias pasa a apuntar a la versión nueva al cien por cien, y entonces puede ejecutarse un segundo hook, PostTraffic, con pruebas de humo finales.
Y durante todo el proceso, CodeDeploy vigila las alarmas que le hemos indicado. En cuanto una pasa a estado de alarma, devuelve el tráfico a la versión anterior. Este mismo modelo, con otros nombres de hooks, es el que usa CodeDeploy para ECS con blue green.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Como la calidad de un canary depende por completo de la alarma, os dejo lo que he aprendido sobre qué medir y qué errores evitar.
A la izquierda, las señales útiles. Lo primero es medir la tasa de errores de la versión nueva y no los errores totales de la función, porque la versión antigua sigue recibiendo el noventa por ciento del tráfico y diluiría el problema. En el laboratorio lo conseguimos con la dimensión ExecutedVersion. Después, la latencia en percentiles altos comparada con la línea base, porque una versión puede no fallar y aun así ser el doble de lenta. También el throttling y los errores de las dependencias, y, cuando se puede, métricas de negocio como pedidos o pagos por minuto, que detectan fallos funcionales que técnicamente no son errores. Y para evitar falsas alarmas, combinar varias señales en una alarma compuesta.
A la derecha, los errores que veo con más frecuencia. Una alarma sin la dimensión de versión, que mezcla ambas versiones. Tratar la falta de datos como alarma, con lo que un periodo sin tráfico revierte un despliegue sano. Umbrales tan estrictos que el ruido de fondo, ese medio por mil de errores que todo servicio tiene, provoca rollbacks constantes; en el laboratorio usamos mayor que cero solo porque queremos que sea rápido. Una ventana de canary en la que apenas hay tráfico, de modo que la alarma nunca tiene ocasión de saltar. Y, por último, no revisar qué pasó después de un rollback: la vuelta atrás automática resuelve la urgencia, pero el equipo tiene que entender la causa, que es justo lo que haréis al final del laboratorio.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Último laboratorio y, en mi opinión, el más vistoso. Desplegaréis desde CloudShell una función con SAM y una alarma de errores, publicaréis la versión uno y comprobaréis el alias.
Después publicaréis una versión dos con un error intencionado y, en otra pestaña de CloudShell, generaréis tráfico invocando la función continuamente. Veréis en la consola de CodeDeploy cómo empieza el canary, cómo salta la alarma y cómo se revierte el despliegue sin que hagáis nada. Terminaréis consultando las métricas y los logs para explicar lo ocurrido, que es exactamente lo que haríais en un postmortem real. Unos cincuenta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Terminamos con un bloque breve sobre seguridad. El subtítulo lo dice todo: la pipeline tiene las llaves de producción, así que hay que protegerla como 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Cuatro principios de seguridad para vuestras pipelines. El primero es el mínimo privilegio: cada pipeline, e idealmente cada acción, con su propio rol limitado a lo que realmente necesita. En los laboratorios hemos usado roles amplios para no perder tiempo, y lo digo expresamente para que no lo copiéis en producción.
El segundo es eliminar las claves estáticas. Si usáis GitHub Actions o GitLab, el mecanismo correcto es OIDC: el proveedor emite un token de identidad de corta duración y AWS lo intercambia por credenciales temporales de un rol, sin que exista ninguna clave guardada en ningún sitio. Lo vemos en la siguiente diapositiva.
El tercero es gestionar los secretos con Secrets Manager o Parameter Store, con rotación y con acceso auditado. Y el cuarto es proteger la cadena de suministro del software: escanear dependencias, imágenes de contenedores e infraestructura como código, y asegurarnos de que lo que desplegamos es exactamente el artefacto que construimos, sin manipulaciones intermedias.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Muchas organizaciones usan GitHub Actions como orquestador en lugar de CodePipeline, y es perfectamente válido. Lo importante es cómo se autentica contra AWS, y este es el patrón correcto.
En la cuenta de AWS se registra un proveedor de identidad OIDC para GitHub y se crea un rol cuya política de confianza admite a ese proveedor, con una condición sobre el campo sub del token que limita qué repositorio y qué rama pueden asumir el rol. De esta forma, un fork o una rama cualquiera no pueden desplegar en producción.
En el workflow, la línea permissions id-token write permite que el job solicite un token de identidad, y la acción configure-aws-credentials lo intercambia por credenciales temporales del rol. A partir de ahí, cualquier comando de AWS, como sam deploy, funciona con esas credenciales, que caducan solas al terminar. No hay ninguna clave de acceso guardada en los secretos del repositorio, que es precisamente lo que queremos eliminar.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terminar con la seguridad, una recomendación de arquitectura: separar los entornos en cuentas de AWS distintas, gestionadas con AWS Organizations. La cuenta es el límite de aislamiento más fuerte que existe en AWS, de modo que un error o un incidente de seguridad en desarrollo no puede afectar a producción.
El patrón habitual es tener una cuenta de herramientas donde viven las pipelines y los artefactos, y cuentas separadas para desarrollo, preproducción y producción. La pipeline asume en cada cuenta un rol de despliegue acotado, y los artefactos se cifran con una clave KMS que las cuentas de destino tienen permiso para usar.
Así, los desarrolladores pueden tener amplios permisos en la cuenta de desarrollo, pero nadie despliega en producción a mano: solo la pipeline, tras la aprobación correspondiente. Es un diseño que requiere algo más de trabajo inicial, pero que simplifica enormemente la gobernanza y la auditoría a medio plazo.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Llegamos al final del curso. Repasemos lo que hemos construido en estas dos sesiones.
Empezamos por la infraestructura como código, aprendiendo a revisar los cambios con change sets y a detectar los cambios manuales con el drift. Construimos una integración continua con CodeBuild que es rápida, determinista y genera un único artefacto con sus informes de pruebas. Con CodePipeline encadenamos las etapas y promocionamos ese mismo artefacto hasta producción, con una aprobación manual por el camino. Vimos cómo una estrategia canary con alarmas hace que un error afecte solo a una pequeña parte del tráfico y se revierta automáticamente. Y cerramos con la seguridad: mínimo privilegio, OIDC en lugar de claves estáticas y separación de entornos en varias cuentas.
Mi recomendación para llevaros a vuestro trabajo es empezar por lo que más reduce el riesgo con menos esfuerzo: si todavía hacéis cambios de infraestructura a mano, empezad por la infraestructura como código; si ya la tenéis, añadid alarmas y despliegues graduales. Muchas gracias a todos, os dejo unos minutos para preguntas y para la evaluación del curso. Y, por última vez, no olvidéis la limpieza de los laboratorios.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32F3E"/>
        </a:solidFill>
      </p:bgPr>
    </p:bg>
    <p:spTree>
      <p:nvGrpSpPr>
        <p:cNvPr id="1" name=""/>
        <p:cNvGrpSpPr/>
        <p:nvPr/>
      </p:nvGrpSpPr>
      <p:grpSpPr>
        <a:xfrm>
          <a:off x="0" y="0"/>
          <a:ext cx="0" cy="0"/>
          <a:chOff x="0" y="0"/>
          <a:chExt cx="0" cy="0"/>
        </a:xfrm>
      </p:grpSpPr>
      <p:sp>
        <p:nvSpPr>
          <p:cNvPr id="2" name="Shape 0"/>
          <p:cNvSpPr/>
          <p:nvPr/>
        </p:nvSpPr>
        <p:spPr>
          <a:xfrm>
            <a:off x="548640" y="640080"/>
            <a:ext cx="3291840" cy="365760"/>
          </a:xfrm>
          <a:prstGeom prst="roundRect">
            <a:avLst>
              <a:gd name="adj" fmla="val 50000"/>
            </a:avLst>
          </a:prstGeom>
          <a:solidFill>
            <a:srgbClr val="FF9900"/>
          </a:solidFill>
          <a:ln w="12700">
            <a:solidFill>
              <a:srgbClr val="FF9900"/>
            </a:solidFill>
            <a:prstDash val="solid"/>
          </a:ln>
        </p:spPr>
      </p:sp>
      <p:sp>
        <p:nvSpPr>
          <p:cNvPr id="3" name="Text 1"/>
          <p:cNvSpPr txBox="1"/>
          <p:nvPr/>
        </p:nvSpPr>
        <p:spPr>
          <a:xfrm>
            <a:off x="548640" y="640080"/>
            <a:ext cx="3291840" cy="365760"/>
          </a:xfrm>
          <a:prstGeom prst="rect">
            <a:avLst/>
          </a:prstGeom>
          <a:noFill/>
          <a:ln/>
        </p:spPr>
        <p:txBody>
          <a:bodyPr wrap="square" lIns="0" tIns="0" rIns="0" bIns="0" rtlCol="0" anchor="ctr"/>
          <a:lstStyle/>
          <a:p>
            <a:pPr algn="ctr" indent="0" marL="0">
              <a:buNone/>
            </a:pPr>
            <a:r>
              <a:rPr lang="en-US" sz="1100" b="1" dirty="0">
                <a:solidFill>
                  <a:srgbClr val="232F3E"/>
                </a:solidFill>
                <a:latin typeface="Calibri" pitchFamily="34" charset="0"/>
                <a:ea typeface="Calibri" pitchFamily="34" charset="-122"/>
                <a:cs typeface="Calibri" pitchFamily="34" charset="-120"/>
              </a:rPr>
              <a:t>FormadoresIT  ·  Ingeniería</a:t>
            </a:r>
            <a:endParaRPr lang="en-US" sz="1100" dirty="0"/>
          </a:p>
        </p:txBody>
      </p:sp>
      <p:sp>
        <p:nvSpPr>
          <p:cNvPr id="4" name="Text 2"/>
          <p:cNvSpPr txBox="1"/>
          <p:nvPr/>
        </p:nvSpPr>
        <p:spPr>
          <a:xfrm>
            <a:off x="548640" y="1325880"/>
            <a:ext cx="7863840" cy="1463040"/>
          </a:xfrm>
          <a:prstGeom prst="rect">
            <a:avLst/>
          </a:prstGeom>
          <a:noFill/>
          <a:ln/>
        </p:spPr>
        <p:txBody>
          <a:bodyPr wrap="square" lIns="0" tIns="0" rIns="0" bIns="0" rtlCol="0" anchor="b"/>
          <a:lstStyle/>
          <a:p>
            <a:pPr indent="0" marL="0">
              <a:buNone/>
            </a:pPr>
            <a:r>
              <a:rPr lang="en-US" sz="3200" b="1" dirty="0">
                <a:solidFill>
                  <a:srgbClr val="FFFFFF"/>
                </a:solidFill>
                <a:latin typeface="Arial" pitchFamily="34" charset="0"/>
                <a:ea typeface="Arial" pitchFamily="34" charset="-122"/>
                <a:cs typeface="Arial" pitchFamily="34" charset="-120"/>
              </a:rPr>
              <a:t>Diseño e implementación de soluciones DevOps en AWS</a:t>
            </a:r>
            <a:endParaRPr lang="en-US" sz="3200" dirty="0"/>
          </a:p>
        </p:txBody>
      </p:sp>
      <p:sp>
        <p:nvSpPr>
          <p:cNvPr id="5" name="Text 3"/>
          <p:cNvSpPr txBox="1"/>
          <p:nvPr/>
        </p:nvSpPr>
        <p:spPr>
          <a:xfrm>
            <a:off x="548640" y="2926080"/>
            <a:ext cx="7680960" cy="731520"/>
          </a:xfrm>
          <a:prstGeom prst="rect">
            <a:avLst/>
          </a:prstGeom>
          <a:noFill/>
          <a:ln/>
        </p:spPr>
        <p:txBody>
          <a:bodyPr wrap="square" lIns="0" tIns="0" rIns="0" bIns="0" rtlCol="0" anchor="t"/>
          <a:lstStyle/>
          <a:p>
            <a:pPr indent="0" marL="0">
              <a:buNone/>
            </a:pPr>
            <a:r>
              <a:rPr lang="en-US" sz="1600" dirty="0">
                <a:solidFill>
                  <a:srgbClr val="C9D1DB"/>
                </a:solidFill>
                <a:latin typeface="Calibri" pitchFamily="34" charset="0"/>
                <a:ea typeface="Calibri" pitchFamily="34" charset="-122"/>
                <a:cs typeface="Calibri" pitchFamily="34" charset="-120"/>
              </a:rPr>
              <a:t>Sesión 2 · Entrega continua, despliegues seguros, observabilidad y seguridad</a:t>
            </a:r>
            <a:endParaRPr lang="en-US" sz="1600" dirty="0"/>
          </a:p>
        </p:txBody>
      </p:sp>
      <p:sp>
        <p:nvSpPr>
          <p:cNvPr id="6" name="Text 4"/>
          <p:cNvSpPr txBox="1"/>
          <p:nvPr/>
        </p:nvSpPr>
        <p:spPr>
          <a:xfrm>
            <a:off x="548640" y="4114800"/>
            <a:ext cx="7680960" cy="365760"/>
          </a:xfrm>
          <a:prstGeom prst="rect">
            <a:avLst/>
          </a:prstGeom>
          <a:noFill/>
          <a:ln/>
        </p:spPr>
        <p:txBody>
          <a:bodyPr wrap="square" lIns="0" tIns="0" rIns="0" bIns="0" rtlCol="0" anchor="t"/>
          <a:lstStyle/>
          <a:p>
            <a:pPr indent="0" marL="0">
              <a:buNone/>
            </a:pPr>
            <a:r>
              <a:rPr lang="en-US" sz="1200" b="1" dirty="0">
                <a:solidFill>
                  <a:srgbClr val="FF9900"/>
                </a:solidFill>
                <a:latin typeface="Calibri" pitchFamily="34" charset="0"/>
                <a:ea typeface="Calibri" pitchFamily="34" charset="-122"/>
                <a:cs typeface="Calibri" pitchFamily="34" charset="-120"/>
              </a:rPr>
              <a:t>14/10/2026  ·  9:30 – 13:30  ·  Síncrono</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292608"/>
            <a:ext cx="8229600" cy="685800"/>
          </a:xfrm>
          <a:prstGeom prst="rect">
            <a:avLst/>
          </a:prstGeom>
          <a:noFill/>
          <a:ln/>
        </p:spPr>
        <p:txBody>
          <a:bodyPr wrap="square" lIns="0" tIns="0" rIns="0" bIns="0" rtlCol="0" anchor="ctr"/>
          <a:lstStyle/>
          <a:p>
            <a:pPr indent="0" marL="0">
              <a:buNone/>
            </a:pPr>
            <a:r>
              <a:rPr lang="en-US" sz="2400" b="1" dirty="0">
                <a:solidFill>
                  <a:srgbClr val="232F3E"/>
                </a:solidFill>
                <a:latin typeface="Arial" pitchFamily="34" charset="0"/>
                <a:ea typeface="Arial" pitchFamily="34" charset="-122"/>
                <a:cs typeface="Arial" pitchFamily="34" charset="-120"/>
              </a:rPr>
              <a:t>Repaso de la sesión anterior</a:t>
            </a:r>
            <a:endParaRPr lang="en-US" sz="2400" dirty="0"/>
          </a:p>
        </p:txBody>
      </p:sp>
      <p:sp>
        <p:nvSpPr>
          <p:cNvPr id="3" name="Shape 1"/>
          <p:cNvSpPr/>
          <p:nvPr/>
        </p:nvSpPr>
        <p:spPr>
          <a:xfrm>
            <a:off x="640080" y="1645920"/>
            <a:ext cx="2011680" cy="2011680"/>
          </a:xfrm>
          <a:prstGeom prst="ellipse">
            <a:avLst/>
          </a:prstGeom>
          <a:solidFill>
            <a:srgbClr val="FF9900"/>
          </a:solidFill>
          <a:ln w="12700">
            <a:solidFill>
              <a:srgbClr val="FF9900"/>
            </a:solidFill>
            <a:prstDash val="solid"/>
          </a:ln>
        </p:spPr>
      </p:sp>
      <p:sp>
        <p:nvSpPr>
          <p:cNvPr id="4" name="Text 2"/>
          <p:cNvSpPr txBox="1"/>
          <p:nvPr/>
        </p:nvSpPr>
        <p:spPr>
          <a:xfrm>
            <a:off x="640080" y="1645920"/>
            <a:ext cx="2011680" cy="2011680"/>
          </a:xfrm>
          <a:prstGeom prst="rect">
            <a:avLst/>
          </a:prstGeom>
          <a:noFill/>
          <a:ln/>
        </p:spPr>
        <p:txBody>
          <a:bodyPr wrap="square" lIns="0" tIns="0" rIns="0" bIns="0" rtlCol="0" anchor="ctr"/>
          <a:lstStyle/>
          <a:p>
            <a:pPr algn="ctr" indent="0" marL="0">
              <a:buNone/>
            </a:pPr>
            <a:r>
              <a:rPr lang="en-US" sz="8000" b="1" dirty="0">
                <a:solidFill>
                  <a:srgbClr val="232F3E"/>
                </a:solidFill>
                <a:latin typeface="Arial" pitchFamily="34" charset="0"/>
                <a:ea typeface="Arial" pitchFamily="34" charset="-122"/>
                <a:cs typeface="Arial" pitchFamily="34" charset="-120"/>
              </a:rPr>
              <a:t>?</a:t>
            </a:r>
            <a:endParaRPr lang="en-US" sz="8000" dirty="0"/>
          </a:p>
        </p:txBody>
      </p:sp>
      <p:sp>
        <p:nvSpPr>
          <p:cNvPr id="5" name="Shape 3"/>
          <p:cNvSpPr/>
          <p:nvPr/>
        </p:nvSpPr>
        <p:spPr>
          <a:xfrm>
            <a:off x="3108960" y="1188720"/>
            <a:ext cx="5577840" cy="1554480"/>
          </a:xfrm>
          <a:prstGeom prst="roundRect">
            <a:avLst>
              <a:gd name="adj" fmla="val 4706"/>
            </a:avLst>
          </a:prstGeom>
          <a:solidFill>
            <a:srgbClr val="F3F5F7"/>
          </a:solidFill>
          <a:ln w="12700">
            <a:solidFill>
              <a:srgbClr val="F3F5F7"/>
            </a:solidFill>
            <a:prstDash val="solid"/>
          </a:ln>
        </p:spPr>
      </p:sp>
      <p:sp>
        <p:nvSpPr>
          <p:cNvPr id="6" name="Text 4"/>
          <p:cNvSpPr txBox="1"/>
          <p:nvPr/>
        </p:nvSpPr>
        <p:spPr>
          <a:xfrm>
            <a:off x="3337560" y="1325880"/>
            <a:ext cx="5120640" cy="274320"/>
          </a:xfrm>
          <a:prstGeom prst="rect">
            <a:avLst/>
          </a:prstGeom>
          <a:noFill/>
          <a:ln/>
        </p:spPr>
        <p:txBody>
          <a:bodyPr wrap="square" lIns="0" tIns="0" rIns="0" bIns="0" rtlCol="0" anchor="t"/>
          <a:lstStyle/>
          <a:p>
            <a:pPr indent="0" marL="0">
              <a:buNone/>
            </a:pPr>
            <a:r>
              <a:rPr lang="en-US" sz="1200" b="1" dirty="0">
                <a:solidFill>
                  <a:srgbClr val="B35C00"/>
                </a:solidFill>
                <a:latin typeface="Calibri" pitchFamily="34" charset="0"/>
                <a:ea typeface="Calibri" pitchFamily="34" charset="-122"/>
                <a:cs typeface="Calibri" pitchFamily="34" charset="-120"/>
              </a:rPr>
              <a:t>Pregunta 1</a:t>
            </a:r>
            <a:endParaRPr lang="en-US" sz="1200" dirty="0"/>
          </a:p>
        </p:txBody>
      </p:sp>
      <p:sp>
        <p:nvSpPr>
          <p:cNvPr id="7" name="Text 5"/>
          <p:cNvSpPr txBox="1"/>
          <p:nvPr/>
        </p:nvSpPr>
        <p:spPr>
          <a:xfrm>
            <a:off x="3337560" y="1645920"/>
            <a:ext cx="5120640" cy="1005840"/>
          </a:xfrm>
          <a:prstGeom prst="rect">
            <a:avLst/>
          </a:prstGeom>
          <a:noFill/>
          <a:ln/>
        </p:spPr>
        <p:txBody>
          <a:bodyPr wrap="square" lIns="0" tIns="0" rIns="0" bIns="0" rtlCol="0" anchor="t"/>
          <a:lstStyle/>
          <a:p>
            <a:pPr indent="0" marL="0">
              <a:buNone/>
            </a:pPr>
            <a:r>
              <a:rPr lang="en-US" sz="1500" dirty="0">
                <a:solidFill>
                  <a:srgbClr val="232F3E"/>
                </a:solidFill>
                <a:latin typeface="Calibri" pitchFamily="34" charset="0"/>
                <a:ea typeface="Calibri" pitchFamily="34" charset="-122"/>
                <a:cs typeface="Calibri" pitchFamily="34" charset="-120"/>
              </a:rPr>
              <a:t>Un change set muestra «Replacement: True» en una base de datos RDS. ¿Qué significa y qué harías antes de ejecutarlo?</a:t>
            </a:r>
            <a:endParaRPr lang="en-US" sz="1500" dirty="0"/>
          </a:p>
        </p:txBody>
      </p:sp>
      <p:sp>
        <p:nvSpPr>
          <p:cNvPr id="8" name="Shape 6"/>
          <p:cNvSpPr/>
          <p:nvPr/>
        </p:nvSpPr>
        <p:spPr>
          <a:xfrm>
            <a:off x="3108960" y="2926080"/>
            <a:ext cx="5577840" cy="1554480"/>
          </a:xfrm>
          <a:prstGeom prst="roundRect">
            <a:avLst>
              <a:gd name="adj" fmla="val 4706"/>
            </a:avLst>
          </a:prstGeom>
          <a:solidFill>
            <a:srgbClr val="F3F5F7"/>
          </a:solidFill>
          <a:ln w="12700">
            <a:solidFill>
              <a:srgbClr val="F3F5F7"/>
            </a:solidFill>
            <a:prstDash val="solid"/>
          </a:ln>
        </p:spPr>
      </p:sp>
      <p:sp>
        <p:nvSpPr>
          <p:cNvPr id="9" name="Text 7"/>
          <p:cNvSpPr txBox="1"/>
          <p:nvPr/>
        </p:nvSpPr>
        <p:spPr>
          <a:xfrm>
            <a:off x="3337560" y="3063240"/>
            <a:ext cx="5120640" cy="274320"/>
          </a:xfrm>
          <a:prstGeom prst="rect">
            <a:avLst/>
          </a:prstGeom>
          <a:noFill/>
          <a:ln/>
        </p:spPr>
        <p:txBody>
          <a:bodyPr wrap="square" lIns="0" tIns="0" rIns="0" bIns="0" rtlCol="0" anchor="t"/>
          <a:lstStyle/>
          <a:p>
            <a:pPr indent="0" marL="0">
              <a:buNone/>
            </a:pPr>
            <a:r>
              <a:rPr lang="en-US" sz="1200" b="1" dirty="0">
                <a:solidFill>
                  <a:srgbClr val="B35C00"/>
                </a:solidFill>
                <a:latin typeface="Calibri" pitchFamily="34" charset="0"/>
                <a:ea typeface="Calibri" pitchFamily="34" charset="-122"/>
                <a:cs typeface="Calibri" pitchFamily="34" charset="-120"/>
              </a:rPr>
              <a:t>Pregunta 2</a:t>
            </a:r>
            <a:endParaRPr lang="en-US" sz="1200" dirty="0"/>
          </a:p>
        </p:txBody>
      </p:sp>
      <p:sp>
        <p:nvSpPr>
          <p:cNvPr id="10" name="Text 8"/>
          <p:cNvSpPr txBox="1"/>
          <p:nvPr/>
        </p:nvSpPr>
        <p:spPr>
          <a:xfrm>
            <a:off x="3337560" y="3383280"/>
            <a:ext cx="5120640" cy="1005840"/>
          </a:xfrm>
          <a:prstGeom prst="rect">
            <a:avLst/>
          </a:prstGeom>
          <a:noFill/>
          <a:ln/>
        </p:spPr>
        <p:txBody>
          <a:bodyPr wrap="square" lIns="0" tIns="0" rIns="0" bIns="0" rtlCol="0" anchor="t"/>
          <a:lstStyle/>
          <a:p>
            <a:pPr indent="0" marL="0">
              <a:buNone/>
            </a:pPr>
            <a:r>
              <a:rPr lang="en-US" sz="1500" dirty="0">
                <a:solidFill>
                  <a:srgbClr val="232F3E"/>
                </a:solidFill>
                <a:latin typeface="Calibri" pitchFamily="34" charset="0"/>
                <a:ea typeface="Calibri" pitchFamily="34" charset="-122"/>
                <a:cs typeface="Calibri" pitchFamily="34" charset="-120"/>
              </a:rPr>
              <a:t>¿Por qué no deberíamos reconstruir el código en cada entorno y qué hacemos en su lugar?</a:t>
            </a:r>
            <a:endParaRPr lang="en-US" sz="1500" dirty="0"/>
          </a:p>
        </p:txBody>
      </p:sp>
      <p:sp>
        <p:nvSpPr>
          <p:cNvPr id="11" name="Text 9"/>
          <p:cNvSpPr txBox="1"/>
          <p:nvPr/>
        </p:nvSpPr>
        <p:spPr>
          <a:xfrm>
            <a:off x="457200" y="4773168"/>
            <a:ext cx="6400800" cy="228600"/>
          </a:xfrm>
          <a:prstGeom prst="rect">
            <a:avLst/>
          </a:prstGeom>
          <a:noFill/>
          <a:ln/>
        </p:spPr>
        <p:txBody>
          <a:bodyPr wrap="square" lIns="0" tIns="0" rIns="0" bIns="0" rtlCol="0" anchor="t"/>
          <a:lstStyle/>
          <a:p>
            <a:pPr indent="0" marL="0">
              <a:buNone/>
            </a:pPr>
            <a:r>
              <a:rPr lang="en-US" sz="900" dirty="0">
                <a:solidFill>
                  <a:srgbClr val="8A8F98"/>
                </a:solidFill>
                <a:latin typeface="Calibri" pitchFamily="34" charset="0"/>
                <a:ea typeface="Calibri" pitchFamily="34" charset="-122"/>
                <a:cs typeface="Calibri" pitchFamily="34" charset="-120"/>
              </a:rPr>
              <a:t>DevOps en AWS  ·  Sesión 2</a:t>
            </a:r>
            <a:endParaRPr lang="en-US" sz="900" dirty="0"/>
          </a:p>
        </p:txBody>
      </p:sp>
      <p:sp>
        <p:nvSpPr>
          <p:cNvPr id="12" name="Text 10"/>
          <p:cNvSpPr txBox="1"/>
          <p:nvPr/>
        </p:nvSpPr>
        <p:spPr>
          <a:xfrm>
            <a:off x="8138160" y="4773168"/>
            <a:ext cx="548640" cy="228600"/>
          </a:xfrm>
          <a:prstGeom prst="rect">
            <a:avLst/>
          </a:prstGeom>
          <a:noFill/>
          <a:ln/>
        </p:spPr>
        <p:txBody>
          <a:bodyPr wrap="square" lIns="0" tIns="0" rIns="0" bIns="0" rtlCol="0" anchor="t"/>
          <a:lstStyle/>
          <a:p>
            <a:pPr algn="r" indent="0" marL="0">
              <a:buNone/>
            </a:pPr>
            <a:r>
              <a:rPr lang="en-US" sz="900" dirty="0">
                <a:solidFill>
                  <a:srgbClr val="8A8F98"/>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292608"/>
            <a:ext cx="8229600" cy="685800"/>
          </a:xfrm>
          <a:prstGeom prst="rect">
            <a:avLst/>
          </a:prstGeom>
          <a:noFill/>
          <a:ln/>
        </p:spPr>
        <p:txBody>
          <a:bodyPr wrap="square" lIns="0" tIns="0" rIns="0" bIns="0" rtlCol="0" anchor="ctr"/>
          <a:lstStyle/>
          <a:p>
            <a:pPr indent="0" marL="0">
              <a:buNone/>
            </a:pPr>
            <a:r>
              <a:rPr lang="en-US" sz="2400" b="1" dirty="0">
                <a:solidFill>
                  <a:srgbClr val="232F3E"/>
                </a:solidFill>
                <a:latin typeface="Arial" pitchFamily="34" charset="0"/>
                <a:ea typeface="Arial" pitchFamily="34" charset="-122"/>
                <a:cs typeface="Arial" pitchFamily="34" charset="-120"/>
              </a:rPr>
              <a:t>Agenda de la sesión</a:t>
            </a:r>
            <a:endParaRPr lang="en-US" sz="2400" dirty="0"/>
          </a:p>
        </p:txBody>
      </p:sp>
      <p:sp>
        <p:nvSpPr>
          <p:cNvPr id="3" name="Shape 1"/>
          <p:cNvSpPr/>
          <p:nvPr/>
        </p:nvSpPr>
        <p:spPr>
          <a:xfrm>
            <a:off x="457200" y="1060704"/>
            <a:ext cx="8229600" cy="409194"/>
          </a:xfrm>
          <a:prstGeom prst="rect">
            <a:avLst/>
          </a:prstGeom>
          <a:solidFill>
            <a:srgbClr val="F3F5F7"/>
          </a:solidFill>
          <a:ln w="12700">
            <a:solidFill>
              <a:srgbClr val="F3F5F7"/>
            </a:solidFill>
            <a:prstDash val="solid"/>
          </a:ln>
        </p:spPr>
      </p:sp>
      <p:sp>
        <p:nvSpPr>
          <p:cNvPr id="4" name="Text 2"/>
          <p:cNvSpPr txBox="1"/>
          <p:nvPr/>
        </p:nvSpPr>
        <p:spPr>
          <a:xfrm>
            <a:off x="640080" y="1097280"/>
            <a:ext cx="1463040" cy="336042"/>
          </a:xfrm>
          <a:prstGeom prst="rect">
            <a:avLst/>
          </a:prstGeom>
          <a:noFill/>
          <a:ln/>
        </p:spPr>
        <p:txBody>
          <a:bodyPr wrap="square" lIns="0" tIns="0" rIns="0" bIns="0" rtlCol="0" anchor="ctr"/>
          <a:lstStyle/>
          <a:p>
            <a:pPr indent="0" marL="0">
              <a:buNone/>
            </a:pPr>
            <a:r>
              <a:rPr lang="en-US" sz="1300" b="1" dirty="0">
                <a:solidFill>
                  <a:srgbClr val="B35C00"/>
                </a:solidFill>
                <a:latin typeface="Calibri" pitchFamily="34" charset="0"/>
                <a:ea typeface="Calibri" pitchFamily="34" charset="-122"/>
                <a:cs typeface="Calibri" pitchFamily="34" charset="-120"/>
              </a:rPr>
              <a:t>9:30</a:t>
            </a:r>
            <a:endParaRPr lang="en-US" sz="1300" dirty="0"/>
          </a:p>
        </p:txBody>
      </p:sp>
      <p:sp>
        <p:nvSpPr>
          <p:cNvPr id="5" name="Text 3"/>
          <p:cNvSpPr txBox="1"/>
          <p:nvPr/>
        </p:nvSpPr>
        <p:spPr>
          <a:xfrm>
            <a:off x="2194560" y="1097280"/>
            <a:ext cx="6309360" cy="336042"/>
          </a:xfrm>
          <a:prstGeom prst="rect">
            <a:avLst/>
          </a:prstGeom>
          <a:noFill/>
          <a:ln/>
        </p:spPr>
        <p:txBody>
          <a:bodyPr wrap="square" lIns="0" tIns="0" rIns="0" bIns="0" rtlCol="0" anchor="ctr"/>
          <a:lstStyle/>
          <a:p>
            <a:pPr indent="0" marL="0">
              <a:buNone/>
            </a:pPr>
            <a:r>
              <a:rPr lang="en-US" sz="1400" dirty="0">
                <a:solidFill>
                  <a:srgbClr val="2B2F38"/>
                </a:solidFill>
                <a:latin typeface="Calibri" pitchFamily="34" charset="0"/>
                <a:ea typeface="Calibri" pitchFamily="34" charset="-122"/>
                <a:cs typeface="Calibri" pitchFamily="34" charset="-120"/>
              </a:rPr>
              <a:t>Repaso de la sesión 1</a:t>
            </a:r>
            <a:endParaRPr lang="en-US" sz="1400" dirty="0"/>
          </a:p>
        </p:txBody>
      </p:sp>
      <p:sp>
        <p:nvSpPr>
          <p:cNvPr id="6" name="Text 4"/>
          <p:cNvSpPr txBox="1"/>
          <p:nvPr/>
        </p:nvSpPr>
        <p:spPr>
          <a:xfrm>
            <a:off x="640080" y="1543050"/>
            <a:ext cx="1463040" cy="336042"/>
          </a:xfrm>
          <a:prstGeom prst="rect">
            <a:avLst/>
          </a:prstGeom>
          <a:noFill/>
          <a:ln/>
        </p:spPr>
        <p:txBody>
          <a:bodyPr wrap="square" lIns="0" tIns="0" rIns="0" bIns="0" rtlCol="0" anchor="ctr"/>
          <a:lstStyle/>
          <a:p>
            <a:pPr indent="0" marL="0">
              <a:buNone/>
            </a:pPr>
            <a:r>
              <a:rPr lang="en-US" sz="1300" b="1" dirty="0">
                <a:solidFill>
                  <a:srgbClr val="B35C00"/>
                </a:solidFill>
                <a:latin typeface="Calibri" pitchFamily="34" charset="0"/>
                <a:ea typeface="Calibri" pitchFamily="34" charset="-122"/>
                <a:cs typeface="Calibri" pitchFamily="34" charset="-120"/>
              </a:rPr>
              <a:t>9:40</a:t>
            </a:r>
            <a:endParaRPr lang="en-US" sz="1300" dirty="0"/>
          </a:p>
        </p:txBody>
      </p:sp>
      <p:sp>
        <p:nvSpPr>
          <p:cNvPr id="7" name="Text 5"/>
          <p:cNvSpPr txBox="1"/>
          <p:nvPr/>
        </p:nvSpPr>
        <p:spPr>
          <a:xfrm>
            <a:off x="2194560" y="1543050"/>
            <a:ext cx="6309360" cy="336042"/>
          </a:xfrm>
          <a:prstGeom prst="rect">
            <a:avLst/>
          </a:prstGeom>
          <a:noFill/>
          <a:ln/>
        </p:spPr>
        <p:txBody>
          <a:bodyPr wrap="square" lIns="0" tIns="0" rIns="0" bIns="0" rtlCol="0" anchor="ctr"/>
          <a:lstStyle/>
          <a:p>
            <a:pPr indent="0" marL="0">
              <a:buNone/>
            </a:pPr>
            <a:r>
              <a:rPr lang="en-US" sz="1400" dirty="0">
                <a:solidFill>
                  <a:srgbClr val="2B2F38"/>
                </a:solidFill>
                <a:latin typeface="Calibri" pitchFamily="34" charset="0"/>
                <a:ea typeface="Calibri" pitchFamily="34" charset="-122"/>
                <a:cs typeface="Calibri" pitchFamily="34" charset="-120"/>
              </a:rPr>
              <a:t>Bloque 4 · Entrega continua con CodePipeline</a:t>
            </a:r>
            <a:endParaRPr lang="en-US" sz="1400" dirty="0"/>
          </a:p>
        </p:txBody>
      </p:sp>
      <p:sp>
        <p:nvSpPr>
          <p:cNvPr id="8" name="Shape 6"/>
          <p:cNvSpPr/>
          <p:nvPr/>
        </p:nvSpPr>
        <p:spPr>
          <a:xfrm>
            <a:off x="457200" y="1952244"/>
            <a:ext cx="8229600" cy="409194"/>
          </a:xfrm>
          <a:prstGeom prst="rect">
            <a:avLst/>
          </a:prstGeom>
          <a:solidFill>
            <a:srgbClr val="F3F5F7"/>
          </a:solidFill>
          <a:ln w="12700">
            <a:solidFill>
              <a:srgbClr val="F3F5F7"/>
            </a:solidFill>
            <a:prstDash val="solid"/>
          </a:ln>
        </p:spPr>
      </p:sp>
      <p:sp>
        <p:nvSpPr>
          <p:cNvPr id="9" name="Text 7"/>
          <p:cNvSpPr txBox="1"/>
          <p:nvPr/>
        </p:nvSpPr>
        <p:spPr>
          <a:xfrm>
            <a:off x="640080" y="1988820"/>
            <a:ext cx="1463040" cy="336042"/>
          </a:xfrm>
          <a:prstGeom prst="rect">
            <a:avLst/>
          </a:prstGeom>
          <a:noFill/>
          <a:ln/>
        </p:spPr>
        <p:txBody>
          <a:bodyPr wrap="square" lIns="0" tIns="0" rIns="0" bIns="0" rtlCol="0" anchor="ctr"/>
          <a:lstStyle/>
          <a:p>
            <a:pPr indent="0" marL="0">
              <a:buNone/>
            </a:pPr>
            <a:r>
              <a:rPr lang="en-US" sz="1300" b="1" dirty="0">
                <a:solidFill>
                  <a:srgbClr val="B35C00"/>
                </a:solidFill>
                <a:latin typeface="Calibri" pitchFamily="34" charset="0"/>
                <a:ea typeface="Calibri" pitchFamily="34" charset="-122"/>
                <a:cs typeface="Calibri" pitchFamily="34" charset="-120"/>
              </a:rPr>
              <a:t>10:20</a:t>
            </a:r>
            <a:endParaRPr lang="en-US" sz="1300" dirty="0"/>
          </a:p>
        </p:txBody>
      </p:sp>
      <p:sp>
        <p:nvSpPr>
          <p:cNvPr id="10" name="Text 8"/>
          <p:cNvSpPr txBox="1"/>
          <p:nvPr/>
        </p:nvSpPr>
        <p:spPr>
          <a:xfrm>
            <a:off x="2194560" y="1988820"/>
            <a:ext cx="6309360" cy="336042"/>
          </a:xfrm>
          <a:prstGeom prst="rect">
            <a:avLst/>
          </a:prstGeom>
          <a:noFill/>
          <a:ln/>
        </p:spPr>
        <p:txBody>
          <a:bodyPr wrap="square" lIns="0" tIns="0" rIns="0" bIns="0" rtlCol="0" anchor="ctr"/>
          <a:lstStyle/>
          <a:p>
            <a:pPr indent="0" marL="0">
              <a:buNone/>
            </a:pPr>
            <a:r>
              <a:rPr lang="en-US" sz="1400" dirty="0">
                <a:solidFill>
                  <a:srgbClr val="2B2F38"/>
                </a:solidFill>
                <a:latin typeface="Calibri" pitchFamily="34" charset="0"/>
                <a:ea typeface="Calibri" pitchFamily="34" charset="-122"/>
                <a:cs typeface="Calibri" pitchFamily="34" charset="-120"/>
              </a:rPr>
              <a:t>Lab 03 · Pipeline completa con aprobación</a:t>
            </a:r>
            <a:endParaRPr lang="en-US" sz="1400" dirty="0"/>
          </a:p>
        </p:txBody>
      </p:sp>
      <p:sp>
        <p:nvSpPr>
          <p:cNvPr id="11" name="Text 9"/>
          <p:cNvSpPr txBox="1"/>
          <p:nvPr/>
        </p:nvSpPr>
        <p:spPr>
          <a:xfrm>
            <a:off x="640080" y="2434590"/>
            <a:ext cx="1463040" cy="336042"/>
          </a:xfrm>
          <a:prstGeom prst="rect">
            <a:avLst/>
          </a:prstGeom>
          <a:noFill/>
          <a:ln/>
        </p:spPr>
        <p:txBody>
          <a:bodyPr wrap="square" lIns="0" tIns="0" rIns="0" bIns="0" rtlCol="0" anchor="ctr"/>
          <a:lstStyle/>
          <a:p>
            <a:pPr indent="0" marL="0">
              <a:buNone/>
            </a:pPr>
            <a:r>
              <a:rPr lang="en-US" sz="1300" b="1" dirty="0">
                <a:solidFill>
                  <a:srgbClr val="B35C00"/>
                </a:solidFill>
                <a:latin typeface="Calibri" pitchFamily="34" charset="0"/>
                <a:ea typeface="Calibri" pitchFamily="34" charset="-122"/>
                <a:cs typeface="Calibri" pitchFamily="34" charset="-120"/>
              </a:rPr>
              <a:t>11:20</a:t>
            </a:r>
            <a:endParaRPr lang="en-US" sz="1300" dirty="0"/>
          </a:p>
        </p:txBody>
      </p:sp>
      <p:sp>
        <p:nvSpPr>
          <p:cNvPr id="12" name="Text 10"/>
          <p:cNvSpPr txBox="1"/>
          <p:nvPr/>
        </p:nvSpPr>
        <p:spPr>
          <a:xfrm>
            <a:off x="2194560" y="2434590"/>
            <a:ext cx="6309360" cy="336042"/>
          </a:xfrm>
          <a:prstGeom prst="rect">
            <a:avLst/>
          </a:prstGeom>
          <a:noFill/>
          <a:ln/>
        </p:spPr>
        <p:txBody>
          <a:bodyPr wrap="square" lIns="0" tIns="0" rIns="0" bIns="0" rtlCol="0" anchor="ctr"/>
          <a:lstStyle/>
          <a:p>
            <a:pPr indent="0" marL="0">
              <a:buNone/>
            </a:pPr>
            <a:r>
              <a:rPr lang="en-US" sz="1400" dirty="0">
                <a:solidFill>
                  <a:srgbClr val="2B2F38"/>
                </a:solidFill>
                <a:latin typeface="Calibri" pitchFamily="34" charset="0"/>
                <a:ea typeface="Calibri" pitchFamily="34" charset="-122"/>
                <a:cs typeface="Calibri" pitchFamily="34" charset="-120"/>
              </a:rPr>
              <a:t>Descanso</a:t>
            </a:r>
            <a:endParaRPr lang="en-US" sz="1400" dirty="0"/>
          </a:p>
        </p:txBody>
      </p:sp>
      <p:sp>
        <p:nvSpPr>
          <p:cNvPr id="13" name="Shape 11"/>
          <p:cNvSpPr/>
          <p:nvPr/>
        </p:nvSpPr>
        <p:spPr>
          <a:xfrm>
            <a:off x="457200" y="2843784"/>
            <a:ext cx="8229600" cy="409194"/>
          </a:xfrm>
          <a:prstGeom prst="rect">
            <a:avLst/>
          </a:prstGeom>
          <a:solidFill>
            <a:srgbClr val="F3F5F7"/>
          </a:solidFill>
          <a:ln w="12700">
            <a:solidFill>
              <a:srgbClr val="F3F5F7"/>
            </a:solidFill>
            <a:prstDash val="solid"/>
          </a:ln>
        </p:spPr>
      </p:sp>
      <p:sp>
        <p:nvSpPr>
          <p:cNvPr id="14" name="Text 12"/>
          <p:cNvSpPr txBox="1"/>
          <p:nvPr/>
        </p:nvSpPr>
        <p:spPr>
          <a:xfrm>
            <a:off x="640080" y="2880360"/>
            <a:ext cx="1463040" cy="336042"/>
          </a:xfrm>
          <a:prstGeom prst="rect">
            <a:avLst/>
          </a:prstGeom>
          <a:noFill/>
          <a:ln/>
        </p:spPr>
        <p:txBody>
          <a:bodyPr wrap="square" lIns="0" tIns="0" rIns="0" bIns="0" rtlCol="0" anchor="ctr"/>
          <a:lstStyle/>
          <a:p>
            <a:pPr indent="0" marL="0">
              <a:buNone/>
            </a:pPr>
            <a:r>
              <a:rPr lang="en-US" sz="1300" b="1" dirty="0">
                <a:solidFill>
                  <a:srgbClr val="B35C00"/>
                </a:solidFill>
                <a:latin typeface="Calibri" pitchFamily="34" charset="0"/>
                <a:ea typeface="Calibri" pitchFamily="34" charset="-122"/>
                <a:cs typeface="Calibri" pitchFamily="34" charset="-120"/>
              </a:rPr>
              <a:t>11:40</a:t>
            </a:r>
            <a:endParaRPr lang="en-US" sz="1300" dirty="0"/>
          </a:p>
        </p:txBody>
      </p:sp>
      <p:sp>
        <p:nvSpPr>
          <p:cNvPr id="15" name="Text 13"/>
          <p:cNvSpPr txBox="1"/>
          <p:nvPr/>
        </p:nvSpPr>
        <p:spPr>
          <a:xfrm>
            <a:off x="2194560" y="2880360"/>
            <a:ext cx="6309360" cy="336042"/>
          </a:xfrm>
          <a:prstGeom prst="rect">
            <a:avLst/>
          </a:prstGeom>
          <a:noFill/>
          <a:ln/>
        </p:spPr>
        <p:txBody>
          <a:bodyPr wrap="square" lIns="0" tIns="0" rIns="0" bIns="0" rtlCol="0" anchor="ctr"/>
          <a:lstStyle/>
          <a:p>
            <a:pPr indent="0" marL="0">
              <a:buNone/>
            </a:pPr>
            <a:r>
              <a:rPr lang="en-US" sz="1400" dirty="0">
                <a:solidFill>
                  <a:srgbClr val="2B2F38"/>
                </a:solidFill>
                <a:latin typeface="Calibri" pitchFamily="34" charset="0"/>
                <a:ea typeface="Calibri" pitchFamily="34" charset="-122"/>
                <a:cs typeface="Calibri" pitchFamily="34" charset="-120"/>
              </a:rPr>
              <a:t>Bloque 5 · Despliegues seguros y observabilidad</a:t>
            </a:r>
            <a:endParaRPr lang="en-US" sz="1400" dirty="0"/>
          </a:p>
        </p:txBody>
      </p:sp>
      <p:sp>
        <p:nvSpPr>
          <p:cNvPr id="16" name="Text 14"/>
          <p:cNvSpPr txBox="1"/>
          <p:nvPr/>
        </p:nvSpPr>
        <p:spPr>
          <a:xfrm>
            <a:off x="640080" y="3326130"/>
            <a:ext cx="1463040" cy="336042"/>
          </a:xfrm>
          <a:prstGeom prst="rect">
            <a:avLst/>
          </a:prstGeom>
          <a:noFill/>
          <a:ln/>
        </p:spPr>
        <p:txBody>
          <a:bodyPr wrap="square" lIns="0" tIns="0" rIns="0" bIns="0" rtlCol="0" anchor="ctr"/>
          <a:lstStyle/>
          <a:p>
            <a:pPr indent="0" marL="0">
              <a:buNone/>
            </a:pPr>
            <a:r>
              <a:rPr lang="en-US" sz="1300" b="1" dirty="0">
                <a:solidFill>
                  <a:srgbClr val="B35C00"/>
                </a:solidFill>
                <a:latin typeface="Calibri" pitchFamily="34" charset="0"/>
                <a:ea typeface="Calibri" pitchFamily="34" charset="-122"/>
                <a:cs typeface="Calibri" pitchFamily="34" charset="-120"/>
              </a:rPr>
              <a:t>12:10</a:t>
            </a:r>
            <a:endParaRPr lang="en-US" sz="1300" dirty="0"/>
          </a:p>
        </p:txBody>
      </p:sp>
      <p:sp>
        <p:nvSpPr>
          <p:cNvPr id="17" name="Text 15"/>
          <p:cNvSpPr txBox="1"/>
          <p:nvPr/>
        </p:nvSpPr>
        <p:spPr>
          <a:xfrm>
            <a:off x="2194560" y="3326130"/>
            <a:ext cx="6309360" cy="336042"/>
          </a:xfrm>
          <a:prstGeom prst="rect">
            <a:avLst/>
          </a:prstGeom>
          <a:noFill/>
          <a:ln/>
        </p:spPr>
        <p:txBody>
          <a:bodyPr wrap="square" lIns="0" tIns="0" rIns="0" bIns="0" rtlCol="0" anchor="ctr"/>
          <a:lstStyle/>
          <a:p>
            <a:pPr indent="0" marL="0">
              <a:buNone/>
            </a:pPr>
            <a:r>
              <a:rPr lang="en-US" sz="1400" dirty="0">
                <a:solidFill>
                  <a:srgbClr val="2B2F38"/>
                </a:solidFill>
                <a:latin typeface="Calibri" pitchFamily="34" charset="0"/>
                <a:ea typeface="Calibri" pitchFamily="34" charset="-122"/>
                <a:cs typeface="Calibri" pitchFamily="34" charset="-120"/>
              </a:rPr>
              <a:t>Lab 04 · Canary de Lambda con rollback automático</a:t>
            </a:r>
            <a:endParaRPr lang="en-US" sz="1400" dirty="0"/>
          </a:p>
        </p:txBody>
      </p:sp>
      <p:sp>
        <p:nvSpPr>
          <p:cNvPr id="18" name="Shape 16"/>
          <p:cNvSpPr/>
          <p:nvPr/>
        </p:nvSpPr>
        <p:spPr>
          <a:xfrm>
            <a:off x="457200" y="3735324"/>
            <a:ext cx="8229600" cy="409194"/>
          </a:xfrm>
          <a:prstGeom prst="rect">
            <a:avLst/>
          </a:prstGeom>
          <a:solidFill>
            <a:srgbClr val="F3F5F7"/>
          </a:solidFill>
          <a:ln w="12700">
            <a:solidFill>
              <a:srgbClr val="F3F5F7"/>
            </a:solidFill>
            <a:prstDash val="solid"/>
          </a:ln>
        </p:spPr>
      </p:sp>
      <p:sp>
        <p:nvSpPr>
          <p:cNvPr id="19" name="Text 17"/>
          <p:cNvSpPr txBox="1"/>
          <p:nvPr/>
        </p:nvSpPr>
        <p:spPr>
          <a:xfrm>
            <a:off x="640080" y="3771900"/>
            <a:ext cx="1463040" cy="336042"/>
          </a:xfrm>
          <a:prstGeom prst="rect">
            <a:avLst/>
          </a:prstGeom>
          <a:noFill/>
          <a:ln/>
        </p:spPr>
        <p:txBody>
          <a:bodyPr wrap="square" lIns="0" tIns="0" rIns="0" bIns="0" rtlCol="0" anchor="ctr"/>
          <a:lstStyle/>
          <a:p>
            <a:pPr indent="0" marL="0">
              <a:buNone/>
            </a:pPr>
            <a:r>
              <a:rPr lang="en-US" sz="1300" b="1" dirty="0">
                <a:solidFill>
                  <a:srgbClr val="B35C00"/>
                </a:solidFill>
                <a:latin typeface="Calibri" pitchFamily="34" charset="0"/>
                <a:ea typeface="Calibri" pitchFamily="34" charset="-122"/>
                <a:cs typeface="Calibri" pitchFamily="34" charset="-120"/>
              </a:rPr>
              <a:t>13:00</a:t>
            </a:r>
            <a:endParaRPr lang="en-US" sz="1300" dirty="0"/>
          </a:p>
        </p:txBody>
      </p:sp>
      <p:sp>
        <p:nvSpPr>
          <p:cNvPr id="20" name="Text 18"/>
          <p:cNvSpPr txBox="1"/>
          <p:nvPr/>
        </p:nvSpPr>
        <p:spPr>
          <a:xfrm>
            <a:off x="2194560" y="3771900"/>
            <a:ext cx="6309360" cy="336042"/>
          </a:xfrm>
          <a:prstGeom prst="rect">
            <a:avLst/>
          </a:prstGeom>
          <a:noFill/>
          <a:ln/>
        </p:spPr>
        <p:txBody>
          <a:bodyPr wrap="square" lIns="0" tIns="0" rIns="0" bIns="0" rtlCol="0" anchor="ctr"/>
          <a:lstStyle/>
          <a:p>
            <a:pPr indent="0" marL="0">
              <a:buNone/>
            </a:pPr>
            <a:r>
              <a:rPr lang="en-US" sz="1400" dirty="0">
                <a:solidFill>
                  <a:srgbClr val="2B2F38"/>
                </a:solidFill>
                <a:latin typeface="Calibri" pitchFamily="34" charset="0"/>
                <a:ea typeface="Calibri" pitchFamily="34" charset="-122"/>
                <a:cs typeface="Calibri" pitchFamily="34" charset="-120"/>
              </a:rPr>
              <a:t>Bloque 6 · Seguridad de pipelines y multi-cuenta</a:t>
            </a:r>
            <a:endParaRPr lang="en-US" sz="1400" dirty="0"/>
          </a:p>
        </p:txBody>
      </p:sp>
      <p:sp>
        <p:nvSpPr>
          <p:cNvPr id="21" name="Text 19"/>
          <p:cNvSpPr txBox="1"/>
          <p:nvPr/>
        </p:nvSpPr>
        <p:spPr>
          <a:xfrm>
            <a:off x="640080" y="4217670"/>
            <a:ext cx="1463040" cy="336042"/>
          </a:xfrm>
          <a:prstGeom prst="rect">
            <a:avLst/>
          </a:prstGeom>
          <a:noFill/>
          <a:ln/>
        </p:spPr>
        <p:txBody>
          <a:bodyPr wrap="square" lIns="0" tIns="0" rIns="0" bIns="0" rtlCol="0" anchor="ctr"/>
          <a:lstStyle/>
          <a:p>
            <a:pPr indent="0" marL="0">
              <a:buNone/>
            </a:pPr>
            <a:r>
              <a:rPr lang="en-US" sz="1300" b="1" dirty="0">
                <a:solidFill>
                  <a:srgbClr val="B35C00"/>
                </a:solidFill>
                <a:latin typeface="Calibri" pitchFamily="34" charset="0"/>
                <a:ea typeface="Calibri" pitchFamily="34" charset="-122"/>
                <a:cs typeface="Calibri" pitchFamily="34" charset="-120"/>
              </a:rPr>
              <a:t>13:20</a:t>
            </a:r>
            <a:endParaRPr lang="en-US" sz="1300" dirty="0"/>
          </a:p>
        </p:txBody>
      </p:sp>
      <p:sp>
        <p:nvSpPr>
          <p:cNvPr id="22" name="Text 20"/>
          <p:cNvSpPr txBox="1"/>
          <p:nvPr/>
        </p:nvSpPr>
        <p:spPr>
          <a:xfrm>
            <a:off x="2194560" y="4217670"/>
            <a:ext cx="6309360" cy="336042"/>
          </a:xfrm>
          <a:prstGeom prst="rect">
            <a:avLst/>
          </a:prstGeom>
          <a:noFill/>
          <a:ln/>
        </p:spPr>
        <p:txBody>
          <a:bodyPr wrap="square" lIns="0" tIns="0" rIns="0" bIns="0" rtlCol="0" anchor="ctr"/>
          <a:lstStyle/>
          <a:p>
            <a:pPr indent="0" marL="0">
              <a:buNone/>
            </a:pPr>
            <a:r>
              <a:rPr lang="en-US" sz="1400" dirty="0">
                <a:solidFill>
                  <a:srgbClr val="2B2F38"/>
                </a:solidFill>
                <a:latin typeface="Calibri" pitchFamily="34" charset="0"/>
                <a:ea typeface="Calibri" pitchFamily="34" charset="-122"/>
                <a:cs typeface="Calibri" pitchFamily="34" charset="-120"/>
              </a:rPr>
              <a:t>Cierre y evaluación</a:t>
            </a:r>
            <a:endParaRPr lang="en-US" sz="1400" dirty="0"/>
          </a:p>
        </p:txBody>
      </p:sp>
      <p:sp>
        <p:nvSpPr>
          <p:cNvPr id="23" name="Text 21"/>
          <p:cNvSpPr txBox="1"/>
          <p:nvPr/>
        </p:nvSpPr>
        <p:spPr>
          <a:xfrm>
            <a:off x="457200" y="4773168"/>
            <a:ext cx="6400800" cy="228600"/>
          </a:xfrm>
          <a:prstGeom prst="rect">
            <a:avLst/>
          </a:prstGeom>
          <a:noFill/>
          <a:ln/>
        </p:spPr>
        <p:txBody>
          <a:bodyPr wrap="square" lIns="0" tIns="0" rIns="0" bIns="0" rtlCol="0" anchor="t"/>
          <a:lstStyle/>
          <a:p>
            <a:pPr indent="0" marL="0">
              <a:buNone/>
            </a:pPr>
            <a:r>
              <a:rPr lang="en-US" sz="900" dirty="0">
                <a:solidFill>
                  <a:srgbClr val="8A8F98"/>
                </a:solidFill>
                <a:latin typeface="Calibri" pitchFamily="34" charset="0"/>
                <a:ea typeface="Calibri" pitchFamily="34" charset="-122"/>
                <a:cs typeface="Calibri" pitchFamily="34" charset="-120"/>
              </a:rPr>
              <a:t>DevOps en AWS  ·  Sesión 2</a:t>
            </a:r>
            <a:endParaRPr lang="en-US" sz="900" dirty="0"/>
          </a:p>
        </p:txBody>
      </p:sp>
      <p:sp>
        <p:nvSpPr>
          <p:cNvPr id="24" name="Text 22"/>
          <p:cNvSpPr txBox="1"/>
          <p:nvPr/>
        </p:nvSpPr>
        <p:spPr>
          <a:xfrm>
            <a:off x="8138160" y="4773168"/>
            <a:ext cx="548640" cy="228600"/>
          </a:xfrm>
          <a:prstGeom prst="rect">
            <a:avLst/>
          </a:prstGeom>
          <a:noFill/>
          <a:ln/>
        </p:spPr>
        <p:txBody>
          <a:bodyPr wrap="square" lIns="0" tIns="0" rIns="0" bIns="0" rtlCol="0" anchor="t"/>
          <a:lstStyle/>
          <a:p>
            <a:pPr algn="r" indent="0" marL="0">
              <a:buNone/>
            </a:pPr>
            <a:r>
              <a:rPr lang="en-US" sz="900" dirty="0">
                <a:solidFill>
                  <a:srgbClr val="8A8F98"/>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32F3E"/>
        </a:solidFill>
      </p:bgPr>
    </p:bg>
    <p:spTree>
      <p:nvGrpSpPr>
        <p:cNvPr id="1" name=""/>
        <p:cNvGrpSpPr/>
        <p:nvPr/>
      </p:nvGrpSpPr>
      <p:grpSpPr>
        <a:xfrm>
          <a:off x="0" y="0"/>
          <a:ext cx="0" cy="0"/>
          <a:chOff x="0" y="0"/>
          <a:chExt cx="0" cy="0"/>
        </a:xfrm>
      </p:grpSpPr>
      <p:sp>
        <p:nvSpPr>
          <p:cNvPr id="2" name="Text 0"/>
          <p:cNvSpPr txBox="1"/>
          <p:nvPr/>
        </p:nvSpPr>
        <p:spPr>
          <a:xfrm>
            <a:off x="548640" y="731520"/>
            <a:ext cx="2286000" cy="1280160"/>
          </a:xfrm>
          <a:prstGeom prst="rect">
            <a:avLst/>
          </a:prstGeom>
          <a:noFill/>
          <a:ln/>
        </p:spPr>
        <p:txBody>
          <a:bodyPr wrap="square" lIns="0" tIns="0" rIns="0" bIns="0" rtlCol="0" anchor="b"/>
          <a:lstStyle/>
          <a:p>
            <a:pPr indent="0" marL="0">
              <a:buNone/>
            </a:pPr>
            <a:r>
              <a:rPr lang="en-US" sz="7200" b="1" dirty="0">
                <a:solidFill>
                  <a:srgbClr val="FF9900"/>
                </a:solidFill>
                <a:latin typeface="Arial" pitchFamily="34" charset="0"/>
                <a:ea typeface="Arial" pitchFamily="34" charset="-122"/>
                <a:cs typeface="Arial" pitchFamily="34" charset="-120"/>
              </a:rPr>
              <a:t>04</a:t>
            </a:r>
            <a:endParaRPr lang="en-US" sz="7200" dirty="0"/>
          </a:p>
        </p:txBody>
      </p:sp>
      <p:sp>
        <p:nvSpPr>
          <p:cNvPr id="3" name="Text 1"/>
          <p:cNvSpPr txBox="1"/>
          <p:nvPr/>
        </p:nvSpPr>
        <p:spPr>
          <a:xfrm>
            <a:off x="548640" y="2148840"/>
            <a:ext cx="7863840" cy="1325880"/>
          </a:xfrm>
          <a:prstGeom prst="rect">
            <a:avLst/>
          </a:prstGeom>
          <a:noFill/>
          <a:ln/>
        </p:spPr>
        <p:txBody>
          <a:bodyPr wrap="square" lIns="0" tIns="0" rIns="0" bIns="0" rtlCol="0" anchor="t"/>
          <a:lstStyle/>
          <a:p>
            <a:pPr indent="0" marL="0">
              <a:buNone/>
            </a:pPr>
            <a:r>
              <a:rPr lang="en-US" sz="3000" b="1" dirty="0">
                <a:solidFill>
                  <a:srgbClr val="FFFFFF"/>
                </a:solidFill>
                <a:latin typeface="Arial" pitchFamily="34" charset="0"/>
                <a:ea typeface="Arial" pitchFamily="34" charset="-122"/>
                <a:cs typeface="Arial" pitchFamily="34" charset="-120"/>
              </a:rPr>
              <a:t>Entrega continua con AWS CodePipeline</a:t>
            </a:r>
            <a:endParaRPr lang="en-US" sz="3000" dirty="0"/>
          </a:p>
        </p:txBody>
      </p:sp>
      <p:sp>
        <p:nvSpPr>
          <p:cNvPr id="4" name="Text 2"/>
          <p:cNvSpPr txBox="1"/>
          <p:nvPr/>
        </p:nvSpPr>
        <p:spPr>
          <a:xfrm>
            <a:off x="548640" y="3657600"/>
            <a:ext cx="7680960" cy="731520"/>
          </a:xfrm>
          <a:prstGeom prst="rect">
            <a:avLst/>
          </a:prstGeom>
          <a:noFill/>
          <a:ln/>
        </p:spPr>
        <p:txBody>
          <a:bodyPr wrap="square" lIns="0" tIns="0" rIns="0" bIns="0" rtlCol="0" anchor="t"/>
          <a:lstStyle/>
          <a:p>
            <a:pPr indent="0" marL="0">
              <a:buNone/>
            </a:pPr>
            <a:r>
              <a:rPr lang="en-US" sz="1500" dirty="0">
                <a:solidFill>
                  <a:srgbClr val="C9D1DB"/>
                </a:solidFill>
                <a:latin typeface="Calibri" pitchFamily="34" charset="0"/>
                <a:ea typeface="Calibri" pitchFamily="34" charset="-122"/>
                <a:cs typeface="Calibri" pitchFamily="34" charset="-120"/>
              </a:rPr>
              <a:t>Etapas, acciones y artefactos que llevan un cambio hasta producción</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292608"/>
            <a:ext cx="8229600" cy="685800"/>
          </a:xfrm>
          <a:prstGeom prst="rect">
            <a:avLst/>
          </a:prstGeom>
          <a:noFill/>
          <a:ln/>
        </p:spPr>
        <p:txBody>
          <a:bodyPr wrap="square" lIns="0" tIns="0" rIns="0" bIns="0" rtlCol="0" anchor="ctr"/>
          <a:lstStyle/>
          <a:p>
            <a:pPr indent="0" marL="0">
              <a:buNone/>
            </a:pPr>
            <a:r>
              <a:rPr lang="en-US" sz="2400" b="1" dirty="0">
                <a:solidFill>
                  <a:srgbClr val="232F3E"/>
                </a:solidFill>
                <a:latin typeface="Arial" pitchFamily="34" charset="0"/>
                <a:ea typeface="Arial" pitchFamily="34" charset="-122"/>
                <a:cs typeface="Arial" pitchFamily="34" charset="-120"/>
              </a:rPr>
              <a:t>Anatomía de una pipeline</a:t>
            </a:r>
            <a:endParaRPr lang="en-US" sz="2400" dirty="0"/>
          </a:p>
        </p:txBody>
      </p:sp>
      <p:sp>
        <p:nvSpPr>
          <p:cNvPr id="3" name="Shape 1"/>
          <p:cNvSpPr/>
          <p:nvPr/>
        </p:nvSpPr>
        <p:spPr>
          <a:xfrm>
            <a:off x="457200" y="1508760"/>
            <a:ext cx="1499616" cy="3108960"/>
          </a:xfrm>
          <a:prstGeom prst="roundRect">
            <a:avLst>
              <a:gd name="adj" fmla="val 4878"/>
            </a:avLst>
          </a:prstGeom>
          <a:solidFill>
            <a:srgbClr val="F3F5F7"/>
          </a:solidFill>
          <a:ln w="12700">
            <a:solidFill>
              <a:srgbClr val="F3F5F7"/>
            </a:solidFill>
            <a:prstDash val="solid"/>
          </a:ln>
        </p:spPr>
      </p:sp>
      <p:sp>
        <p:nvSpPr>
          <p:cNvPr id="4" name="Shape 2"/>
          <p:cNvSpPr/>
          <p:nvPr/>
        </p:nvSpPr>
        <p:spPr>
          <a:xfrm>
            <a:off x="932688" y="1691640"/>
            <a:ext cx="548640" cy="548640"/>
          </a:xfrm>
          <a:prstGeom prst="ellipse">
            <a:avLst/>
          </a:prstGeom>
          <a:solidFill>
            <a:srgbClr val="232F3E"/>
          </a:solidFill>
          <a:ln w="12700">
            <a:solidFill>
              <a:srgbClr val="232F3E"/>
            </a:solidFill>
            <a:prstDash val="solid"/>
          </a:ln>
        </p:spPr>
      </p:sp>
      <p:sp>
        <p:nvSpPr>
          <p:cNvPr id="5" name="Text 3"/>
          <p:cNvSpPr txBox="1"/>
          <p:nvPr/>
        </p:nvSpPr>
        <p:spPr>
          <a:xfrm>
            <a:off x="932688" y="16916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6" name="Text 4"/>
          <p:cNvSpPr txBox="1"/>
          <p:nvPr/>
        </p:nvSpPr>
        <p:spPr>
          <a:xfrm>
            <a:off x="594360" y="2377440"/>
            <a:ext cx="1225296" cy="548640"/>
          </a:xfrm>
          <a:prstGeom prst="rect">
            <a:avLst/>
          </a:prstGeom>
          <a:noFill/>
          <a:ln/>
        </p:spPr>
        <p:txBody>
          <a:bodyPr wrap="square" lIns="0" tIns="0" rIns="0" bIns="0" rtlCol="0" anchor="ctr"/>
          <a:lstStyle/>
          <a:p>
            <a:pPr algn="ctr" indent="0" marL="0">
              <a:buNone/>
            </a:pPr>
            <a:r>
              <a:rPr lang="en-US" sz="1100" b="1" dirty="0">
                <a:solidFill>
                  <a:srgbClr val="232F3E"/>
                </a:solidFill>
                <a:latin typeface="Arial" pitchFamily="34" charset="0"/>
                <a:ea typeface="Arial" pitchFamily="34" charset="-122"/>
                <a:cs typeface="Arial" pitchFamily="34" charset="-120"/>
              </a:rPr>
              <a:t>Source</a:t>
            </a:r>
            <a:endParaRPr lang="en-US" sz="1100" dirty="0"/>
          </a:p>
        </p:txBody>
      </p:sp>
      <p:sp>
        <p:nvSpPr>
          <p:cNvPr id="7" name="Text 5"/>
          <p:cNvSpPr txBox="1"/>
          <p:nvPr/>
        </p:nvSpPr>
        <p:spPr>
          <a:xfrm>
            <a:off x="594360" y="2971800"/>
            <a:ext cx="1225296" cy="1554480"/>
          </a:xfrm>
          <a:prstGeom prst="rect">
            <a:avLst/>
          </a:prstGeom>
          <a:noFill/>
          <a:ln/>
        </p:spPr>
        <p:txBody>
          <a:bodyPr wrap="square" lIns="0" tIns="0" rIns="0" bIns="0" rtlCol="0" anchor="t"/>
          <a:lstStyle/>
          <a:p>
            <a:pPr algn="ctr" indent="0" marL="0">
              <a:buNone/>
            </a:pPr>
            <a:r>
              <a:rPr lang="en-US" sz="1050" dirty="0">
                <a:solidFill>
                  <a:srgbClr val="2B2F38"/>
                </a:solidFill>
                <a:latin typeface="Calibri" pitchFamily="34" charset="0"/>
                <a:ea typeface="Calibri" pitchFamily="34" charset="-122"/>
                <a:cs typeface="Calibri" pitchFamily="34" charset="-120"/>
              </a:rPr>
              <a:t>Repositorio Git o bucket S3. Produce el artefacto de código fuente.</a:t>
            </a:r>
            <a:endParaRPr lang="en-US" sz="1050" dirty="0"/>
          </a:p>
        </p:txBody>
      </p:sp>
      <p:sp>
        <p:nvSpPr>
          <p:cNvPr id="8" name="Shape 6"/>
          <p:cNvSpPr/>
          <p:nvPr/>
        </p:nvSpPr>
        <p:spPr>
          <a:xfrm>
            <a:off x="1527048" y="1965960"/>
            <a:ext cx="1042416" cy="0"/>
          </a:xfrm>
          <a:prstGeom prst="line">
            <a:avLst/>
          </a:prstGeom>
          <a:noFill/>
          <a:ln w="25400">
            <a:solidFill>
              <a:srgbClr val="FF9900"/>
            </a:solidFill>
            <a:prstDash val="solid"/>
            <a:tailEnd type="triangle"/>
          </a:ln>
        </p:spPr>
      </p:sp>
      <p:sp>
        <p:nvSpPr>
          <p:cNvPr id="9" name="Shape 7"/>
          <p:cNvSpPr/>
          <p:nvPr/>
        </p:nvSpPr>
        <p:spPr>
          <a:xfrm>
            <a:off x="2139696" y="1508760"/>
            <a:ext cx="1499616" cy="3108960"/>
          </a:xfrm>
          <a:prstGeom prst="roundRect">
            <a:avLst>
              <a:gd name="adj" fmla="val 4878"/>
            </a:avLst>
          </a:prstGeom>
          <a:solidFill>
            <a:srgbClr val="F3F5F7"/>
          </a:solidFill>
          <a:ln w="12700">
            <a:solidFill>
              <a:srgbClr val="F3F5F7"/>
            </a:solidFill>
            <a:prstDash val="solid"/>
          </a:ln>
        </p:spPr>
      </p:sp>
      <p:sp>
        <p:nvSpPr>
          <p:cNvPr id="10" name="Shape 8"/>
          <p:cNvSpPr/>
          <p:nvPr/>
        </p:nvSpPr>
        <p:spPr>
          <a:xfrm>
            <a:off x="2615184" y="1691640"/>
            <a:ext cx="548640" cy="548640"/>
          </a:xfrm>
          <a:prstGeom prst="ellipse">
            <a:avLst/>
          </a:prstGeom>
          <a:solidFill>
            <a:srgbClr val="232F3E"/>
          </a:solidFill>
          <a:ln w="12700">
            <a:solidFill>
              <a:srgbClr val="232F3E"/>
            </a:solidFill>
            <a:prstDash val="solid"/>
          </a:ln>
        </p:spPr>
      </p:sp>
      <p:sp>
        <p:nvSpPr>
          <p:cNvPr id="11" name="Text 9"/>
          <p:cNvSpPr txBox="1"/>
          <p:nvPr/>
        </p:nvSpPr>
        <p:spPr>
          <a:xfrm>
            <a:off x="2615184" y="16916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2" name="Text 10"/>
          <p:cNvSpPr txBox="1"/>
          <p:nvPr/>
        </p:nvSpPr>
        <p:spPr>
          <a:xfrm>
            <a:off x="2276856" y="2377440"/>
            <a:ext cx="1225296" cy="548640"/>
          </a:xfrm>
          <a:prstGeom prst="rect">
            <a:avLst/>
          </a:prstGeom>
          <a:noFill/>
          <a:ln/>
        </p:spPr>
        <p:txBody>
          <a:bodyPr wrap="square" lIns="0" tIns="0" rIns="0" bIns="0" rtlCol="0" anchor="ctr"/>
          <a:lstStyle/>
          <a:p>
            <a:pPr algn="ctr" indent="0" marL="0">
              <a:buNone/>
            </a:pPr>
            <a:r>
              <a:rPr lang="en-US" sz="1100" b="1" dirty="0">
                <a:solidFill>
                  <a:srgbClr val="232F3E"/>
                </a:solidFill>
                <a:latin typeface="Arial" pitchFamily="34" charset="0"/>
                <a:ea typeface="Arial" pitchFamily="34" charset="-122"/>
                <a:cs typeface="Arial" pitchFamily="34" charset="-120"/>
              </a:rPr>
              <a:t>Build</a:t>
            </a:r>
            <a:endParaRPr lang="en-US" sz="1100" dirty="0"/>
          </a:p>
        </p:txBody>
      </p:sp>
      <p:sp>
        <p:nvSpPr>
          <p:cNvPr id="13" name="Text 11"/>
          <p:cNvSpPr txBox="1"/>
          <p:nvPr/>
        </p:nvSpPr>
        <p:spPr>
          <a:xfrm>
            <a:off x="2276856" y="2971800"/>
            <a:ext cx="1225296" cy="1554480"/>
          </a:xfrm>
          <a:prstGeom prst="rect">
            <a:avLst/>
          </a:prstGeom>
          <a:noFill/>
          <a:ln/>
        </p:spPr>
        <p:txBody>
          <a:bodyPr wrap="square" lIns="0" tIns="0" rIns="0" bIns="0" rtlCol="0" anchor="t"/>
          <a:lstStyle/>
          <a:p>
            <a:pPr algn="ctr" indent="0" marL="0">
              <a:buNone/>
            </a:pPr>
            <a:r>
              <a:rPr lang="en-US" sz="1050" dirty="0">
                <a:solidFill>
                  <a:srgbClr val="2B2F38"/>
                </a:solidFill>
                <a:latin typeface="Calibri" pitchFamily="34" charset="0"/>
                <a:ea typeface="Calibri" pitchFamily="34" charset="-122"/>
                <a:cs typeface="Calibri" pitchFamily="34" charset="-120"/>
              </a:rPr>
              <a:t>CodeBuild: pruebas, empaquetado y plantilla lista para desplegar.</a:t>
            </a:r>
            <a:endParaRPr lang="en-US" sz="1050" dirty="0"/>
          </a:p>
        </p:txBody>
      </p:sp>
      <p:sp>
        <p:nvSpPr>
          <p:cNvPr id="14" name="Shape 12"/>
          <p:cNvSpPr/>
          <p:nvPr/>
        </p:nvSpPr>
        <p:spPr>
          <a:xfrm>
            <a:off x="3209544" y="1965960"/>
            <a:ext cx="1042416" cy="0"/>
          </a:xfrm>
          <a:prstGeom prst="line">
            <a:avLst/>
          </a:prstGeom>
          <a:noFill/>
          <a:ln w="25400">
            <a:solidFill>
              <a:srgbClr val="FF9900"/>
            </a:solidFill>
            <a:prstDash val="solid"/>
            <a:tailEnd type="triangle"/>
          </a:ln>
        </p:spPr>
      </p:sp>
      <p:sp>
        <p:nvSpPr>
          <p:cNvPr id="15" name="Shape 13"/>
          <p:cNvSpPr/>
          <p:nvPr/>
        </p:nvSpPr>
        <p:spPr>
          <a:xfrm>
            <a:off x="3822192" y="1508760"/>
            <a:ext cx="1499616" cy="3108960"/>
          </a:xfrm>
          <a:prstGeom prst="roundRect">
            <a:avLst>
              <a:gd name="adj" fmla="val 4878"/>
            </a:avLst>
          </a:prstGeom>
          <a:solidFill>
            <a:srgbClr val="F3F5F7"/>
          </a:solidFill>
          <a:ln w="12700">
            <a:solidFill>
              <a:srgbClr val="F3F5F7"/>
            </a:solidFill>
            <a:prstDash val="solid"/>
          </a:ln>
        </p:spPr>
      </p:sp>
      <p:sp>
        <p:nvSpPr>
          <p:cNvPr id="16" name="Shape 14"/>
          <p:cNvSpPr/>
          <p:nvPr/>
        </p:nvSpPr>
        <p:spPr>
          <a:xfrm>
            <a:off x="4297680" y="1691640"/>
            <a:ext cx="548640" cy="548640"/>
          </a:xfrm>
          <a:prstGeom prst="ellipse">
            <a:avLst/>
          </a:prstGeom>
          <a:solidFill>
            <a:srgbClr val="232F3E"/>
          </a:solidFill>
          <a:ln w="12700">
            <a:solidFill>
              <a:srgbClr val="232F3E"/>
            </a:solidFill>
            <a:prstDash val="solid"/>
          </a:ln>
        </p:spPr>
      </p:sp>
      <p:sp>
        <p:nvSpPr>
          <p:cNvPr id="17" name="Text 15"/>
          <p:cNvSpPr txBox="1"/>
          <p:nvPr/>
        </p:nvSpPr>
        <p:spPr>
          <a:xfrm>
            <a:off x="4297680" y="16916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18" name="Text 16"/>
          <p:cNvSpPr txBox="1"/>
          <p:nvPr/>
        </p:nvSpPr>
        <p:spPr>
          <a:xfrm>
            <a:off x="3959352" y="2377440"/>
            <a:ext cx="1225296" cy="548640"/>
          </a:xfrm>
          <a:prstGeom prst="rect">
            <a:avLst/>
          </a:prstGeom>
          <a:noFill/>
          <a:ln/>
        </p:spPr>
        <p:txBody>
          <a:bodyPr wrap="square" lIns="0" tIns="0" rIns="0" bIns="0" rtlCol="0" anchor="ctr"/>
          <a:lstStyle/>
          <a:p>
            <a:pPr algn="ctr" indent="0" marL="0">
              <a:buNone/>
            </a:pPr>
            <a:r>
              <a:rPr lang="en-US" sz="1100" b="1" dirty="0">
                <a:solidFill>
                  <a:srgbClr val="232F3E"/>
                </a:solidFill>
                <a:latin typeface="Arial" pitchFamily="34" charset="0"/>
                <a:ea typeface="Arial" pitchFamily="34" charset="-122"/>
                <a:cs typeface="Arial" pitchFamily="34" charset="-120"/>
              </a:rPr>
              <a:t>Deploy pre</a:t>
            </a:r>
            <a:endParaRPr lang="en-US" sz="1100" dirty="0"/>
          </a:p>
        </p:txBody>
      </p:sp>
      <p:sp>
        <p:nvSpPr>
          <p:cNvPr id="19" name="Text 17"/>
          <p:cNvSpPr txBox="1"/>
          <p:nvPr/>
        </p:nvSpPr>
        <p:spPr>
          <a:xfrm>
            <a:off x="3959352" y="2971800"/>
            <a:ext cx="1225296" cy="1554480"/>
          </a:xfrm>
          <a:prstGeom prst="rect">
            <a:avLst/>
          </a:prstGeom>
          <a:noFill/>
          <a:ln/>
        </p:spPr>
        <p:txBody>
          <a:bodyPr wrap="square" lIns="0" tIns="0" rIns="0" bIns="0" rtlCol="0" anchor="t"/>
          <a:lstStyle/>
          <a:p>
            <a:pPr algn="ctr" indent="0" marL="0">
              <a:buNone/>
            </a:pPr>
            <a:r>
              <a:rPr lang="en-US" sz="1050" dirty="0">
                <a:solidFill>
                  <a:srgbClr val="2B2F38"/>
                </a:solidFill>
                <a:latin typeface="Calibri" pitchFamily="34" charset="0"/>
                <a:ea typeface="Calibri" pitchFamily="34" charset="-122"/>
                <a:cs typeface="Calibri" pitchFamily="34" charset="-120"/>
              </a:rPr>
              <a:t>CloudFormation despliega en el entorno de pruebas.</a:t>
            </a:r>
            <a:endParaRPr lang="en-US" sz="1050" dirty="0"/>
          </a:p>
        </p:txBody>
      </p:sp>
      <p:sp>
        <p:nvSpPr>
          <p:cNvPr id="20" name="Shape 18"/>
          <p:cNvSpPr/>
          <p:nvPr/>
        </p:nvSpPr>
        <p:spPr>
          <a:xfrm>
            <a:off x="4892040" y="1965960"/>
            <a:ext cx="1042416" cy="0"/>
          </a:xfrm>
          <a:prstGeom prst="line">
            <a:avLst/>
          </a:prstGeom>
          <a:noFill/>
          <a:ln w="25400">
            <a:solidFill>
              <a:srgbClr val="FF9900"/>
            </a:solidFill>
            <a:prstDash val="solid"/>
            <a:tailEnd type="triangle"/>
          </a:ln>
        </p:spPr>
      </p:sp>
      <p:sp>
        <p:nvSpPr>
          <p:cNvPr id="21" name="Shape 19"/>
          <p:cNvSpPr/>
          <p:nvPr/>
        </p:nvSpPr>
        <p:spPr>
          <a:xfrm>
            <a:off x="5504688" y="1508760"/>
            <a:ext cx="1499616" cy="3108960"/>
          </a:xfrm>
          <a:prstGeom prst="roundRect">
            <a:avLst>
              <a:gd name="adj" fmla="val 4878"/>
            </a:avLst>
          </a:prstGeom>
          <a:solidFill>
            <a:srgbClr val="F3F5F7"/>
          </a:solidFill>
          <a:ln w="12700">
            <a:solidFill>
              <a:srgbClr val="F3F5F7"/>
            </a:solidFill>
            <a:prstDash val="solid"/>
          </a:ln>
        </p:spPr>
      </p:sp>
      <p:sp>
        <p:nvSpPr>
          <p:cNvPr id="22" name="Shape 20"/>
          <p:cNvSpPr/>
          <p:nvPr/>
        </p:nvSpPr>
        <p:spPr>
          <a:xfrm>
            <a:off x="5980176" y="1691640"/>
            <a:ext cx="548640" cy="548640"/>
          </a:xfrm>
          <a:prstGeom prst="ellipse">
            <a:avLst/>
          </a:prstGeom>
          <a:solidFill>
            <a:srgbClr val="232F3E"/>
          </a:solidFill>
          <a:ln w="12700">
            <a:solidFill>
              <a:srgbClr val="232F3E"/>
            </a:solidFill>
            <a:prstDash val="solid"/>
          </a:ln>
        </p:spPr>
      </p:sp>
      <p:sp>
        <p:nvSpPr>
          <p:cNvPr id="23" name="Text 21"/>
          <p:cNvSpPr txBox="1"/>
          <p:nvPr/>
        </p:nvSpPr>
        <p:spPr>
          <a:xfrm>
            <a:off x="5980176" y="16916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4</a:t>
            </a:r>
            <a:endParaRPr lang="en-US" sz="1800" dirty="0"/>
          </a:p>
        </p:txBody>
      </p:sp>
      <p:sp>
        <p:nvSpPr>
          <p:cNvPr id="24" name="Text 22"/>
          <p:cNvSpPr txBox="1"/>
          <p:nvPr/>
        </p:nvSpPr>
        <p:spPr>
          <a:xfrm>
            <a:off x="5641848" y="2377440"/>
            <a:ext cx="1225296" cy="548640"/>
          </a:xfrm>
          <a:prstGeom prst="rect">
            <a:avLst/>
          </a:prstGeom>
          <a:noFill/>
          <a:ln/>
        </p:spPr>
        <p:txBody>
          <a:bodyPr wrap="square" lIns="0" tIns="0" rIns="0" bIns="0" rtlCol="0" anchor="ctr"/>
          <a:lstStyle/>
          <a:p>
            <a:pPr algn="ctr" indent="0" marL="0">
              <a:buNone/>
            </a:pPr>
            <a:r>
              <a:rPr lang="en-US" sz="1100" b="1" dirty="0">
                <a:solidFill>
                  <a:srgbClr val="232F3E"/>
                </a:solidFill>
                <a:latin typeface="Arial" pitchFamily="34" charset="0"/>
                <a:ea typeface="Arial" pitchFamily="34" charset="-122"/>
                <a:cs typeface="Arial" pitchFamily="34" charset="-120"/>
              </a:rPr>
              <a:t>Aprobación</a:t>
            </a:r>
            <a:endParaRPr lang="en-US" sz="1100" dirty="0"/>
          </a:p>
        </p:txBody>
      </p:sp>
      <p:sp>
        <p:nvSpPr>
          <p:cNvPr id="25" name="Text 23"/>
          <p:cNvSpPr txBox="1"/>
          <p:nvPr/>
        </p:nvSpPr>
        <p:spPr>
          <a:xfrm>
            <a:off x="5641848" y="2971800"/>
            <a:ext cx="1225296" cy="1554480"/>
          </a:xfrm>
          <a:prstGeom prst="rect">
            <a:avLst/>
          </a:prstGeom>
          <a:noFill/>
          <a:ln/>
        </p:spPr>
        <p:txBody>
          <a:bodyPr wrap="square" lIns="0" tIns="0" rIns="0" bIns="0" rtlCol="0" anchor="t"/>
          <a:lstStyle/>
          <a:p>
            <a:pPr algn="ctr" indent="0" marL="0">
              <a:buNone/>
            </a:pPr>
            <a:r>
              <a:rPr lang="en-US" sz="1050" dirty="0">
                <a:solidFill>
                  <a:srgbClr val="2B2F38"/>
                </a:solidFill>
                <a:latin typeface="Calibri" pitchFamily="34" charset="0"/>
                <a:ea typeface="Calibri" pitchFamily="34" charset="-122"/>
                <a:cs typeface="Calibri" pitchFamily="34" charset="-120"/>
              </a:rPr>
              <a:t>Acción manual con notificación y comentario.</a:t>
            </a:r>
            <a:endParaRPr lang="en-US" sz="1050" dirty="0"/>
          </a:p>
        </p:txBody>
      </p:sp>
      <p:sp>
        <p:nvSpPr>
          <p:cNvPr id="26" name="Shape 24"/>
          <p:cNvSpPr/>
          <p:nvPr/>
        </p:nvSpPr>
        <p:spPr>
          <a:xfrm>
            <a:off x="6574536" y="1965960"/>
            <a:ext cx="1042416" cy="0"/>
          </a:xfrm>
          <a:prstGeom prst="line">
            <a:avLst/>
          </a:prstGeom>
          <a:noFill/>
          <a:ln w="25400">
            <a:solidFill>
              <a:srgbClr val="FF9900"/>
            </a:solidFill>
            <a:prstDash val="solid"/>
            <a:tailEnd type="triangle"/>
          </a:ln>
        </p:spPr>
      </p:sp>
      <p:sp>
        <p:nvSpPr>
          <p:cNvPr id="27" name="Shape 25"/>
          <p:cNvSpPr/>
          <p:nvPr/>
        </p:nvSpPr>
        <p:spPr>
          <a:xfrm>
            <a:off x="7187184" y="1508760"/>
            <a:ext cx="1499616" cy="3108960"/>
          </a:xfrm>
          <a:prstGeom prst="roundRect">
            <a:avLst>
              <a:gd name="adj" fmla="val 4878"/>
            </a:avLst>
          </a:prstGeom>
          <a:solidFill>
            <a:srgbClr val="F3F5F7"/>
          </a:solidFill>
          <a:ln w="12700">
            <a:solidFill>
              <a:srgbClr val="F3F5F7"/>
            </a:solidFill>
            <a:prstDash val="solid"/>
          </a:ln>
        </p:spPr>
      </p:sp>
      <p:sp>
        <p:nvSpPr>
          <p:cNvPr id="28" name="Shape 26"/>
          <p:cNvSpPr/>
          <p:nvPr/>
        </p:nvSpPr>
        <p:spPr>
          <a:xfrm>
            <a:off x="7662672" y="1691640"/>
            <a:ext cx="548640" cy="548640"/>
          </a:xfrm>
          <a:prstGeom prst="ellipse">
            <a:avLst/>
          </a:prstGeom>
          <a:solidFill>
            <a:srgbClr val="232F3E"/>
          </a:solidFill>
          <a:ln w="12700">
            <a:solidFill>
              <a:srgbClr val="232F3E"/>
            </a:solidFill>
            <a:prstDash val="solid"/>
          </a:ln>
        </p:spPr>
      </p:sp>
      <p:sp>
        <p:nvSpPr>
          <p:cNvPr id="29" name="Text 27"/>
          <p:cNvSpPr txBox="1"/>
          <p:nvPr/>
        </p:nvSpPr>
        <p:spPr>
          <a:xfrm>
            <a:off x="7662672" y="16916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5</a:t>
            </a:r>
            <a:endParaRPr lang="en-US" sz="1800" dirty="0"/>
          </a:p>
        </p:txBody>
      </p:sp>
      <p:sp>
        <p:nvSpPr>
          <p:cNvPr id="30" name="Text 28"/>
          <p:cNvSpPr txBox="1"/>
          <p:nvPr/>
        </p:nvSpPr>
        <p:spPr>
          <a:xfrm>
            <a:off x="7324344" y="2377440"/>
            <a:ext cx="1225296" cy="548640"/>
          </a:xfrm>
          <a:prstGeom prst="rect">
            <a:avLst/>
          </a:prstGeom>
          <a:noFill/>
          <a:ln/>
        </p:spPr>
        <p:txBody>
          <a:bodyPr wrap="square" lIns="0" tIns="0" rIns="0" bIns="0" rtlCol="0" anchor="ctr"/>
          <a:lstStyle/>
          <a:p>
            <a:pPr algn="ctr" indent="0" marL="0">
              <a:buNone/>
            </a:pPr>
            <a:r>
              <a:rPr lang="en-US" sz="1100" b="1" dirty="0">
                <a:solidFill>
                  <a:srgbClr val="232F3E"/>
                </a:solidFill>
                <a:latin typeface="Arial" pitchFamily="34" charset="0"/>
                <a:ea typeface="Arial" pitchFamily="34" charset="-122"/>
                <a:cs typeface="Arial" pitchFamily="34" charset="-120"/>
              </a:rPr>
              <a:t>Deploy pro</a:t>
            </a:r>
            <a:endParaRPr lang="en-US" sz="1100" dirty="0"/>
          </a:p>
        </p:txBody>
      </p:sp>
      <p:sp>
        <p:nvSpPr>
          <p:cNvPr id="31" name="Text 29"/>
          <p:cNvSpPr txBox="1"/>
          <p:nvPr/>
        </p:nvSpPr>
        <p:spPr>
          <a:xfrm>
            <a:off x="7324344" y="2971800"/>
            <a:ext cx="1225296" cy="1554480"/>
          </a:xfrm>
          <a:prstGeom prst="rect">
            <a:avLst/>
          </a:prstGeom>
          <a:noFill/>
          <a:ln/>
        </p:spPr>
        <p:txBody>
          <a:bodyPr wrap="square" lIns="0" tIns="0" rIns="0" bIns="0" rtlCol="0" anchor="t"/>
          <a:lstStyle/>
          <a:p>
            <a:pPr algn="ctr" indent="0" marL="0">
              <a:buNone/>
            </a:pPr>
            <a:r>
              <a:rPr lang="en-US" sz="1050" dirty="0">
                <a:solidFill>
                  <a:srgbClr val="2B2F38"/>
                </a:solidFill>
                <a:latin typeface="Calibri" pitchFamily="34" charset="0"/>
                <a:ea typeface="Calibri" pitchFamily="34" charset="-122"/>
                <a:cs typeface="Calibri" pitchFamily="34" charset="-120"/>
              </a:rPr>
              <a:t>Mismo artefacto, parámetros de producción.</a:t>
            </a:r>
            <a:endParaRPr lang="en-US" sz="1050" dirty="0"/>
          </a:p>
        </p:txBody>
      </p:sp>
      <p:sp>
        <p:nvSpPr>
          <p:cNvPr id="32" name="Text 30"/>
          <p:cNvSpPr txBox="1"/>
          <p:nvPr/>
        </p:nvSpPr>
        <p:spPr>
          <a:xfrm>
            <a:off x="457200" y="4773168"/>
            <a:ext cx="6400800" cy="228600"/>
          </a:xfrm>
          <a:prstGeom prst="rect">
            <a:avLst/>
          </a:prstGeom>
          <a:noFill/>
          <a:ln/>
        </p:spPr>
        <p:txBody>
          <a:bodyPr wrap="square" lIns="0" tIns="0" rIns="0" bIns="0" rtlCol="0" anchor="t"/>
          <a:lstStyle/>
          <a:p>
            <a:pPr indent="0" marL="0">
              <a:buNone/>
            </a:pPr>
            <a:r>
              <a:rPr lang="en-US" sz="900" dirty="0">
                <a:solidFill>
                  <a:srgbClr val="8A8F98"/>
                </a:solidFill>
                <a:latin typeface="Calibri" pitchFamily="34" charset="0"/>
                <a:ea typeface="Calibri" pitchFamily="34" charset="-122"/>
                <a:cs typeface="Calibri" pitchFamily="34" charset="-120"/>
              </a:rPr>
              <a:t>DevOps en AWS  ·  Sesión 2</a:t>
            </a:r>
            <a:endParaRPr lang="en-US" sz="900" dirty="0"/>
          </a:p>
        </p:txBody>
      </p:sp>
      <p:sp>
        <p:nvSpPr>
          <p:cNvPr id="33" name="Text 31"/>
          <p:cNvSpPr txBox="1"/>
          <p:nvPr/>
        </p:nvSpPr>
        <p:spPr>
          <a:xfrm>
            <a:off x="8138160" y="4773168"/>
            <a:ext cx="548640" cy="228600"/>
          </a:xfrm>
          <a:prstGeom prst="rect">
            <a:avLst/>
          </a:prstGeom>
          <a:noFill/>
          <a:ln/>
        </p:spPr>
        <p:txBody>
          <a:bodyPr wrap="square" lIns="0" tIns="0" rIns="0" bIns="0" rtlCol="0" anchor="t"/>
          <a:lstStyle/>
          <a:p>
            <a:pPr algn="r" indent="0" marL="0">
              <a:buNone/>
            </a:pPr>
            <a:r>
              <a:rPr lang="en-US" sz="900" dirty="0">
                <a:solidFill>
                  <a:srgbClr val="8A8F98"/>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292608"/>
            <a:ext cx="8229600" cy="685800"/>
          </a:xfrm>
          <a:prstGeom prst="rect">
            <a:avLst/>
          </a:prstGeom>
          <a:noFill/>
          <a:ln/>
        </p:spPr>
        <p:txBody>
          <a:bodyPr wrap="square" lIns="0" tIns="0" rIns="0" bIns="0" rtlCol="0" anchor="ctr"/>
          <a:lstStyle/>
          <a:p>
            <a:pPr indent="0" marL="0">
              <a:buNone/>
            </a:pPr>
            <a:r>
              <a:rPr lang="en-US" sz="2400" b="1" dirty="0">
                <a:solidFill>
                  <a:srgbClr val="232F3E"/>
                </a:solidFill>
                <a:latin typeface="Arial" pitchFamily="34" charset="0"/>
                <a:ea typeface="Arial" pitchFamily="34" charset="-122"/>
                <a:cs typeface="Arial" pitchFamily="34" charset="-120"/>
              </a:rPr>
              <a:t>Capacidades de CodePipeline tipo V2</a:t>
            </a:r>
            <a:endParaRPr lang="en-US" sz="2400" dirty="0"/>
          </a:p>
        </p:txBody>
      </p:sp>
      <p:sp>
        <p:nvSpPr>
          <p:cNvPr id="3" name="Shape 1"/>
          <p:cNvSpPr/>
          <p:nvPr/>
        </p:nvSpPr>
        <p:spPr>
          <a:xfrm>
            <a:off x="457200" y="1143000"/>
            <a:ext cx="2590800" cy="1623060"/>
          </a:xfrm>
          <a:prstGeom prst="roundRect">
            <a:avLst>
              <a:gd name="adj" fmla="val 4507"/>
            </a:avLst>
          </a:prstGeom>
          <a:solidFill>
            <a:srgbClr val="F3F5F7"/>
          </a:solidFill>
          <a:ln w="12700">
            <a:solidFill>
              <a:srgbClr val="F3F5F7"/>
            </a:solidFill>
            <a:prstDash val="solid"/>
          </a:ln>
        </p:spPr>
      </p:sp>
      <p:sp>
        <p:nvSpPr>
          <p:cNvPr id="4" name="Shape 2"/>
          <p:cNvSpPr/>
          <p:nvPr/>
        </p:nvSpPr>
        <p:spPr>
          <a:xfrm>
            <a:off x="640080" y="1325880"/>
            <a:ext cx="384048" cy="384048"/>
          </a:xfrm>
          <a:prstGeom prst="ellipse">
            <a:avLst/>
          </a:prstGeom>
          <a:solidFill>
            <a:srgbClr val="FF9900"/>
          </a:solidFill>
          <a:ln w="12700">
            <a:solidFill>
              <a:srgbClr val="FF9900"/>
            </a:solidFill>
            <a:prstDash val="solid"/>
          </a:ln>
        </p:spPr>
      </p:sp>
      <p:sp>
        <p:nvSpPr>
          <p:cNvPr id="5" name="Text 3"/>
          <p:cNvSpPr txBox="1"/>
          <p:nvPr/>
        </p:nvSpPr>
        <p:spPr>
          <a:xfrm>
            <a:off x="640080" y="1325880"/>
            <a:ext cx="384048" cy="384048"/>
          </a:xfrm>
          <a:prstGeom prst="rect">
            <a:avLst/>
          </a:prstGeom>
          <a:noFill/>
          <a:ln/>
        </p:spPr>
        <p:txBody>
          <a:bodyPr wrap="square" lIns="0" tIns="0" rIns="0" bIns="0" rtlCol="0" anchor="ctr"/>
          <a:lstStyle/>
          <a:p>
            <a:pPr algn="ctr" indent="0" marL="0">
              <a:buNone/>
            </a:pPr>
            <a:r>
              <a:rPr lang="en-US" sz="1300" b="1" dirty="0">
                <a:solidFill>
                  <a:srgbClr val="232F3E"/>
                </a:solidFill>
                <a:latin typeface="Arial" pitchFamily="34" charset="0"/>
                <a:ea typeface="Arial" pitchFamily="34" charset="-122"/>
                <a:cs typeface="Arial" pitchFamily="34" charset="-120"/>
              </a:rPr>
              <a:t>1</a:t>
            </a:r>
            <a:endParaRPr lang="en-US" sz="1300" dirty="0"/>
          </a:p>
        </p:txBody>
      </p:sp>
      <p:sp>
        <p:nvSpPr>
          <p:cNvPr id="6" name="Text 4"/>
          <p:cNvSpPr txBox="1"/>
          <p:nvPr/>
        </p:nvSpPr>
        <p:spPr>
          <a:xfrm>
            <a:off x="1143000" y="1298448"/>
            <a:ext cx="1767840" cy="457200"/>
          </a:xfrm>
          <a:prstGeom prst="rect">
            <a:avLst/>
          </a:prstGeom>
          <a:noFill/>
          <a:ln/>
        </p:spPr>
        <p:txBody>
          <a:bodyPr wrap="square" lIns="0" tIns="0" rIns="0" bIns="0" rtlCol="0" anchor="ctr"/>
          <a:lstStyle/>
          <a:p>
            <a:pPr indent="0" marL="0">
              <a:buNone/>
            </a:pPr>
            <a:r>
              <a:rPr lang="en-US" sz="1350" b="1" dirty="0">
                <a:solidFill>
                  <a:srgbClr val="232F3E"/>
                </a:solidFill>
                <a:latin typeface="Arial" pitchFamily="34" charset="0"/>
                <a:ea typeface="Arial" pitchFamily="34" charset="-122"/>
                <a:cs typeface="Arial" pitchFamily="34" charset="-120"/>
              </a:rPr>
              <a:t>Disparadores Git</a:t>
            </a:r>
            <a:endParaRPr lang="en-US" sz="1350" dirty="0"/>
          </a:p>
        </p:txBody>
      </p:sp>
      <p:sp>
        <p:nvSpPr>
          <p:cNvPr id="7" name="Text 5"/>
          <p:cNvSpPr txBox="1"/>
          <p:nvPr/>
        </p:nvSpPr>
        <p:spPr>
          <a:xfrm>
            <a:off x="658368" y="1856232"/>
            <a:ext cx="2206752" cy="800100"/>
          </a:xfrm>
          <a:prstGeom prst="rect">
            <a:avLst/>
          </a:prstGeom>
          <a:noFill/>
          <a:ln/>
        </p:spPr>
        <p:txBody>
          <a:bodyPr wrap="square" lIns="0" tIns="0" rIns="0" bIns="0" rtlCol="0" anchor="t"/>
          <a:lstStyle/>
          <a:p>
            <a:pPr indent="0" marL="0">
              <a:buNone/>
            </a:pPr>
            <a:r>
              <a:rPr lang="en-US" sz="1100" dirty="0">
                <a:solidFill>
                  <a:srgbClr val="2B2F38"/>
                </a:solidFill>
                <a:latin typeface="Calibri" pitchFamily="34" charset="0"/>
                <a:ea typeface="Calibri" pitchFamily="34" charset="-122"/>
                <a:cs typeface="Calibri" pitchFamily="34" charset="-120"/>
              </a:rPr>
              <a:t>Filtrar ejecuciones por rama, etiqueta o rutas de ficheros modificados.</a:t>
            </a:r>
            <a:endParaRPr lang="en-US" sz="1100" dirty="0"/>
          </a:p>
        </p:txBody>
      </p:sp>
      <p:sp>
        <p:nvSpPr>
          <p:cNvPr id="8" name="Shape 6"/>
          <p:cNvSpPr/>
          <p:nvPr/>
        </p:nvSpPr>
        <p:spPr>
          <a:xfrm>
            <a:off x="3276600" y="1143000"/>
            <a:ext cx="2590800" cy="1623060"/>
          </a:xfrm>
          <a:prstGeom prst="roundRect">
            <a:avLst>
              <a:gd name="adj" fmla="val 4507"/>
            </a:avLst>
          </a:prstGeom>
          <a:solidFill>
            <a:srgbClr val="F3F5F7"/>
          </a:solidFill>
          <a:ln w="12700">
            <a:solidFill>
              <a:srgbClr val="F3F5F7"/>
            </a:solidFill>
            <a:prstDash val="solid"/>
          </a:ln>
        </p:spPr>
      </p:sp>
      <p:sp>
        <p:nvSpPr>
          <p:cNvPr id="9" name="Shape 7"/>
          <p:cNvSpPr/>
          <p:nvPr/>
        </p:nvSpPr>
        <p:spPr>
          <a:xfrm>
            <a:off x="3459480" y="1325880"/>
            <a:ext cx="384048" cy="384048"/>
          </a:xfrm>
          <a:prstGeom prst="ellipse">
            <a:avLst/>
          </a:prstGeom>
          <a:solidFill>
            <a:srgbClr val="FF9900"/>
          </a:solidFill>
          <a:ln w="12700">
            <a:solidFill>
              <a:srgbClr val="FF9900"/>
            </a:solidFill>
            <a:prstDash val="solid"/>
          </a:ln>
        </p:spPr>
      </p:sp>
      <p:sp>
        <p:nvSpPr>
          <p:cNvPr id="10" name="Text 8"/>
          <p:cNvSpPr txBox="1"/>
          <p:nvPr/>
        </p:nvSpPr>
        <p:spPr>
          <a:xfrm>
            <a:off x="3459480" y="1325880"/>
            <a:ext cx="384048" cy="384048"/>
          </a:xfrm>
          <a:prstGeom prst="rect">
            <a:avLst/>
          </a:prstGeom>
          <a:noFill/>
          <a:ln/>
        </p:spPr>
        <p:txBody>
          <a:bodyPr wrap="square" lIns="0" tIns="0" rIns="0" bIns="0" rtlCol="0" anchor="ctr"/>
          <a:lstStyle/>
          <a:p>
            <a:pPr algn="ctr" indent="0" marL="0">
              <a:buNone/>
            </a:pPr>
            <a:r>
              <a:rPr lang="en-US" sz="1300" b="1" dirty="0">
                <a:solidFill>
                  <a:srgbClr val="232F3E"/>
                </a:solidFill>
                <a:latin typeface="Arial" pitchFamily="34" charset="0"/>
                <a:ea typeface="Arial" pitchFamily="34" charset="-122"/>
                <a:cs typeface="Arial" pitchFamily="34" charset="-120"/>
              </a:rPr>
              <a:t>2</a:t>
            </a:r>
            <a:endParaRPr lang="en-US" sz="1300" dirty="0"/>
          </a:p>
        </p:txBody>
      </p:sp>
      <p:sp>
        <p:nvSpPr>
          <p:cNvPr id="11" name="Text 9"/>
          <p:cNvSpPr txBox="1"/>
          <p:nvPr/>
        </p:nvSpPr>
        <p:spPr>
          <a:xfrm>
            <a:off x="3962400" y="1298448"/>
            <a:ext cx="1767840" cy="457200"/>
          </a:xfrm>
          <a:prstGeom prst="rect">
            <a:avLst/>
          </a:prstGeom>
          <a:noFill/>
          <a:ln/>
        </p:spPr>
        <p:txBody>
          <a:bodyPr wrap="square" lIns="0" tIns="0" rIns="0" bIns="0" rtlCol="0" anchor="ctr"/>
          <a:lstStyle/>
          <a:p>
            <a:pPr indent="0" marL="0">
              <a:buNone/>
            </a:pPr>
            <a:r>
              <a:rPr lang="en-US" sz="1350" b="1" dirty="0">
                <a:solidFill>
                  <a:srgbClr val="232F3E"/>
                </a:solidFill>
                <a:latin typeface="Arial" pitchFamily="34" charset="0"/>
                <a:ea typeface="Arial" pitchFamily="34" charset="-122"/>
                <a:cs typeface="Arial" pitchFamily="34" charset="-120"/>
              </a:rPr>
              <a:t>Variables</a:t>
            </a:r>
            <a:endParaRPr lang="en-US" sz="1350" dirty="0"/>
          </a:p>
        </p:txBody>
      </p:sp>
      <p:sp>
        <p:nvSpPr>
          <p:cNvPr id="12" name="Text 10"/>
          <p:cNvSpPr txBox="1"/>
          <p:nvPr/>
        </p:nvSpPr>
        <p:spPr>
          <a:xfrm>
            <a:off x="3477768" y="1856232"/>
            <a:ext cx="2206752" cy="800100"/>
          </a:xfrm>
          <a:prstGeom prst="rect">
            <a:avLst/>
          </a:prstGeom>
          <a:noFill/>
          <a:ln/>
        </p:spPr>
        <p:txBody>
          <a:bodyPr wrap="square" lIns="0" tIns="0" rIns="0" bIns="0" rtlCol="0" anchor="t"/>
          <a:lstStyle/>
          <a:p>
            <a:pPr indent="0" marL="0">
              <a:buNone/>
            </a:pPr>
            <a:r>
              <a:rPr lang="en-US" sz="1100" dirty="0">
                <a:solidFill>
                  <a:srgbClr val="2B2F38"/>
                </a:solidFill>
                <a:latin typeface="Calibri" pitchFamily="34" charset="0"/>
                <a:ea typeface="Calibri" pitchFamily="34" charset="-122"/>
                <a:cs typeface="Calibri" pitchFamily="34" charset="-120"/>
              </a:rPr>
              <a:t>Variables a nivel de pipeline y de acción, visibles en el historial.</a:t>
            </a:r>
            <a:endParaRPr lang="en-US" sz="1100" dirty="0"/>
          </a:p>
        </p:txBody>
      </p:sp>
      <p:sp>
        <p:nvSpPr>
          <p:cNvPr id="13" name="Shape 11"/>
          <p:cNvSpPr/>
          <p:nvPr/>
        </p:nvSpPr>
        <p:spPr>
          <a:xfrm>
            <a:off x="6096000" y="1143000"/>
            <a:ext cx="2590800" cy="1623060"/>
          </a:xfrm>
          <a:prstGeom prst="roundRect">
            <a:avLst>
              <a:gd name="adj" fmla="val 4507"/>
            </a:avLst>
          </a:prstGeom>
          <a:solidFill>
            <a:srgbClr val="F3F5F7"/>
          </a:solidFill>
          <a:ln w="12700">
            <a:solidFill>
              <a:srgbClr val="F3F5F7"/>
            </a:solidFill>
            <a:prstDash val="solid"/>
          </a:ln>
        </p:spPr>
      </p:sp>
      <p:sp>
        <p:nvSpPr>
          <p:cNvPr id="14" name="Shape 12"/>
          <p:cNvSpPr/>
          <p:nvPr/>
        </p:nvSpPr>
        <p:spPr>
          <a:xfrm>
            <a:off x="6278880" y="1325880"/>
            <a:ext cx="384048" cy="384048"/>
          </a:xfrm>
          <a:prstGeom prst="ellipse">
            <a:avLst/>
          </a:prstGeom>
          <a:solidFill>
            <a:srgbClr val="FF9900"/>
          </a:solidFill>
          <a:ln w="12700">
            <a:solidFill>
              <a:srgbClr val="FF9900"/>
            </a:solidFill>
            <a:prstDash val="solid"/>
          </a:ln>
        </p:spPr>
      </p:sp>
      <p:sp>
        <p:nvSpPr>
          <p:cNvPr id="15" name="Text 13"/>
          <p:cNvSpPr txBox="1"/>
          <p:nvPr/>
        </p:nvSpPr>
        <p:spPr>
          <a:xfrm>
            <a:off x="6278880" y="1325880"/>
            <a:ext cx="384048" cy="384048"/>
          </a:xfrm>
          <a:prstGeom prst="rect">
            <a:avLst/>
          </a:prstGeom>
          <a:noFill/>
          <a:ln/>
        </p:spPr>
        <p:txBody>
          <a:bodyPr wrap="square" lIns="0" tIns="0" rIns="0" bIns="0" rtlCol="0" anchor="ctr"/>
          <a:lstStyle/>
          <a:p>
            <a:pPr algn="ctr" indent="0" marL="0">
              <a:buNone/>
            </a:pPr>
            <a:r>
              <a:rPr lang="en-US" sz="1300" b="1" dirty="0">
                <a:solidFill>
                  <a:srgbClr val="232F3E"/>
                </a:solidFill>
                <a:latin typeface="Arial" pitchFamily="34" charset="0"/>
                <a:ea typeface="Arial" pitchFamily="34" charset="-122"/>
                <a:cs typeface="Arial" pitchFamily="34" charset="-120"/>
              </a:rPr>
              <a:t>3</a:t>
            </a:r>
            <a:endParaRPr lang="en-US" sz="1300" dirty="0"/>
          </a:p>
        </p:txBody>
      </p:sp>
      <p:sp>
        <p:nvSpPr>
          <p:cNvPr id="16" name="Text 14"/>
          <p:cNvSpPr txBox="1"/>
          <p:nvPr/>
        </p:nvSpPr>
        <p:spPr>
          <a:xfrm>
            <a:off x="6781800" y="1298448"/>
            <a:ext cx="1767840" cy="457200"/>
          </a:xfrm>
          <a:prstGeom prst="rect">
            <a:avLst/>
          </a:prstGeom>
          <a:noFill/>
          <a:ln/>
        </p:spPr>
        <p:txBody>
          <a:bodyPr wrap="square" lIns="0" tIns="0" rIns="0" bIns="0" rtlCol="0" anchor="ctr"/>
          <a:lstStyle/>
          <a:p>
            <a:pPr indent="0" marL="0">
              <a:buNone/>
            </a:pPr>
            <a:r>
              <a:rPr lang="en-US" sz="1350" b="1" dirty="0">
                <a:solidFill>
                  <a:srgbClr val="232F3E"/>
                </a:solidFill>
                <a:latin typeface="Arial" pitchFamily="34" charset="0"/>
                <a:ea typeface="Arial" pitchFamily="34" charset="-122"/>
                <a:cs typeface="Arial" pitchFamily="34" charset="-120"/>
              </a:rPr>
              <a:t>Modos de ejecución</a:t>
            </a:r>
            <a:endParaRPr lang="en-US" sz="1350" dirty="0"/>
          </a:p>
        </p:txBody>
      </p:sp>
      <p:sp>
        <p:nvSpPr>
          <p:cNvPr id="17" name="Text 15"/>
          <p:cNvSpPr txBox="1"/>
          <p:nvPr/>
        </p:nvSpPr>
        <p:spPr>
          <a:xfrm>
            <a:off x="6297168" y="1856232"/>
            <a:ext cx="2206752" cy="800100"/>
          </a:xfrm>
          <a:prstGeom prst="rect">
            <a:avLst/>
          </a:prstGeom>
          <a:noFill/>
          <a:ln/>
        </p:spPr>
        <p:txBody>
          <a:bodyPr wrap="square" lIns="0" tIns="0" rIns="0" bIns="0" rtlCol="0" anchor="t"/>
          <a:lstStyle/>
          <a:p>
            <a:pPr indent="0" marL="0">
              <a:buNone/>
            </a:pPr>
            <a:r>
              <a:rPr lang="en-US" sz="1100" dirty="0">
                <a:solidFill>
                  <a:srgbClr val="2B2F38"/>
                </a:solidFill>
                <a:latin typeface="Calibri" pitchFamily="34" charset="0"/>
                <a:ea typeface="Calibri" pitchFamily="34" charset="-122"/>
                <a:cs typeface="Calibri" pitchFamily="34" charset="-120"/>
              </a:rPr>
              <a:t>Superseded, queued o parallel según cómo se deban tratar ejecuciones solapadas.</a:t>
            </a:r>
            <a:endParaRPr lang="en-US" sz="1100" dirty="0"/>
          </a:p>
        </p:txBody>
      </p:sp>
      <p:sp>
        <p:nvSpPr>
          <p:cNvPr id="18" name="Shape 16"/>
          <p:cNvSpPr/>
          <p:nvPr/>
        </p:nvSpPr>
        <p:spPr>
          <a:xfrm>
            <a:off x="457200" y="2994660"/>
            <a:ext cx="2590800" cy="1623060"/>
          </a:xfrm>
          <a:prstGeom prst="roundRect">
            <a:avLst>
              <a:gd name="adj" fmla="val 4507"/>
            </a:avLst>
          </a:prstGeom>
          <a:solidFill>
            <a:srgbClr val="F3F5F7"/>
          </a:solidFill>
          <a:ln w="12700">
            <a:solidFill>
              <a:srgbClr val="F3F5F7"/>
            </a:solidFill>
            <a:prstDash val="solid"/>
          </a:ln>
        </p:spPr>
      </p:sp>
      <p:sp>
        <p:nvSpPr>
          <p:cNvPr id="19" name="Shape 17"/>
          <p:cNvSpPr/>
          <p:nvPr/>
        </p:nvSpPr>
        <p:spPr>
          <a:xfrm>
            <a:off x="640080" y="3177540"/>
            <a:ext cx="384048" cy="384048"/>
          </a:xfrm>
          <a:prstGeom prst="ellipse">
            <a:avLst/>
          </a:prstGeom>
          <a:solidFill>
            <a:srgbClr val="FF9900"/>
          </a:solidFill>
          <a:ln w="12700">
            <a:solidFill>
              <a:srgbClr val="FF9900"/>
            </a:solidFill>
            <a:prstDash val="solid"/>
          </a:ln>
        </p:spPr>
      </p:sp>
      <p:sp>
        <p:nvSpPr>
          <p:cNvPr id="20" name="Text 18"/>
          <p:cNvSpPr txBox="1"/>
          <p:nvPr/>
        </p:nvSpPr>
        <p:spPr>
          <a:xfrm>
            <a:off x="640080" y="3177540"/>
            <a:ext cx="384048" cy="384048"/>
          </a:xfrm>
          <a:prstGeom prst="rect">
            <a:avLst/>
          </a:prstGeom>
          <a:noFill/>
          <a:ln/>
        </p:spPr>
        <p:txBody>
          <a:bodyPr wrap="square" lIns="0" tIns="0" rIns="0" bIns="0" rtlCol="0" anchor="ctr"/>
          <a:lstStyle/>
          <a:p>
            <a:pPr algn="ctr" indent="0" marL="0">
              <a:buNone/>
            </a:pPr>
            <a:r>
              <a:rPr lang="en-US" sz="1300" b="1" dirty="0">
                <a:solidFill>
                  <a:srgbClr val="232F3E"/>
                </a:solidFill>
                <a:latin typeface="Arial" pitchFamily="34" charset="0"/>
                <a:ea typeface="Arial" pitchFamily="34" charset="-122"/>
                <a:cs typeface="Arial" pitchFamily="34" charset="-120"/>
              </a:rPr>
              <a:t>4</a:t>
            </a:r>
            <a:endParaRPr lang="en-US" sz="1300" dirty="0"/>
          </a:p>
        </p:txBody>
      </p:sp>
      <p:sp>
        <p:nvSpPr>
          <p:cNvPr id="21" name="Text 19"/>
          <p:cNvSpPr txBox="1"/>
          <p:nvPr/>
        </p:nvSpPr>
        <p:spPr>
          <a:xfrm>
            <a:off x="1143000" y="3150108"/>
            <a:ext cx="1767840" cy="457200"/>
          </a:xfrm>
          <a:prstGeom prst="rect">
            <a:avLst/>
          </a:prstGeom>
          <a:noFill/>
          <a:ln/>
        </p:spPr>
        <p:txBody>
          <a:bodyPr wrap="square" lIns="0" tIns="0" rIns="0" bIns="0" rtlCol="0" anchor="ctr"/>
          <a:lstStyle/>
          <a:p>
            <a:pPr indent="0" marL="0">
              <a:buNone/>
            </a:pPr>
            <a:r>
              <a:rPr lang="en-US" sz="1350" b="1" dirty="0">
                <a:solidFill>
                  <a:srgbClr val="232F3E"/>
                </a:solidFill>
                <a:latin typeface="Arial" pitchFamily="34" charset="0"/>
                <a:ea typeface="Arial" pitchFamily="34" charset="-122"/>
                <a:cs typeface="Arial" pitchFamily="34" charset="-120"/>
              </a:rPr>
              <a:t>Rollback de etapa</a:t>
            </a:r>
            <a:endParaRPr lang="en-US" sz="1350" dirty="0"/>
          </a:p>
        </p:txBody>
      </p:sp>
      <p:sp>
        <p:nvSpPr>
          <p:cNvPr id="22" name="Text 20"/>
          <p:cNvSpPr txBox="1"/>
          <p:nvPr/>
        </p:nvSpPr>
        <p:spPr>
          <a:xfrm>
            <a:off x="658368" y="3707892"/>
            <a:ext cx="2206752" cy="800100"/>
          </a:xfrm>
          <a:prstGeom prst="rect">
            <a:avLst/>
          </a:prstGeom>
          <a:noFill/>
          <a:ln/>
        </p:spPr>
        <p:txBody>
          <a:bodyPr wrap="square" lIns="0" tIns="0" rIns="0" bIns="0" rtlCol="0" anchor="t"/>
          <a:lstStyle/>
          <a:p>
            <a:pPr indent="0" marL="0">
              <a:buNone/>
            </a:pPr>
            <a:r>
              <a:rPr lang="en-US" sz="1100" dirty="0">
                <a:solidFill>
                  <a:srgbClr val="2B2F38"/>
                </a:solidFill>
                <a:latin typeface="Calibri" pitchFamily="34" charset="0"/>
                <a:ea typeface="Calibri" pitchFamily="34" charset="-122"/>
                <a:cs typeface="Calibri" pitchFamily="34" charset="-120"/>
              </a:rPr>
              <a:t>Volver a desplegar la última ejecución correcta de una etapa.</a:t>
            </a:r>
            <a:endParaRPr lang="en-US" sz="1100" dirty="0"/>
          </a:p>
        </p:txBody>
      </p:sp>
      <p:sp>
        <p:nvSpPr>
          <p:cNvPr id="23" name="Shape 21"/>
          <p:cNvSpPr/>
          <p:nvPr/>
        </p:nvSpPr>
        <p:spPr>
          <a:xfrm>
            <a:off x="3276600" y="2994660"/>
            <a:ext cx="2590800" cy="1623060"/>
          </a:xfrm>
          <a:prstGeom prst="roundRect">
            <a:avLst>
              <a:gd name="adj" fmla="val 4507"/>
            </a:avLst>
          </a:prstGeom>
          <a:solidFill>
            <a:srgbClr val="F3F5F7"/>
          </a:solidFill>
          <a:ln w="12700">
            <a:solidFill>
              <a:srgbClr val="F3F5F7"/>
            </a:solidFill>
            <a:prstDash val="solid"/>
          </a:ln>
        </p:spPr>
      </p:sp>
      <p:sp>
        <p:nvSpPr>
          <p:cNvPr id="24" name="Shape 22"/>
          <p:cNvSpPr/>
          <p:nvPr/>
        </p:nvSpPr>
        <p:spPr>
          <a:xfrm>
            <a:off x="3459480" y="3177540"/>
            <a:ext cx="384048" cy="384048"/>
          </a:xfrm>
          <a:prstGeom prst="ellipse">
            <a:avLst/>
          </a:prstGeom>
          <a:solidFill>
            <a:srgbClr val="FF9900"/>
          </a:solidFill>
          <a:ln w="12700">
            <a:solidFill>
              <a:srgbClr val="FF9900"/>
            </a:solidFill>
            <a:prstDash val="solid"/>
          </a:ln>
        </p:spPr>
      </p:sp>
      <p:sp>
        <p:nvSpPr>
          <p:cNvPr id="25" name="Text 23"/>
          <p:cNvSpPr txBox="1"/>
          <p:nvPr/>
        </p:nvSpPr>
        <p:spPr>
          <a:xfrm>
            <a:off x="3459480" y="3177540"/>
            <a:ext cx="384048" cy="384048"/>
          </a:xfrm>
          <a:prstGeom prst="rect">
            <a:avLst/>
          </a:prstGeom>
          <a:noFill/>
          <a:ln/>
        </p:spPr>
        <p:txBody>
          <a:bodyPr wrap="square" lIns="0" tIns="0" rIns="0" bIns="0" rtlCol="0" anchor="ctr"/>
          <a:lstStyle/>
          <a:p>
            <a:pPr algn="ctr" indent="0" marL="0">
              <a:buNone/>
            </a:pPr>
            <a:r>
              <a:rPr lang="en-US" sz="1300" b="1" dirty="0">
                <a:solidFill>
                  <a:srgbClr val="232F3E"/>
                </a:solidFill>
                <a:latin typeface="Arial" pitchFamily="34" charset="0"/>
                <a:ea typeface="Arial" pitchFamily="34" charset="-122"/>
                <a:cs typeface="Arial" pitchFamily="34" charset="-120"/>
              </a:rPr>
              <a:t>5</a:t>
            </a:r>
            <a:endParaRPr lang="en-US" sz="1300" dirty="0"/>
          </a:p>
        </p:txBody>
      </p:sp>
      <p:sp>
        <p:nvSpPr>
          <p:cNvPr id="26" name="Text 24"/>
          <p:cNvSpPr txBox="1"/>
          <p:nvPr/>
        </p:nvSpPr>
        <p:spPr>
          <a:xfrm>
            <a:off x="3962400" y="3150108"/>
            <a:ext cx="1767840" cy="457200"/>
          </a:xfrm>
          <a:prstGeom prst="rect">
            <a:avLst/>
          </a:prstGeom>
          <a:noFill/>
          <a:ln/>
        </p:spPr>
        <p:txBody>
          <a:bodyPr wrap="square" lIns="0" tIns="0" rIns="0" bIns="0" rtlCol="0" anchor="ctr"/>
          <a:lstStyle/>
          <a:p>
            <a:pPr indent="0" marL="0">
              <a:buNone/>
            </a:pPr>
            <a:r>
              <a:rPr lang="en-US" sz="1350" b="1" dirty="0">
                <a:solidFill>
                  <a:srgbClr val="232F3E"/>
                </a:solidFill>
                <a:latin typeface="Arial" pitchFamily="34" charset="0"/>
                <a:ea typeface="Arial" pitchFamily="34" charset="-122"/>
                <a:cs typeface="Arial" pitchFamily="34" charset="-120"/>
              </a:rPr>
              <a:t>Condiciones</a:t>
            </a:r>
            <a:endParaRPr lang="en-US" sz="1350" dirty="0"/>
          </a:p>
        </p:txBody>
      </p:sp>
      <p:sp>
        <p:nvSpPr>
          <p:cNvPr id="27" name="Text 25"/>
          <p:cNvSpPr txBox="1"/>
          <p:nvPr/>
        </p:nvSpPr>
        <p:spPr>
          <a:xfrm>
            <a:off x="3477768" y="3707892"/>
            <a:ext cx="2206752" cy="800100"/>
          </a:xfrm>
          <a:prstGeom prst="rect">
            <a:avLst/>
          </a:prstGeom>
          <a:noFill/>
          <a:ln/>
        </p:spPr>
        <p:txBody>
          <a:bodyPr wrap="square" lIns="0" tIns="0" rIns="0" bIns="0" rtlCol="0" anchor="t"/>
          <a:lstStyle/>
          <a:p>
            <a:pPr indent="0" marL="0">
              <a:buNone/>
            </a:pPr>
            <a:r>
              <a:rPr lang="en-US" sz="1100" dirty="0">
                <a:solidFill>
                  <a:srgbClr val="2B2F38"/>
                </a:solidFill>
                <a:latin typeface="Calibri" pitchFamily="34" charset="0"/>
                <a:ea typeface="Calibri" pitchFamily="34" charset="-122"/>
                <a:cs typeface="Calibri" pitchFamily="34" charset="-120"/>
              </a:rPr>
              <a:t>Reglas de entrada y salida de etapa, por ejemplo comprobar alarmas de CloudWatch.</a:t>
            </a:r>
            <a:endParaRPr lang="en-US" sz="1100" dirty="0"/>
          </a:p>
        </p:txBody>
      </p:sp>
      <p:sp>
        <p:nvSpPr>
          <p:cNvPr id="28" name="Shape 26"/>
          <p:cNvSpPr/>
          <p:nvPr/>
        </p:nvSpPr>
        <p:spPr>
          <a:xfrm>
            <a:off x="6096000" y="2994660"/>
            <a:ext cx="2590800" cy="1623060"/>
          </a:xfrm>
          <a:prstGeom prst="roundRect">
            <a:avLst>
              <a:gd name="adj" fmla="val 4507"/>
            </a:avLst>
          </a:prstGeom>
          <a:solidFill>
            <a:srgbClr val="F3F5F7"/>
          </a:solidFill>
          <a:ln w="12700">
            <a:solidFill>
              <a:srgbClr val="F3F5F7"/>
            </a:solidFill>
            <a:prstDash val="solid"/>
          </a:ln>
        </p:spPr>
      </p:sp>
      <p:sp>
        <p:nvSpPr>
          <p:cNvPr id="29" name="Shape 27"/>
          <p:cNvSpPr/>
          <p:nvPr/>
        </p:nvSpPr>
        <p:spPr>
          <a:xfrm>
            <a:off x="6278880" y="3177540"/>
            <a:ext cx="384048" cy="384048"/>
          </a:xfrm>
          <a:prstGeom prst="ellipse">
            <a:avLst/>
          </a:prstGeom>
          <a:solidFill>
            <a:srgbClr val="FF9900"/>
          </a:solidFill>
          <a:ln w="12700">
            <a:solidFill>
              <a:srgbClr val="FF9900"/>
            </a:solidFill>
            <a:prstDash val="solid"/>
          </a:ln>
        </p:spPr>
      </p:sp>
      <p:sp>
        <p:nvSpPr>
          <p:cNvPr id="30" name="Text 28"/>
          <p:cNvSpPr txBox="1"/>
          <p:nvPr/>
        </p:nvSpPr>
        <p:spPr>
          <a:xfrm>
            <a:off x="6278880" y="3177540"/>
            <a:ext cx="384048" cy="384048"/>
          </a:xfrm>
          <a:prstGeom prst="rect">
            <a:avLst/>
          </a:prstGeom>
          <a:noFill/>
          <a:ln/>
        </p:spPr>
        <p:txBody>
          <a:bodyPr wrap="square" lIns="0" tIns="0" rIns="0" bIns="0" rtlCol="0" anchor="ctr"/>
          <a:lstStyle/>
          <a:p>
            <a:pPr algn="ctr" indent="0" marL="0">
              <a:buNone/>
            </a:pPr>
            <a:r>
              <a:rPr lang="en-US" sz="1300" b="1" dirty="0">
                <a:solidFill>
                  <a:srgbClr val="232F3E"/>
                </a:solidFill>
                <a:latin typeface="Arial" pitchFamily="34" charset="0"/>
                <a:ea typeface="Arial" pitchFamily="34" charset="-122"/>
                <a:cs typeface="Arial" pitchFamily="34" charset="-120"/>
              </a:rPr>
              <a:t>6</a:t>
            </a:r>
            <a:endParaRPr lang="en-US" sz="1300" dirty="0"/>
          </a:p>
        </p:txBody>
      </p:sp>
      <p:sp>
        <p:nvSpPr>
          <p:cNvPr id="31" name="Text 29"/>
          <p:cNvSpPr txBox="1"/>
          <p:nvPr/>
        </p:nvSpPr>
        <p:spPr>
          <a:xfrm>
            <a:off x="6781800" y="3150108"/>
            <a:ext cx="1767840" cy="457200"/>
          </a:xfrm>
          <a:prstGeom prst="rect">
            <a:avLst/>
          </a:prstGeom>
          <a:noFill/>
          <a:ln/>
        </p:spPr>
        <p:txBody>
          <a:bodyPr wrap="square" lIns="0" tIns="0" rIns="0" bIns="0" rtlCol="0" anchor="ctr"/>
          <a:lstStyle/>
          <a:p>
            <a:pPr indent="0" marL="0">
              <a:buNone/>
            </a:pPr>
            <a:r>
              <a:rPr lang="en-US" sz="1350" b="1" dirty="0">
                <a:solidFill>
                  <a:srgbClr val="232F3E"/>
                </a:solidFill>
                <a:latin typeface="Arial" pitchFamily="34" charset="0"/>
                <a:ea typeface="Arial" pitchFamily="34" charset="-122"/>
                <a:cs typeface="Arial" pitchFamily="34" charset="-120"/>
              </a:rPr>
              <a:t>Precio por minuto</a:t>
            </a:r>
            <a:endParaRPr lang="en-US" sz="1350" dirty="0"/>
          </a:p>
        </p:txBody>
      </p:sp>
      <p:sp>
        <p:nvSpPr>
          <p:cNvPr id="32" name="Text 30"/>
          <p:cNvSpPr txBox="1"/>
          <p:nvPr/>
        </p:nvSpPr>
        <p:spPr>
          <a:xfrm>
            <a:off x="6297168" y="3707892"/>
            <a:ext cx="2206752" cy="800100"/>
          </a:xfrm>
          <a:prstGeom prst="rect">
            <a:avLst/>
          </a:prstGeom>
          <a:noFill/>
          <a:ln/>
        </p:spPr>
        <p:txBody>
          <a:bodyPr wrap="square" lIns="0" tIns="0" rIns="0" bIns="0" rtlCol="0" anchor="t"/>
          <a:lstStyle/>
          <a:p>
            <a:pPr indent="0" marL="0">
              <a:buNone/>
            </a:pPr>
            <a:r>
              <a:rPr lang="en-US" sz="1100" dirty="0">
                <a:solidFill>
                  <a:srgbClr val="2B2F38"/>
                </a:solidFill>
                <a:latin typeface="Calibri" pitchFamily="34" charset="0"/>
                <a:ea typeface="Calibri" pitchFamily="34" charset="-122"/>
                <a:cs typeface="Calibri" pitchFamily="34" charset="-120"/>
              </a:rPr>
              <a:t>Se paga por minutos de acción, lo que favorece muchas pipelines pequeñas.</a:t>
            </a:r>
            <a:endParaRPr lang="en-US" sz="1100" dirty="0"/>
          </a:p>
        </p:txBody>
      </p:sp>
      <p:sp>
        <p:nvSpPr>
          <p:cNvPr id="33" name="Text 31"/>
          <p:cNvSpPr txBox="1"/>
          <p:nvPr/>
        </p:nvSpPr>
        <p:spPr>
          <a:xfrm>
            <a:off x="457200" y="4773168"/>
            <a:ext cx="6400800" cy="228600"/>
          </a:xfrm>
          <a:prstGeom prst="rect">
            <a:avLst/>
          </a:prstGeom>
          <a:noFill/>
          <a:ln/>
        </p:spPr>
        <p:txBody>
          <a:bodyPr wrap="square" lIns="0" tIns="0" rIns="0" bIns="0" rtlCol="0" anchor="t"/>
          <a:lstStyle/>
          <a:p>
            <a:pPr indent="0" marL="0">
              <a:buNone/>
            </a:pPr>
            <a:r>
              <a:rPr lang="en-US" sz="900" dirty="0">
                <a:solidFill>
                  <a:srgbClr val="8A8F98"/>
                </a:solidFill>
                <a:latin typeface="Calibri" pitchFamily="34" charset="0"/>
                <a:ea typeface="Calibri" pitchFamily="34" charset="-122"/>
                <a:cs typeface="Calibri" pitchFamily="34" charset="-120"/>
              </a:rPr>
              <a:t>DevOps en AWS  ·  Sesión 2</a:t>
            </a:r>
            <a:endParaRPr lang="en-US" sz="900" dirty="0"/>
          </a:p>
        </p:txBody>
      </p:sp>
      <p:sp>
        <p:nvSpPr>
          <p:cNvPr id="34" name="Text 32"/>
          <p:cNvSpPr txBox="1"/>
          <p:nvPr/>
        </p:nvSpPr>
        <p:spPr>
          <a:xfrm>
            <a:off x="8138160" y="4773168"/>
            <a:ext cx="548640" cy="228600"/>
          </a:xfrm>
          <a:prstGeom prst="rect">
            <a:avLst/>
          </a:prstGeom>
          <a:noFill/>
          <a:ln/>
        </p:spPr>
        <p:txBody>
          <a:bodyPr wrap="square" lIns="0" tIns="0" rIns="0" bIns="0" rtlCol="0" anchor="t"/>
          <a:lstStyle/>
          <a:p>
            <a:pPr algn="r" indent="0" marL="0">
              <a:buNone/>
            </a:pPr>
            <a:r>
              <a:rPr lang="en-US" sz="900" dirty="0">
                <a:solidFill>
                  <a:srgbClr val="8A8F98"/>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292608"/>
            <a:ext cx="8229600" cy="685800"/>
          </a:xfrm>
          <a:prstGeom prst="rect">
            <a:avLst/>
          </a:prstGeom>
          <a:noFill/>
          <a:ln/>
        </p:spPr>
        <p:txBody>
          <a:bodyPr wrap="square" lIns="0" tIns="0" rIns="0" bIns="0" rtlCol="0" anchor="ctr"/>
          <a:lstStyle/>
          <a:p>
            <a:pPr indent="0" marL="0">
              <a:buNone/>
            </a:pPr>
            <a:r>
              <a:rPr lang="en-US" sz="2400" b="1" dirty="0">
                <a:solidFill>
                  <a:srgbClr val="232F3E"/>
                </a:solidFill>
                <a:latin typeface="Arial" pitchFamily="34" charset="0"/>
                <a:ea typeface="Arial" pitchFamily="34" charset="-122"/>
                <a:cs typeface="Arial" pitchFamily="34" charset="-120"/>
              </a:rPr>
              <a:t>Estrategias de despliegue</a:t>
            </a:r>
            <a:endParaRPr lang="en-US" sz="2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1554480"/>
                <a:gridCol w="3017520"/>
                <a:gridCol w="1463040"/>
                <a:gridCol w="2194560"/>
              </a:tblGrid>
              <a:tr h="50292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Estrategia</a:t>
                      </a:r>
                      <a:endParaRPr lang="en-US" sz="1100" dirty="0">
                        <a:latin typeface="Calibri" charset="0"/>
                        <a:ea typeface="Calibri" charset="0"/>
                        <a:cs typeface="Calibri" charset="0"/>
                      </a:endParaRPr>
                    </a:p>
                  </a:txBody>
                  <a:tcPr marL="64008" marR="64008" marT="64008" marB="64008"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232F3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Cómo funciona</a:t>
                      </a:r>
                      <a:endParaRPr lang="en-US" sz="1100" dirty="0">
                        <a:latin typeface="Calibri" charset="0"/>
                        <a:ea typeface="Calibri" charset="0"/>
                        <a:cs typeface="Calibri" charset="0"/>
                      </a:endParaRPr>
                    </a:p>
                  </a:txBody>
                  <a:tcPr marL="64008" marR="64008" marT="64008" marB="64008"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232F3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Riesgo</a:t>
                      </a:r>
                      <a:endParaRPr lang="en-US" sz="1100" dirty="0">
                        <a:latin typeface="Calibri" charset="0"/>
                        <a:ea typeface="Calibri" charset="0"/>
                        <a:cs typeface="Calibri" charset="0"/>
                      </a:endParaRPr>
                    </a:p>
                  </a:txBody>
                  <a:tcPr marL="64008" marR="64008" marT="64008" marB="64008"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232F3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En AWS</a:t>
                      </a:r>
                      <a:endParaRPr lang="en-US" sz="1100" dirty="0">
                        <a:latin typeface="Calibri" charset="0"/>
                        <a:ea typeface="Calibri" charset="0"/>
                        <a:cs typeface="Calibri" charset="0"/>
                      </a:endParaRPr>
                    </a:p>
                  </a:txBody>
                  <a:tcPr marL="64008" marR="64008" marT="64008" marB="64008"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232F3E"/>
                    </a:solidFill>
                  </a:tcPr>
                </a:tc>
              </a:tr>
              <a:tr h="502920">
                <a:tc>
                  <a:txBody>
                    <a:bodyPr/>
                    <a:lstStyle/>
                    <a:p>
                      <a:pPr indent="0" marL="0">
                        <a:buNone/>
                      </a:pPr>
                      <a:r>
                        <a:rPr lang="en-US" sz="1100" b="1" dirty="0">
                          <a:solidFill>
                            <a:srgbClr val="2B2F38"/>
                          </a:solidFill>
                          <a:latin typeface="Calibri" pitchFamily="34" charset="0"/>
                          <a:ea typeface="Calibri" pitchFamily="34" charset="-122"/>
                          <a:cs typeface="Calibri" pitchFamily="34" charset="-120"/>
                        </a:rPr>
                        <a:t>In-place / rolling</a:t>
                      </a:r>
                      <a:endParaRPr lang="en-US" sz="1100" dirty="0">
                        <a:latin typeface="Calibri" charset="0"/>
                        <a:ea typeface="Calibri" charset="0"/>
                        <a:cs typeface="Calibri" charset="0"/>
                      </a:endParaRPr>
                    </a:p>
                  </a:txBody>
                  <a:tcPr marL="64008" marR="64008" marT="64008" marB="64008"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3F5F7"/>
                    </a:solidFill>
                  </a:tcPr>
                </a:tc>
                <a:tc>
                  <a:txBody>
                    <a:bodyPr/>
                    <a:lstStyle/>
                    <a:p>
                      <a:pPr indent="0" marL="0">
                        <a:buNone/>
                      </a:pPr>
                      <a:r>
                        <a:rPr lang="en-US" sz="1100" dirty="0">
                          <a:solidFill>
                            <a:srgbClr val="2B2F38"/>
                          </a:solidFill>
                          <a:latin typeface="Calibri" pitchFamily="34" charset="0"/>
                          <a:ea typeface="Calibri" pitchFamily="34" charset="-122"/>
                          <a:cs typeface="Calibri" pitchFamily="34" charset="-120"/>
                        </a:rPr>
                        <a:t>Se actualizan las instancias por lotes</a:t>
                      </a:r>
                      <a:endParaRPr lang="en-US" sz="1100" dirty="0">
                        <a:latin typeface="Calibri" charset="0"/>
                        <a:ea typeface="Calibri" charset="0"/>
                        <a:cs typeface="Calibri" charset="0"/>
                      </a:endParaRPr>
                    </a:p>
                  </a:txBody>
                  <a:tcPr marL="64008" marR="64008" marT="64008" marB="64008"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3F5F7"/>
                    </a:solidFill>
                  </a:tcPr>
                </a:tc>
                <a:tc>
                  <a:txBody>
                    <a:bodyPr/>
                    <a:lstStyle/>
                    <a:p>
                      <a:pPr indent="0" marL="0">
                        <a:buNone/>
                      </a:pPr>
                      <a:r>
                        <a:rPr lang="en-US" sz="1100" dirty="0">
                          <a:solidFill>
                            <a:srgbClr val="2B2F38"/>
                          </a:solidFill>
                          <a:latin typeface="Calibri" pitchFamily="34" charset="0"/>
                          <a:ea typeface="Calibri" pitchFamily="34" charset="-122"/>
                          <a:cs typeface="Calibri" pitchFamily="34" charset="-120"/>
                        </a:rPr>
                        <a:t>Medio</a:t>
                      </a:r>
                      <a:endParaRPr lang="en-US" sz="1100" dirty="0">
                        <a:latin typeface="Calibri" charset="0"/>
                        <a:ea typeface="Calibri" charset="0"/>
                        <a:cs typeface="Calibri" charset="0"/>
                      </a:endParaRPr>
                    </a:p>
                  </a:txBody>
                  <a:tcPr marL="64008" marR="64008" marT="64008" marB="64008"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3F5F7"/>
                    </a:solidFill>
                  </a:tcPr>
                </a:tc>
                <a:tc>
                  <a:txBody>
                    <a:bodyPr/>
                    <a:lstStyle/>
                    <a:p>
                      <a:pPr indent="0" marL="0">
                        <a:buNone/>
                      </a:pPr>
                      <a:r>
                        <a:rPr lang="en-US" sz="1100" dirty="0">
                          <a:solidFill>
                            <a:srgbClr val="2B2F38"/>
                          </a:solidFill>
                          <a:latin typeface="Calibri" pitchFamily="34" charset="0"/>
                          <a:ea typeface="Calibri" pitchFamily="34" charset="-122"/>
                          <a:cs typeface="Calibri" pitchFamily="34" charset="-120"/>
                        </a:rPr>
                        <a:t>CodeDeploy EC2, ECS rolling</a:t>
                      </a:r>
                      <a:endParaRPr lang="en-US" sz="1100" dirty="0">
                        <a:latin typeface="Calibri" charset="0"/>
                        <a:ea typeface="Calibri" charset="0"/>
                        <a:cs typeface="Calibri" charset="0"/>
                      </a:endParaRPr>
                    </a:p>
                  </a:txBody>
                  <a:tcPr marL="64008" marR="64008" marT="64008" marB="64008"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3F5F7"/>
                    </a:solidFill>
                  </a:tcPr>
                </a:tc>
              </a:tr>
              <a:tr h="502920">
                <a:tc>
                  <a:txBody>
                    <a:bodyPr/>
                    <a:lstStyle/>
                    <a:p>
                      <a:pPr indent="0" marL="0">
                        <a:buNone/>
                      </a:pPr>
                      <a:r>
                        <a:rPr lang="en-US" sz="1100" b="1" dirty="0">
                          <a:solidFill>
                            <a:srgbClr val="2B2F38"/>
                          </a:solidFill>
                          <a:latin typeface="Calibri" pitchFamily="34" charset="0"/>
                          <a:ea typeface="Calibri" pitchFamily="34" charset="-122"/>
                          <a:cs typeface="Calibri" pitchFamily="34" charset="-120"/>
                        </a:rPr>
                        <a:t>Blue/green</a:t>
                      </a:r>
                      <a:endParaRPr lang="en-US" sz="1100" dirty="0">
                        <a:latin typeface="Calibri" charset="0"/>
                        <a:ea typeface="Calibri" charset="0"/>
                        <a:cs typeface="Calibri" charset="0"/>
                      </a:endParaRPr>
                    </a:p>
                  </a:txBody>
                  <a:tcPr marL="64008" marR="64008" marT="64008" marB="64008"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FFFFF"/>
                    </a:solidFill>
                  </a:tcPr>
                </a:tc>
                <a:tc>
                  <a:txBody>
                    <a:bodyPr/>
                    <a:lstStyle/>
                    <a:p>
                      <a:pPr indent="0" marL="0">
                        <a:buNone/>
                      </a:pPr>
                      <a:r>
                        <a:rPr lang="en-US" sz="1100" dirty="0">
                          <a:solidFill>
                            <a:srgbClr val="2B2F38"/>
                          </a:solidFill>
                          <a:latin typeface="Calibri" pitchFamily="34" charset="0"/>
                          <a:ea typeface="Calibri" pitchFamily="34" charset="-122"/>
                          <a:cs typeface="Calibri" pitchFamily="34" charset="-120"/>
                        </a:rPr>
                        <a:t>Entorno nuevo completo y cambio de tráfico</a:t>
                      </a:r>
                      <a:endParaRPr lang="en-US" sz="1100" dirty="0">
                        <a:latin typeface="Calibri" charset="0"/>
                        <a:ea typeface="Calibri" charset="0"/>
                        <a:cs typeface="Calibri" charset="0"/>
                      </a:endParaRPr>
                    </a:p>
                  </a:txBody>
                  <a:tcPr marL="64008" marR="64008" marT="64008" marB="64008"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FFFFF"/>
                    </a:solidFill>
                  </a:tcPr>
                </a:tc>
                <a:tc>
                  <a:txBody>
                    <a:bodyPr/>
                    <a:lstStyle/>
                    <a:p>
                      <a:pPr indent="0" marL="0">
                        <a:buNone/>
                      </a:pPr>
                      <a:r>
                        <a:rPr lang="en-US" sz="1100" dirty="0">
                          <a:solidFill>
                            <a:srgbClr val="2B2F38"/>
                          </a:solidFill>
                          <a:latin typeface="Calibri" pitchFamily="34" charset="0"/>
                          <a:ea typeface="Calibri" pitchFamily="34" charset="-122"/>
                          <a:cs typeface="Calibri" pitchFamily="34" charset="-120"/>
                        </a:rPr>
                        <a:t>Bajo</a:t>
                      </a:r>
                      <a:endParaRPr lang="en-US" sz="1100" dirty="0">
                        <a:latin typeface="Calibri" charset="0"/>
                        <a:ea typeface="Calibri" charset="0"/>
                        <a:cs typeface="Calibri" charset="0"/>
                      </a:endParaRPr>
                    </a:p>
                  </a:txBody>
                  <a:tcPr marL="64008" marR="64008" marT="64008" marB="64008"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FFFFF"/>
                    </a:solidFill>
                  </a:tcPr>
                </a:tc>
                <a:tc>
                  <a:txBody>
                    <a:bodyPr/>
                    <a:lstStyle/>
                    <a:p>
                      <a:pPr indent="0" marL="0">
                        <a:buNone/>
                      </a:pPr>
                      <a:r>
                        <a:rPr lang="en-US" sz="1100" dirty="0">
                          <a:solidFill>
                            <a:srgbClr val="2B2F38"/>
                          </a:solidFill>
                          <a:latin typeface="Calibri" pitchFamily="34" charset="0"/>
                          <a:ea typeface="Calibri" pitchFamily="34" charset="-122"/>
                          <a:cs typeface="Calibri" pitchFamily="34" charset="-120"/>
                        </a:rPr>
                        <a:t>CodeDeploy ECS y EC2</a:t>
                      </a:r>
                      <a:endParaRPr lang="en-US" sz="1100" dirty="0">
                        <a:latin typeface="Calibri" charset="0"/>
                        <a:ea typeface="Calibri" charset="0"/>
                        <a:cs typeface="Calibri" charset="0"/>
                      </a:endParaRPr>
                    </a:p>
                  </a:txBody>
                  <a:tcPr marL="64008" marR="64008" marT="64008" marB="64008"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FFFFF"/>
                    </a:solidFill>
                  </a:tcPr>
                </a:tc>
              </a:tr>
              <a:tr h="502920">
                <a:tc>
                  <a:txBody>
                    <a:bodyPr/>
                    <a:lstStyle/>
                    <a:p>
                      <a:pPr indent="0" marL="0">
                        <a:buNone/>
                      </a:pPr>
                      <a:r>
                        <a:rPr lang="en-US" sz="1100" b="1" dirty="0">
                          <a:solidFill>
                            <a:srgbClr val="2B2F38"/>
                          </a:solidFill>
                          <a:latin typeface="Calibri" pitchFamily="34" charset="0"/>
                          <a:ea typeface="Calibri" pitchFamily="34" charset="-122"/>
                          <a:cs typeface="Calibri" pitchFamily="34" charset="-120"/>
                        </a:rPr>
                        <a:t>Canary</a:t>
                      </a:r>
                      <a:endParaRPr lang="en-US" sz="1100" dirty="0">
                        <a:latin typeface="Calibri" charset="0"/>
                        <a:ea typeface="Calibri" charset="0"/>
                        <a:cs typeface="Calibri" charset="0"/>
                      </a:endParaRPr>
                    </a:p>
                  </a:txBody>
                  <a:tcPr marL="64008" marR="64008" marT="64008" marB="64008"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3F5F7"/>
                    </a:solidFill>
                  </a:tcPr>
                </a:tc>
                <a:tc>
                  <a:txBody>
                    <a:bodyPr/>
                    <a:lstStyle/>
                    <a:p>
                      <a:pPr indent="0" marL="0">
                        <a:buNone/>
                      </a:pPr>
                      <a:r>
                        <a:rPr lang="en-US" sz="1100" dirty="0">
                          <a:solidFill>
                            <a:srgbClr val="2B2F38"/>
                          </a:solidFill>
                          <a:latin typeface="Calibri" pitchFamily="34" charset="0"/>
                          <a:ea typeface="Calibri" pitchFamily="34" charset="-122"/>
                          <a:cs typeface="Calibri" pitchFamily="34" charset="-120"/>
                        </a:rPr>
                        <a:t>Un porcentaje pequeño primero, luego el resto</a:t>
                      </a:r>
                      <a:endParaRPr lang="en-US" sz="1100" dirty="0">
                        <a:latin typeface="Calibri" charset="0"/>
                        <a:ea typeface="Calibri" charset="0"/>
                        <a:cs typeface="Calibri" charset="0"/>
                      </a:endParaRPr>
                    </a:p>
                  </a:txBody>
                  <a:tcPr marL="64008" marR="64008" marT="64008" marB="64008"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3F5F7"/>
                    </a:solidFill>
                  </a:tcPr>
                </a:tc>
                <a:tc>
                  <a:txBody>
                    <a:bodyPr/>
                    <a:lstStyle/>
                    <a:p>
                      <a:pPr indent="0" marL="0">
                        <a:buNone/>
                      </a:pPr>
                      <a:r>
                        <a:rPr lang="en-US" sz="1100" dirty="0">
                          <a:solidFill>
                            <a:srgbClr val="2B2F38"/>
                          </a:solidFill>
                          <a:latin typeface="Calibri" pitchFamily="34" charset="0"/>
                          <a:ea typeface="Calibri" pitchFamily="34" charset="-122"/>
                          <a:cs typeface="Calibri" pitchFamily="34" charset="-120"/>
                        </a:rPr>
                        <a:t>Muy bajo</a:t>
                      </a:r>
                      <a:endParaRPr lang="en-US" sz="1100" dirty="0">
                        <a:latin typeface="Calibri" charset="0"/>
                        <a:ea typeface="Calibri" charset="0"/>
                        <a:cs typeface="Calibri" charset="0"/>
                      </a:endParaRPr>
                    </a:p>
                  </a:txBody>
                  <a:tcPr marL="64008" marR="64008" marT="64008" marB="64008"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3F5F7"/>
                    </a:solidFill>
                  </a:tcPr>
                </a:tc>
                <a:tc>
                  <a:txBody>
                    <a:bodyPr/>
                    <a:lstStyle/>
                    <a:p>
                      <a:pPr indent="0" marL="0">
                        <a:buNone/>
                      </a:pPr>
                      <a:r>
                        <a:rPr lang="en-US" sz="1100" dirty="0">
                          <a:solidFill>
                            <a:srgbClr val="2B2F38"/>
                          </a:solidFill>
                          <a:latin typeface="Calibri" pitchFamily="34" charset="0"/>
                          <a:ea typeface="Calibri" pitchFamily="34" charset="-122"/>
                          <a:cs typeface="Calibri" pitchFamily="34" charset="-120"/>
                        </a:rPr>
                        <a:t>CodeDeploy Lambda y ECS</a:t>
                      </a:r>
                      <a:endParaRPr lang="en-US" sz="1100" dirty="0">
                        <a:latin typeface="Calibri" charset="0"/>
                        <a:ea typeface="Calibri" charset="0"/>
                        <a:cs typeface="Calibri" charset="0"/>
                      </a:endParaRPr>
                    </a:p>
                  </a:txBody>
                  <a:tcPr marL="64008" marR="64008" marT="64008" marB="64008"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3F5F7"/>
                    </a:solidFill>
                  </a:tcPr>
                </a:tc>
              </a:tr>
              <a:tr h="502920">
                <a:tc>
                  <a:txBody>
                    <a:bodyPr/>
                    <a:lstStyle/>
                    <a:p>
                      <a:pPr indent="0" marL="0">
                        <a:buNone/>
                      </a:pPr>
                      <a:r>
                        <a:rPr lang="en-US" sz="1100" b="1" dirty="0">
                          <a:solidFill>
                            <a:srgbClr val="2B2F38"/>
                          </a:solidFill>
                          <a:latin typeface="Calibri" pitchFamily="34" charset="0"/>
                          <a:ea typeface="Calibri" pitchFamily="34" charset="-122"/>
                          <a:cs typeface="Calibri" pitchFamily="34" charset="-120"/>
                        </a:rPr>
                        <a:t>Lineal</a:t>
                      </a:r>
                      <a:endParaRPr lang="en-US" sz="1100" dirty="0">
                        <a:latin typeface="Calibri" charset="0"/>
                        <a:ea typeface="Calibri" charset="0"/>
                        <a:cs typeface="Calibri" charset="0"/>
                      </a:endParaRPr>
                    </a:p>
                  </a:txBody>
                  <a:tcPr marL="64008" marR="64008" marT="64008" marB="64008"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FFFFF"/>
                    </a:solidFill>
                  </a:tcPr>
                </a:tc>
                <a:tc>
                  <a:txBody>
                    <a:bodyPr/>
                    <a:lstStyle/>
                    <a:p>
                      <a:pPr indent="0" marL="0">
                        <a:buNone/>
                      </a:pPr>
                      <a:r>
                        <a:rPr lang="en-US" sz="1100" dirty="0">
                          <a:solidFill>
                            <a:srgbClr val="2B2F38"/>
                          </a:solidFill>
                          <a:latin typeface="Calibri" pitchFamily="34" charset="0"/>
                          <a:ea typeface="Calibri" pitchFamily="34" charset="-122"/>
                          <a:cs typeface="Calibri" pitchFamily="34" charset="-120"/>
                        </a:rPr>
                        <a:t>Incrementos iguales cada pocos minutos</a:t>
                      </a:r>
                      <a:endParaRPr lang="en-US" sz="1100" dirty="0">
                        <a:latin typeface="Calibri" charset="0"/>
                        <a:ea typeface="Calibri" charset="0"/>
                        <a:cs typeface="Calibri" charset="0"/>
                      </a:endParaRPr>
                    </a:p>
                  </a:txBody>
                  <a:tcPr marL="64008" marR="64008" marT="64008" marB="64008"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FFFFF"/>
                    </a:solidFill>
                  </a:tcPr>
                </a:tc>
                <a:tc>
                  <a:txBody>
                    <a:bodyPr/>
                    <a:lstStyle/>
                    <a:p>
                      <a:pPr indent="0" marL="0">
                        <a:buNone/>
                      </a:pPr>
                      <a:r>
                        <a:rPr lang="en-US" sz="1100" dirty="0">
                          <a:solidFill>
                            <a:srgbClr val="2B2F38"/>
                          </a:solidFill>
                          <a:latin typeface="Calibri" pitchFamily="34" charset="0"/>
                          <a:ea typeface="Calibri" pitchFamily="34" charset="-122"/>
                          <a:cs typeface="Calibri" pitchFamily="34" charset="-120"/>
                        </a:rPr>
                        <a:t>Muy bajo</a:t>
                      </a:r>
                      <a:endParaRPr lang="en-US" sz="1100" dirty="0">
                        <a:latin typeface="Calibri" charset="0"/>
                        <a:ea typeface="Calibri" charset="0"/>
                        <a:cs typeface="Calibri" charset="0"/>
                      </a:endParaRPr>
                    </a:p>
                  </a:txBody>
                  <a:tcPr marL="64008" marR="64008" marT="64008" marB="64008"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FFFFF"/>
                    </a:solidFill>
                  </a:tcPr>
                </a:tc>
                <a:tc>
                  <a:txBody>
                    <a:bodyPr/>
                    <a:lstStyle/>
                    <a:p>
                      <a:pPr indent="0" marL="0">
                        <a:buNone/>
                      </a:pPr>
                      <a:r>
                        <a:rPr lang="en-US" sz="1100" dirty="0">
                          <a:solidFill>
                            <a:srgbClr val="2B2F38"/>
                          </a:solidFill>
                          <a:latin typeface="Calibri" pitchFamily="34" charset="0"/>
                          <a:ea typeface="Calibri" pitchFamily="34" charset="-122"/>
                          <a:cs typeface="Calibri" pitchFamily="34" charset="-120"/>
                        </a:rPr>
                        <a:t>CodeDeploy Lambda y ECS</a:t>
                      </a:r>
                      <a:endParaRPr lang="en-US" sz="1100" dirty="0">
                        <a:latin typeface="Calibri" charset="0"/>
                        <a:ea typeface="Calibri" charset="0"/>
                        <a:cs typeface="Calibri" charset="0"/>
                      </a:endParaRPr>
                    </a:p>
                  </a:txBody>
                  <a:tcPr marL="64008" marR="64008" marT="64008" marB="64008"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FFFFF"/>
                    </a:solidFill>
                  </a:tcPr>
                </a:tc>
              </a:tr>
              <a:tr h="502920">
                <a:tc>
                  <a:txBody>
                    <a:bodyPr/>
                    <a:lstStyle/>
                    <a:p>
                      <a:pPr indent="0" marL="0">
                        <a:buNone/>
                      </a:pPr>
                      <a:r>
                        <a:rPr lang="en-US" sz="1100" b="1" dirty="0">
                          <a:solidFill>
                            <a:srgbClr val="2B2F38"/>
                          </a:solidFill>
                          <a:latin typeface="Calibri" pitchFamily="34" charset="0"/>
                          <a:ea typeface="Calibri" pitchFamily="34" charset="-122"/>
                          <a:cs typeface="Calibri" pitchFamily="34" charset="-120"/>
                        </a:rPr>
                        <a:t>Feature flags</a:t>
                      </a:r>
                      <a:endParaRPr lang="en-US" sz="1100" dirty="0">
                        <a:latin typeface="Calibri" charset="0"/>
                        <a:ea typeface="Calibri" charset="0"/>
                        <a:cs typeface="Calibri" charset="0"/>
                      </a:endParaRPr>
                    </a:p>
                  </a:txBody>
                  <a:tcPr marL="64008" marR="64008" marT="64008" marB="64008"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3F5F7"/>
                    </a:solidFill>
                  </a:tcPr>
                </a:tc>
                <a:tc>
                  <a:txBody>
                    <a:bodyPr/>
                    <a:lstStyle/>
                    <a:p>
                      <a:pPr indent="0" marL="0">
                        <a:buNone/>
                      </a:pPr>
                      <a:r>
                        <a:rPr lang="en-US" sz="1100" dirty="0">
                          <a:solidFill>
                            <a:srgbClr val="2B2F38"/>
                          </a:solidFill>
                          <a:latin typeface="Calibri" pitchFamily="34" charset="0"/>
                          <a:ea typeface="Calibri" pitchFamily="34" charset="-122"/>
                          <a:cs typeface="Calibri" pitchFamily="34" charset="-120"/>
                        </a:rPr>
                        <a:t>Código desplegado pero funcionalidad apagada</a:t>
                      </a:r>
                      <a:endParaRPr lang="en-US" sz="1100" dirty="0">
                        <a:latin typeface="Calibri" charset="0"/>
                        <a:ea typeface="Calibri" charset="0"/>
                        <a:cs typeface="Calibri" charset="0"/>
                      </a:endParaRPr>
                    </a:p>
                  </a:txBody>
                  <a:tcPr marL="64008" marR="64008" marT="64008" marB="64008"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3F5F7"/>
                    </a:solidFill>
                  </a:tcPr>
                </a:tc>
                <a:tc>
                  <a:txBody>
                    <a:bodyPr/>
                    <a:lstStyle/>
                    <a:p>
                      <a:pPr indent="0" marL="0">
                        <a:buNone/>
                      </a:pPr>
                      <a:r>
                        <a:rPr lang="en-US" sz="1100" dirty="0">
                          <a:solidFill>
                            <a:srgbClr val="2B2F38"/>
                          </a:solidFill>
                          <a:latin typeface="Calibri" pitchFamily="34" charset="0"/>
                          <a:ea typeface="Calibri" pitchFamily="34" charset="-122"/>
                          <a:cs typeface="Calibri" pitchFamily="34" charset="-120"/>
                        </a:rPr>
                        <a:t>Muy bajo</a:t>
                      </a:r>
                      <a:endParaRPr lang="en-US" sz="1100" dirty="0">
                        <a:latin typeface="Calibri" charset="0"/>
                        <a:ea typeface="Calibri" charset="0"/>
                        <a:cs typeface="Calibri" charset="0"/>
                      </a:endParaRPr>
                    </a:p>
                  </a:txBody>
                  <a:tcPr marL="64008" marR="64008" marT="64008" marB="64008"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3F5F7"/>
                    </a:solidFill>
                  </a:tcPr>
                </a:tc>
                <a:tc>
                  <a:txBody>
                    <a:bodyPr/>
                    <a:lstStyle/>
                    <a:p>
                      <a:pPr indent="0" marL="0">
                        <a:buNone/>
                      </a:pPr>
                      <a:r>
                        <a:rPr lang="en-US" sz="1100" dirty="0">
                          <a:solidFill>
                            <a:srgbClr val="2B2F38"/>
                          </a:solidFill>
                          <a:latin typeface="Calibri" pitchFamily="34" charset="0"/>
                          <a:ea typeface="Calibri" pitchFamily="34" charset="-122"/>
                          <a:cs typeface="Calibri" pitchFamily="34" charset="-120"/>
                        </a:rPr>
                        <a:t>AppConfig</a:t>
                      </a:r>
                      <a:endParaRPr lang="en-US" sz="1100" dirty="0">
                        <a:latin typeface="Calibri" charset="0"/>
                        <a:ea typeface="Calibri" charset="0"/>
                        <a:cs typeface="Calibri" charset="0"/>
                      </a:endParaRPr>
                    </a:p>
                  </a:txBody>
                  <a:tcPr marL="64008" marR="64008" marT="64008" marB="64008"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3F5F7"/>
                    </a:solidFill>
                  </a:tcPr>
                </a:tc>
              </a:tr>
            </a:tbl>
          </a:graphicData>
        </a:graphic>
      </p:graphicFrame>
      <p:sp>
        <p:nvSpPr>
          <p:cNvPr id="4" name="Text 1"/>
          <p:cNvSpPr txBox="1"/>
          <p:nvPr/>
        </p:nvSpPr>
        <p:spPr>
          <a:xfrm>
            <a:off x="457200" y="4773168"/>
            <a:ext cx="6400800" cy="228600"/>
          </a:xfrm>
          <a:prstGeom prst="rect">
            <a:avLst/>
          </a:prstGeom>
          <a:noFill/>
          <a:ln/>
        </p:spPr>
        <p:txBody>
          <a:bodyPr wrap="square" lIns="0" tIns="0" rIns="0" bIns="0" rtlCol="0" anchor="t"/>
          <a:lstStyle/>
          <a:p>
            <a:pPr indent="0" marL="0">
              <a:buNone/>
            </a:pPr>
            <a:r>
              <a:rPr lang="en-US" sz="900" dirty="0">
                <a:solidFill>
                  <a:srgbClr val="8A8F98"/>
                </a:solidFill>
                <a:latin typeface="Calibri" pitchFamily="34" charset="0"/>
                <a:ea typeface="Calibri" pitchFamily="34" charset="-122"/>
                <a:cs typeface="Calibri" pitchFamily="34" charset="-120"/>
              </a:rPr>
              <a:t>DevOps en AWS  ·  Sesión 2</a:t>
            </a:r>
            <a:endParaRPr lang="en-US" sz="900" dirty="0"/>
          </a:p>
        </p:txBody>
      </p:sp>
      <p:sp>
        <p:nvSpPr>
          <p:cNvPr id="5" name="Text 2"/>
          <p:cNvSpPr txBox="1"/>
          <p:nvPr/>
        </p:nvSpPr>
        <p:spPr>
          <a:xfrm>
            <a:off x="8138160" y="4773168"/>
            <a:ext cx="548640" cy="228600"/>
          </a:xfrm>
          <a:prstGeom prst="rect">
            <a:avLst/>
          </a:prstGeom>
          <a:noFill/>
          <a:ln/>
        </p:spPr>
        <p:txBody>
          <a:bodyPr wrap="square" lIns="0" tIns="0" rIns="0" bIns="0" rtlCol="0" anchor="t"/>
          <a:lstStyle/>
          <a:p>
            <a:pPr algn="r" indent="0" marL="0">
              <a:buNone/>
            </a:pPr>
            <a:r>
              <a:rPr lang="en-US" sz="900" dirty="0">
                <a:solidFill>
                  <a:srgbClr val="8A8F98"/>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3017520" cy="5143500"/>
          </a:xfrm>
          <a:prstGeom prst="rect">
            <a:avLst/>
          </a:prstGeom>
          <a:solidFill>
            <a:srgbClr val="232F3E"/>
          </a:solidFill>
          <a:ln w="12700">
            <a:solidFill>
              <a:srgbClr val="232F3E"/>
            </a:solidFill>
            <a:prstDash val="solid"/>
          </a:ln>
        </p:spPr>
      </p:sp>
      <p:sp>
        <p:nvSpPr>
          <p:cNvPr id="3" name="Text 1"/>
          <p:cNvSpPr txBox="1"/>
          <p:nvPr/>
        </p:nvSpPr>
        <p:spPr>
          <a:xfrm>
            <a:off x="411480" y="548640"/>
            <a:ext cx="2286000" cy="320040"/>
          </a:xfrm>
          <a:prstGeom prst="rect">
            <a:avLst/>
          </a:prstGeom>
          <a:noFill/>
          <a:ln/>
        </p:spPr>
        <p:txBody>
          <a:bodyPr wrap="square" lIns="0" tIns="0" rIns="0" bIns="0" rtlCol="0" anchor="t"/>
          <a:lstStyle/>
          <a:p>
            <a:pPr indent="0" marL="0">
              <a:buNone/>
            </a:pPr>
            <a:r>
              <a:rPr lang="en-US" sz="1200" b="1" dirty="0">
                <a:solidFill>
                  <a:srgbClr val="FF9900"/>
                </a:solidFill>
                <a:latin typeface="Calibri" pitchFamily="34" charset="0"/>
                <a:ea typeface="Calibri" pitchFamily="34" charset="-122"/>
                <a:cs typeface="Calibri" pitchFamily="34" charset="-120"/>
              </a:rPr>
              <a:t>PRÁCTICA</a:t>
            </a:r>
            <a:endParaRPr lang="en-US" sz="1200" dirty="0"/>
          </a:p>
        </p:txBody>
      </p:sp>
      <p:sp>
        <p:nvSpPr>
          <p:cNvPr id="4" name="Text 2"/>
          <p:cNvSpPr txBox="1"/>
          <p:nvPr/>
        </p:nvSpPr>
        <p:spPr>
          <a:xfrm>
            <a:off x="411480" y="868680"/>
            <a:ext cx="2377440" cy="822960"/>
          </a:xfrm>
          <a:prstGeom prst="rect">
            <a:avLst/>
          </a:prstGeom>
          <a:noFill/>
          <a:ln/>
        </p:spPr>
        <p:txBody>
          <a:bodyPr wrap="square" lIns="0" tIns="0" rIns="0" bIns="0" rtlCol="0" anchor="t"/>
          <a:lstStyle/>
          <a:p>
            <a:pPr indent="0" marL="0">
              <a:buNone/>
            </a:pPr>
            <a:r>
              <a:rPr lang="en-US" sz="4000" b="1" dirty="0">
                <a:solidFill>
                  <a:srgbClr val="FFFFFF"/>
                </a:solidFill>
                <a:latin typeface="Arial" pitchFamily="34" charset="0"/>
                <a:ea typeface="Arial" pitchFamily="34" charset="-122"/>
                <a:cs typeface="Arial" pitchFamily="34" charset="-120"/>
              </a:rPr>
              <a:t>Lab 03</a:t>
            </a:r>
            <a:endParaRPr lang="en-US" sz="4000" dirty="0"/>
          </a:p>
        </p:txBody>
      </p:sp>
      <p:sp>
        <p:nvSpPr>
          <p:cNvPr id="5" name="Text 3"/>
          <p:cNvSpPr txBox="1"/>
          <p:nvPr/>
        </p:nvSpPr>
        <p:spPr>
          <a:xfrm>
            <a:off x="411480" y="1783080"/>
            <a:ext cx="2286000" cy="320040"/>
          </a:xfrm>
          <a:prstGeom prst="rect">
            <a:avLst/>
          </a:prstGeom>
          <a:noFill/>
          <a:ln/>
        </p:spPr>
        <p:txBody>
          <a:bodyPr wrap="square" lIns="0" tIns="0" rIns="0" bIns="0" rtlCol="0" anchor="t"/>
          <a:lstStyle/>
          <a:p>
            <a:pPr indent="0" marL="0">
              <a:buNone/>
            </a:pPr>
            <a:r>
              <a:rPr lang="en-US" sz="1300" dirty="0">
                <a:solidFill>
                  <a:srgbClr val="C9D1DB"/>
                </a:solidFill>
                <a:latin typeface="Calibri" pitchFamily="34" charset="0"/>
                <a:ea typeface="Calibri" pitchFamily="34" charset="-122"/>
                <a:cs typeface="Calibri" pitchFamily="34" charset="-120"/>
              </a:rPr>
              <a:t>60 minutos</a:t>
            </a:r>
            <a:endParaRPr lang="en-US" sz="1300" dirty="0"/>
          </a:p>
        </p:txBody>
      </p:sp>
      <p:sp>
        <p:nvSpPr>
          <p:cNvPr id="6" name="Text 4"/>
          <p:cNvSpPr txBox="1"/>
          <p:nvPr/>
        </p:nvSpPr>
        <p:spPr>
          <a:xfrm>
            <a:off x="411480" y="4114800"/>
            <a:ext cx="2377440" cy="548640"/>
          </a:xfrm>
          <a:prstGeom prst="rect">
            <a:avLst/>
          </a:prstGeom>
          <a:noFill/>
          <a:ln/>
        </p:spPr>
        <p:txBody>
          <a:bodyPr wrap="square" lIns="0" tIns="0" rIns="0" bIns="0" rtlCol="0" anchor="t"/>
          <a:lstStyle/>
          <a:p>
            <a:pPr indent="0" marL="0">
              <a:buNone/>
            </a:pPr>
            <a:r>
              <a:rPr lang="en-US" sz="1000" dirty="0">
                <a:solidFill>
                  <a:srgbClr val="C9D1DB"/>
                </a:solidFill>
                <a:latin typeface="Calibri" pitchFamily="34" charset="0"/>
                <a:ea typeface="Calibri" pitchFamily="34" charset="-122"/>
                <a:cs typeface="Calibri" pitchFamily="34" charset="-120"/>
              </a:rPr>
              <a:t>practicas/Lab03_codepipeline</a:t>
            </a:r>
            <a:endParaRPr lang="en-US" sz="1000" dirty="0"/>
          </a:p>
        </p:txBody>
      </p:sp>
      <p:sp>
        <p:nvSpPr>
          <p:cNvPr id="7" name="Text 5"/>
          <p:cNvSpPr txBox="1"/>
          <p:nvPr/>
        </p:nvSpPr>
        <p:spPr>
          <a:xfrm>
            <a:off x="3383280" y="411480"/>
            <a:ext cx="5303520" cy="822960"/>
          </a:xfrm>
          <a:prstGeom prst="rect">
            <a:avLst/>
          </a:prstGeom>
          <a:noFill/>
          <a:ln/>
        </p:spPr>
        <p:txBody>
          <a:bodyPr wrap="square" lIns="0" tIns="0" rIns="0" bIns="0" rtlCol="0" anchor="ctr"/>
          <a:lstStyle/>
          <a:p>
            <a:pPr indent="0" marL="0">
              <a:buNone/>
            </a:pPr>
            <a:r>
              <a:rPr lang="en-US" sz="2200" b="1" dirty="0">
                <a:solidFill>
                  <a:srgbClr val="232F3E"/>
                </a:solidFill>
                <a:latin typeface="Arial" pitchFamily="34" charset="0"/>
                <a:ea typeface="Arial" pitchFamily="34" charset="-122"/>
                <a:cs typeface="Arial" pitchFamily="34" charset="-120"/>
              </a:rPr>
              <a:t>Pipeline completa con CodePipeline</a:t>
            </a:r>
            <a:endParaRPr lang="en-US" sz="2200" dirty="0"/>
          </a:p>
        </p:txBody>
      </p:sp>
      <p:sp>
        <p:nvSpPr>
          <p:cNvPr id="8" name="Text 6"/>
          <p:cNvSpPr txBox="1"/>
          <p:nvPr/>
        </p:nvSpPr>
        <p:spPr>
          <a:xfrm>
            <a:off x="3383280" y="1280160"/>
            <a:ext cx="5303520" cy="640080"/>
          </a:xfrm>
          <a:prstGeom prst="rect">
            <a:avLst/>
          </a:prstGeom>
          <a:noFill/>
          <a:ln/>
        </p:spPr>
        <p:txBody>
          <a:bodyPr wrap="square" lIns="0" tIns="0" rIns="0" bIns="0" rtlCol="0" anchor="t"/>
          <a:lstStyle/>
          <a:p>
            <a:pPr indent="0" marL="0">
              <a:buNone/>
            </a:pPr>
            <a:r>
              <a:rPr lang="en-US" sz="1250" i="1" dirty="0">
                <a:solidFill>
                  <a:srgbClr val="555B66"/>
                </a:solidFill>
                <a:latin typeface="Calibri" pitchFamily="34" charset="0"/>
                <a:ea typeface="Calibri" pitchFamily="34" charset="-122"/>
                <a:cs typeface="Calibri" pitchFamily="34" charset="-120"/>
              </a:rPr>
              <a:t>Construir una pipeline Source → Build → Aprobación → Deploy que despliega una Lambda con CloudFormation.</a:t>
            </a:r>
            <a:endParaRPr lang="en-US" sz="1250" dirty="0"/>
          </a:p>
        </p:txBody>
      </p:sp>
      <p:sp>
        <p:nvSpPr>
          <p:cNvPr id="9" name="Shape 7"/>
          <p:cNvSpPr/>
          <p:nvPr/>
        </p:nvSpPr>
        <p:spPr>
          <a:xfrm>
            <a:off x="3383280" y="2011680"/>
            <a:ext cx="329184" cy="329184"/>
          </a:xfrm>
          <a:prstGeom prst="ellipse">
            <a:avLst/>
          </a:prstGeom>
          <a:solidFill>
            <a:srgbClr val="FF9900"/>
          </a:solidFill>
          <a:ln w="12700">
            <a:solidFill>
              <a:srgbClr val="FF9900"/>
            </a:solidFill>
            <a:prstDash val="solid"/>
          </a:ln>
        </p:spPr>
      </p:sp>
      <p:sp>
        <p:nvSpPr>
          <p:cNvPr id="10" name="Text 8"/>
          <p:cNvSpPr txBox="1"/>
          <p:nvPr/>
        </p:nvSpPr>
        <p:spPr>
          <a:xfrm>
            <a:off x="3383280" y="2011680"/>
            <a:ext cx="329184" cy="329184"/>
          </a:xfrm>
          <a:prstGeom prst="rect">
            <a:avLst/>
          </a:prstGeom>
          <a:noFill/>
          <a:ln/>
        </p:spPr>
        <p:txBody>
          <a:bodyPr wrap="square" lIns="0" tIns="0" rIns="0" bIns="0" rtlCol="0" anchor="ctr"/>
          <a:lstStyle/>
          <a:p>
            <a:pPr algn="ctr" indent="0" marL="0">
              <a:buNone/>
            </a:pPr>
            <a:r>
              <a:rPr lang="en-US" sz="1100" b="1" dirty="0">
                <a:solidFill>
                  <a:srgbClr val="232F3E"/>
                </a:solidFill>
                <a:latin typeface="Arial" pitchFamily="34" charset="0"/>
                <a:ea typeface="Arial" pitchFamily="34" charset="-122"/>
                <a:cs typeface="Arial" pitchFamily="34" charset="-120"/>
              </a:rPr>
              <a:t>1</a:t>
            </a:r>
            <a:endParaRPr lang="en-US" sz="1100" dirty="0"/>
          </a:p>
        </p:txBody>
      </p:sp>
      <p:sp>
        <p:nvSpPr>
          <p:cNvPr id="11" name="Text 9"/>
          <p:cNvSpPr txBox="1"/>
          <p:nvPr/>
        </p:nvSpPr>
        <p:spPr>
          <a:xfrm>
            <a:off x="3840480" y="1993392"/>
            <a:ext cx="4846320" cy="411480"/>
          </a:xfrm>
          <a:prstGeom prst="rect">
            <a:avLst/>
          </a:prstGeom>
          <a:noFill/>
          <a:ln/>
        </p:spPr>
        <p:txBody>
          <a:bodyPr wrap="square" lIns="0" tIns="0" rIns="0" bIns="0" rtlCol="0" anchor="ctr"/>
          <a:lstStyle/>
          <a:p>
            <a:pPr indent="0" marL="0">
              <a:buNone/>
            </a:pPr>
            <a:r>
              <a:rPr lang="en-US" sz="1200" dirty="0">
                <a:solidFill>
                  <a:srgbClr val="2B2F38"/>
                </a:solidFill>
                <a:latin typeface="Calibri" pitchFamily="34" charset="0"/>
                <a:ea typeface="Calibri" pitchFamily="34" charset="-122"/>
                <a:cs typeface="Calibri" pitchFamily="34" charset="-120"/>
              </a:rPr>
              <a:t>Desplegar el punto de partida: buckets, roles y proyecto base</a:t>
            </a:r>
            <a:endParaRPr lang="en-US" sz="1200" dirty="0"/>
          </a:p>
        </p:txBody>
      </p:sp>
      <p:sp>
        <p:nvSpPr>
          <p:cNvPr id="12" name="Shape 10"/>
          <p:cNvSpPr/>
          <p:nvPr/>
        </p:nvSpPr>
        <p:spPr>
          <a:xfrm>
            <a:off x="3383280" y="2542032"/>
            <a:ext cx="329184" cy="329184"/>
          </a:xfrm>
          <a:prstGeom prst="ellipse">
            <a:avLst/>
          </a:prstGeom>
          <a:solidFill>
            <a:srgbClr val="FF9900"/>
          </a:solidFill>
          <a:ln w="12700">
            <a:solidFill>
              <a:srgbClr val="FF9900"/>
            </a:solidFill>
            <a:prstDash val="solid"/>
          </a:ln>
        </p:spPr>
      </p:sp>
      <p:sp>
        <p:nvSpPr>
          <p:cNvPr id="13" name="Text 11"/>
          <p:cNvSpPr txBox="1"/>
          <p:nvPr/>
        </p:nvSpPr>
        <p:spPr>
          <a:xfrm>
            <a:off x="3383280" y="2542032"/>
            <a:ext cx="329184" cy="329184"/>
          </a:xfrm>
          <a:prstGeom prst="rect">
            <a:avLst/>
          </a:prstGeom>
          <a:noFill/>
          <a:ln/>
        </p:spPr>
        <p:txBody>
          <a:bodyPr wrap="square" lIns="0" tIns="0" rIns="0" bIns="0" rtlCol="0" anchor="ctr"/>
          <a:lstStyle/>
          <a:p>
            <a:pPr algn="ctr" indent="0" marL="0">
              <a:buNone/>
            </a:pPr>
            <a:r>
              <a:rPr lang="en-US" sz="1100" b="1" dirty="0">
                <a:solidFill>
                  <a:srgbClr val="232F3E"/>
                </a:solidFill>
                <a:latin typeface="Arial" pitchFamily="34" charset="0"/>
                <a:ea typeface="Arial" pitchFamily="34" charset="-122"/>
                <a:cs typeface="Arial" pitchFamily="34" charset="-120"/>
              </a:rPr>
              <a:t>2</a:t>
            </a:r>
            <a:endParaRPr lang="en-US" sz="1100" dirty="0"/>
          </a:p>
        </p:txBody>
      </p:sp>
      <p:sp>
        <p:nvSpPr>
          <p:cNvPr id="14" name="Text 12"/>
          <p:cNvSpPr txBox="1"/>
          <p:nvPr/>
        </p:nvSpPr>
        <p:spPr>
          <a:xfrm>
            <a:off x="3840480" y="2523744"/>
            <a:ext cx="4846320" cy="411480"/>
          </a:xfrm>
          <a:prstGeom prst="rect">
            <a:avLst/>
          </a:prstGeom>
          <a:noFill/>
          <a:ln/>
        </p:spPr>
        <p:txBody>
          <a:bodyPr wrap="square" lIns="0" tIns="0" rIns="0" bIns="0" rtlCol="0" anchor="ctr"/>
          <a:lstStyle/>
          <a:p>
            <a:pPr indent="0" marL="0">
              <a:buNone/>
            </a:pPr>
            <a:r>
              <a:rPr lang="en-US" sz="1200" dirty="0">
                <a:solidFill>
                  <a:srgbClr val="2B2F38"/>
                </a:solidFill>
                <a:latin typeface="Calibri" pitchFamily="34" charset="0"/>
                <a:ea typeface="Calibri" pitchFamily="34" charset="-122"/>
                <a:cs typeface="Calibri" pitchFamily="34" charset="-120"/>
              </a:rPr>
              <a:t>Preparar la aplicación, la plantilla SAM y el buildspec</a:t>
            </a:r>
            <a:endParaRPr lang="en-US" sz="1200" dirty="0"/>
          </a:p>
        </p:txBody>
      </p:sp>
      <p:sp>
        <p:nvSpPr>
          <p:cNvPr id="15" name="Shape 13"/>
          <p:cNvSpPr/>
          <p:nvPr/>
        </p:nvSpPr>
        <p:spPr>
          <a:xfrm>
            <a:off x="3383280" y="3072384"/>
            <a:ext cx="329184" cy="329184"/>
          </a:xfrm>
          <a:prstGeom prst="ellipse">
            <a:avLst/>
          </a:prstGeom>
          <a:solidFill>
            <a:srgbClr val="FF9900"/>
          </a:solidFill>
          <a:ln w="12700">
            <a:solidFill>
              <a:srgbClr val="FF9900"/>
            </a:solidFill>
            <a:prstDash val="solid"/>
          </a:ln>
        </p:spPr>
      </p:sp>
      <p:sp>
        <p:nvSpPr>
          <p:cNvPr id="16" name="Text 14"/>
          <p:cNvSpPr txBox="1"/>
          <p:nvPr/>
        </p:nvSpPr>
        <p:spPr>
          <a:xfrm>
            <a:off x="3383280" y="3072384"/>
            <a:ext cx="329184" cy="329184"/>
          </a:xfrm>
          <a:prstGeom prst="rect">
            <a:avLst/>
          </a:prstGeom>
          <a:noFill/>
          <a:ln/>
        </p:spPr>
        <p:txBody>
          <a:bodyPr wrap="square" lIns="0" tIns="0" rIns="0" bIns="0" rtlCol="0" anchor="ctr"/>
          <a:lstStyle/>
          <a:p>
            <a:pPr algn="ctr" indent="0" marL="0">
              <a:buNone/>
            </a:pPr>
            <a:r>
              <a:rPr lang="en-US" sz="1100" b="1" dirty="0">
                <a:solidFill>
                  <a:srgbClr val="232F3E"/>
                </a:solidFill>
                <a:latin typeface="Arial" pitchFamily="34" charset="0"/>
                <a:ea typeface="Arial" pitchFamily="34" charset="-122"/>
                <a:cs typeface="Arial" pitchFamily="34" charset="-120"/>
              </a:rPr>
              <a:t>3</a:t>
            </a:r>
            <a:endParaRPr lang="en-US" sz="1100" dirty="0"/>
          </a:p>
        </p:txBody>
      </p:sp>
      <p:sp>
        <p:nvSpPr>
          <p:cNvPr id="17" name="Text 15"/>
          <p:cNvSpPr txBox="1"/>
          <p:nvPr/>
        </p:nvSpPr>
        <p:spPr>
          <a:xfrm>
            <a:off x="3840480" y="3054096"/>
            <a:ext cx="4846320" cy="411480"/>
          </a:xfrm>
          <a:prstGeom prst="rect">
            <a:avLst/>
          </a:prstGeom>
          <a:noFill/>
          <a:ln/>
        </p:spPr>
        <p:txBody>
          <a:bodyPr wrap="square" lIns="0" tIns="0" rIns="0" bIns="0" rtlCol="0" anchor="ctr"/>
          <a:lstStyle/>
          <a:p>
            <a:pPr indent="0" marL="0">
              <a:buNone/>
            </a:pPr>
            <a:r>
              <a:rPr lang="en-US" sz="1200" dirty="0">
                <a:solidFill>
                  <a:srgbClr val="2B2F38"/>
                </a:solidFill>
                <a:latin typeface="Calibri" pitchFamily="34" charset="0"/>
                <a:ea typeface="Calibri" pitchFamily="34" charset="-122"/>
                <a:cs typeface="Calibri" pitchFamily="34" charset="-120"/>
              </a:rPr>
              <a:t>Crear la pipeline con origen S3 y etapa de build</a:t>
            </a:r>
            <a:endParaRPr lang="en-US" sz="1200" dirty="0"/>
          </a:p>
        </p:txBody>
      </p:sp>
      <p:sp>
        <p:nvSpPr>
          <p:cNvPr id="18" name="Shape 16"/>
          <p:cNvSpPr/>
          <p:nvPr/>
        </p:nvSpPr>
        <p:spPr>
          <a:xfrm>
            <a:off x="3383280" y="3602736"/>
            <a:ext cx="329184" cy="329184"/>
          </a:xfrm>
          <a:prstGeom prst="ellipse">
            <a:avLst/>
          </a:prstGeom>
          <a:solidFill>
            <a:srgbClr val="FF9900"/>
          </a:solidFill>
          <a:ln w="12700">
            <a:solidFill>
              <a:srgbClr val="FF9900"/>
            </a:solidFill>
            <a:prstDash val="solid"/>
          </a:ln>
        </p:spPr>
      </p:sp>
      <p:sp>
        <p:nvSpPr>
          <p:cNvPr id="19" name="Text 17"/>
          <p:cNvSpPr txBox="1"/>
          <p:nvPr/>
        </p:nvSpPr>
        <p:spPr>
          <a:xfrm>
            <a:off x="3383280" y="3602736"/>
            <a:ext cx="329184" cy="329184"/>
          </a:xfrm>
          <a:prstGeom prst="rect">
            <a:avLst/>
          </a:prstGeom>
          <a:noFill/>
          <a:ln/>
        </p:spPr>
        <p:txBody>
          <a:bodyPr wrap="square" lIns="0" tIns="0" rIns="0" bIns="0" rtlCol="0" anchor="ctr"/>
          <a:lstStyle/>
          <a:p>
            <a:pPr algn="ctr" indent="0" marL="0">
              <a:buNone/>
            </a:pPr>
            <a:r>
              <a:rPr lang="en-US" sz="1100" b="1" dirty="0">
                <a:solidFill>
                  <a:srgbClr val="232F3E"/>
                </a:solidFill>
                <a:latin typeface="Arial" pitchFamily="34" charset="0"/>
                <a:ea typeface="Arial" pitchFamily="34" charset="-122"/>
                <a:cs typeface="Arial" pitchFamily="34" charset="-120"/>
              </a:rPr>
              <a:t>4</a:t>
            </a:r>
            <a:endParaRPr lang="en-US" sz="1100" dirty="0"/>
          </a:p>
        </p:txBody>
      </p:sp>
      <p:sp>
        <p:nvSpPr>
          <p:cNvPr id="20" name="Text 18"/>
          <p:cNvSpPr txBox="1"/>
          <p:nvPr/>
        </p:nvSpPr>
        <p:spPr>
          <a:xfrm>
            <a:off x="3840480" y="3584448"/>
            <a:ext cx="4846320" cy="411480"/>
          </a:xfrm>
          <a:prstGeom prst="rect">
            <a:avLst/>
          </a:prstGeom>
          <a:noFill/>
          <a:ln/>
        </p:spPr>
        <p:txBody>
          <a:bodyPr wrap="square" lIns="0" tIns="0" rIns="0" bIns="0" rtlCol="0" anchor="ctr"/>
          <a:lstStyle/>
          <a:p>
            <a:pPr indent="0" marL="0">
              <a:buNone/>
            </a:pPr>
            <a:r>
              <a:rPr lang="en-US" sz="1200" dirty="0">
                <a:solidFill>
                  <a:srgbClr val="2B2F38"/>
                </a:solidFill>
                <a:latin typeface="Calibri" pitchFamily="34" charset="0"/>
                <a:ea typeface="Calibri" pitchFamily="34" charset="-122"/>
                <a:cs typeface="Calibri" pitchFamily="34" charset="-120"/>
              </a:rPr>
              <a:t>Añadir aprobación manual y despliegue con CloudFormation</a:t>
            </a:r>
            <a:endParaRPr lang="en-US" sz="1200" dirty="0"/>
          </a:p>
        </p:txBody>
      </p:sp>
      <p:sp>
        <p:nvSpPr>
          <p:cNvPr id="21" name="Shape 19"/>
          <p:cNvSpPr/>
          <p:nvPr/>
        </p:nvSpPr>
        <p:spPr>
          <a:xfrm>
            <a:off x="3383280" y="4133088"/>
            <a:ext cx="329184" cy="329184"/>
          </a:xfrm>
          <a:prstGeom prst="ellipse">
            <a:avLst/>
          </a:prstGeom>
          <a:solidFill>
            <a:srgbClr val="FF9900"/>
          </a:solidFill>
          <a:ln w="12700">
            <a:solidFill>
              <a:srgbClr val="FF9900"/>
            </a:solidFill>
            <a:prstDash val="solid"/>
          </a:ln>
        </p:spPr>
      </p:sp>
      <p:sp>
        <p:nvSpPr>
          <p:cNvPr id="22" name="Text 20"/>
          <p:cNvSpPr txBox="1"/>
          <p:nvPr/>
        </p:nvSpPr>
        <p:spPr>
          <a:xfrm>
            <a:off x="3383280" y="4133088"/>
            <a:ext cx="329184" cy="329184"/>
          </a:xfrm>
          <a:prstGeom prst="rect">
            <a:avLst/>
          </a:prstGeom>
          <a:noFill/>
          <a:ln/>
        </p:spPr>
        <p:txBody>
          <a:bodyPr wrap="square" lIns="0" tIns="0" rIns="0" bIns="0" rtlCol="0" anchor="ctr"/>
          <a:lstStyle/>
          <a:p>
            <a:pPr algn="ctr" indent="0" marL="0">
              <a:buNone/>
            </a:pPr>
            <a:r>
              <a:rPr lang="en-US" sz="1100" b="1" dirty="0">
                <a:solidFill>
                  <a:srgbClr val="232F3E"/>
                </a:solidFill>
                <a:latin typeface="Arial" pitchFamily="34" charset="0"/>
                <a:ea typeface="Arial" pitchFamily="34" charset="-122"/>
                <a:cs typeface="Arial" pitchFamily="34" charset="-120"/>
              </a:rPr>
              <a:t>5</a:t>
            </a:r>
            <a:endParaRPr lang="en-US" sz="1100" dirty="0"/>
          </a:p>
        </p:txBody>
      </p:sp>
      <p:sp>
        <p:nvSpPr>
          <p:cNvPr id="23" name="Text 21"/>
          <p:cNvSpPr txBox="1"/>
          <p:nvPr/>
        </p:nvSpPr>
        <p:spPr>
          <a:xfrm>
            <a:off x="3840480" y="4114800"/>
            <a:ext cx="4846320" cy="411480"/>
          </a:xfrm>
          <a:prstGeom prst="rect">
            <a:avLst/>
          </a:prstGeom>
          <a:noFill/>
          <a:ln/>
        </p:spPr>
        <p:txBody>
          <a:bodyPr wrap="square" lIns="0" tIns="0" rIns="0" bIns="0" rtlCol="0" anchor="ctr"/>
          <a:lstStyle/>
          <a:p>
            <a:pPr indent="0" marL="0">
              <a:buNone/>
            </a:pPr>
            <a:r>
              <a:rPr lang="en-US" sz="1200" dirty="0">
                <a:solidFill>
                  <a:srgbClr val="2B2F38"/>
                </a:solidFill>
                <a:latin typeface="Calibri" pitchFamily="34" charset="0"/>
                <a:ea typeface="Calibri" pitchFamily="34" charset="-122"/>
                <a:cs typeface="Calibri" pitchFamily="34" charset="-120"/>
              </a:rPr>
              <a:t>Publicar una versión nueva y seguir la ejecución completa</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32F3E"/>
        </a:solidFill>
      </p:bgPr>
    </p:bg>
    <p:spTree>
      <p:nvGrpSpPr>
        <p:cNvPr id="1" name=""/>
        <p:cNvGrpSpPr/>
        <p:nvPr/>
      </p:nvGrpSpPr>
      <p:grpSpPr>
        <a:xfrm>
          <a:off x="0" y="0"/>
          <a:ext cx="0" cy="0"/>
          <a:chOff x="0" y="0"/>
          <a:chExt cx="0" cy="0"/>
        </a:xfrm>
      </p:grpSpPr>
      <p:sp>
        <p:nvSpPr>
          <p:cNvPr id="2" name="Text 0"/>
          <p:cNvSpPr txBox="1"/>
          <p:nvPr/>
        </p:nvSpPr>
        <p:spPr>
          <a:xfrm>
            <a:off x="548640" y="731520"/>
            <a:ext cx="2286000" cy="1280160"/>
          </a:xfrm>
          <a:prstGeom prst="rect">
            <a:avLst/>
          </a:prstGeom>
          <a:noFill/>
          <a:ln/>
        </p:spPr>
        <p:txBody>
          <a:bodyPr wrap="square" lIns="0" tIns="0" rIns="0" bIns="0" rtlCol="0" anchor="b"/>
          <a:lstStyle/>
          <a:p>
            <a:pPr indent="0" marL="0">
              <a:buNone/>
            </a:pPr>
            <a:r>
              <a:rPr lang="en-US" sz="7200" b="1" dirty="0">
                <a:solidFill>
                  <a:srgbClr val="FF9900"/>
                </a:solidFill>
                <a:latin typeface="Arial" pitchFamily="34" charset="0"/>
                <a:ea typeface="Arial" pitchFamily="34" charset="-122"/>
                <a:cs typeface="Arial" pitchFamily="34" charset="-120"/>
              </a:rPr>
              <a:t>05</a:t>
            </a:r>
            <a:endParaRPr lang="en-US" sz="7200" dirty="0"/>
          </a:p>
        </p:txBody>
      </p:sp>
      <p:sp>
        <p:nvSpPr>
          <p:cNvPr id="3" name="Text 1"/>
          <p:cNvSpPr txBox="1"/>
          <p:nvPr/>
        </p:nvSpPr>
        <p:spPr>
          <a:xfrm>
            <a:off x="548640" y="2148840"/>
            <a:ext cx="7863840" cy="1325880"/>
          </a:xfrm>
          <a:prstGeom prst="rect">
            <a:avLst/>
          </a:prstGeom>
          <a:noFill/>
          <a:ln/>
        </p:spPr>
        <p:txBody>
          <a:bodyPr wrap="square" lIns="0" tIns="0" rIns="0" bIns="0" rtlCol="0" anchor="t"/>
          <a:lstStyle/>
          <a:p>
            <a:pPr indent="0" marL="0">
              <a:buNone/>
            </a:pPr>
            <a:r>
              <a:rPr lang="en-US" sz="3000" b="1" dirty="0">
                <a:solidFill>
                  <a:srgbClr val="FFFFFF"/>
                </a:solidFill>
                <a:latin typeface="Arial" pitchFamily="34" charset="0"/>
                <a:ea typeface="Arial" pitchFamily="34" charset="-122"/>
                <a:cs typeface="Arial" pitchFamily="34" charset="-120"/>
              </a:rPr>
              <a:t>Despliegues seguros y observabilidad</a:t>
            </a:r>
            <a:endParaRPr lang="en-US" sz="3000" dirty="0"/>
          </a:p>
        </p:txBody>
      </p:sp>
      <p:sp>
        <p:nvSpPr>
          <p:cNvPr id="4" name="Text 2"/>
          <p:cNvSpPr txBox="1"/>
          <p:nvPr/>
        </p:nvSpPr>
        <p:spPr>
          <a:xfrm>
            <a:off x="548640" y="3657600"/>
            <a:ext cx="7680960" cy="731520"/>
          </a:xfrm>
          <a:prstGeom prst="rect">
            <a:avLst/>
          </a:prstGeom>
          <a:noFill/>
          <a:ln/>
        </p:spPr>
        <p:txBody>
          <a:bodyPr wrap="square" lIns="0" tIns="0" rIns="0" bIns="0" rtlCol="0" anchor="t"/>
          <a:lstStyle/>
          <a:p>
            <a:pPr indent="0" marL="0">
              <a:buNone/>
            </a:pPr>
            <a:r>
              <a:rPr lang="en-US" sz="1500" dirty="0">
                <a:solidFill>
                  <a:srgbClr val="C9D1DB"/>
                </a:solidFill>
                <a:latin typeface="Calibri" pitchFamily="34" charset="0"/>
                <a:ea typeface="Calibri" pitchFamily="34" charset="-122"/>
                <a:cs typeface="Calibri" pitchFamily="34" charset="-120"/>
              </a:rPr>
              <a:t>Si algo va mal, que se note pronto, afecte a pocos y se revierta solo</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292608"/>
            <a:ext cx="8229600" cy="685800"/>
          </a:xfrm>
          <a:prstGeom prst="rect">
            <a:avLst/>
          </a:prstGeom>
          <a:noFill/>
          <a:ln/>
        </p:spPr>
        <p:txBody>
          <a:bodyPr wrap="square" lIns="0" tIns="0" rIns="0" bIns="0" rtlCol="0" anchor="ctr"/>
          <a:lstStyle/>
          <a:p>
            <a:pPr indent="0" marL="0">
              <a:buNone/>
            </a:pPr>
            <a:r>
              <a:rPr lang="en-US" sz="2400" b="1" dirty="0">
                <a:solidFill>
                  <a:srgbClr val="232F3E"/>
                </a:solidFill>
                <a:latin typeface="Arial" pitchFamily="34" charset="0"/>
                <a:ea typeface="Arial" pitchFamily="34" charset="-122"/>
                <a:cs typeface="Arial" pitchFamily="34" charset="-120"/>
              </a:rPr>
              <a:t>Canary con rollback automático en SAM</a:t>
            </a:r>
            <a:endParaRPr lang="en-US" sz="2400" dirty="0"/>
          </a:p>
        </p:txBody>
      </p:sp>
      <p:sp>
        <p:nvSpPr>
          <p:cNvPr id="3" name="Text 1"/>
          <p:cNvSpPr txBox="1"/>
          <p:nvPr/>
        </p:nvSpPr>
        <p:spPr>
          <a:xfrm>
            <a:off x="457200" y="1097280"/>
            <a:ext cx="2926080" cy="3520440"/>
          </a:xfrm>
          <a:prstGeom prst="rect">
            <a:avLst/>
          </a:prstGeom>
          <a:noFill/>
          <a:ln/>
        </p:spPr>
        <p:txBody>
          <a:bodyPr wrap="square" lIns="0" tIns="0" rIns="0" bIns="0" rtlCol="0" anchor="t"/>
          <a:lstStyle/>
          <a:p>
            <a:pPr indent="0" marL="0">
              <a:spcAft>
                <a:spcPts val="800"/>
              </a:spcAft>
              <a:buNone/>
            </a:pPr>
            <a:r>
              <a:rPr lang="en-US" sz="1250" dirty="0">
                <a:solidFill>
                  <a:srgbClr val="2B2F38"/>
                </a:solidFill>
                <a:latin typeface="Calibri" pitchFamily="34" charset="0"/>
                <a:ea typeface="Calibri" pitchFamily="34" charset="-122"/>
                <a:cs typeface="Calibri" pitchFamily="34" charset="-120"/>
              </a:rPr>
              <a:t>SAM crea el alias, la aplicación de CodeDeploy y el despliegue gradual con muy pocas líneas.</a:t>
            </a:r>
            <a:endParaRPr lang="en-US" sz="1250" dirty="0"/>
          </a:p>
          <a:p>
            <a:pPr marL="152400" indent="-152400">
              <a:spcAft>
                <a:spcPts val="500"/>
              </a:spcAft>
              <a:buSzPct val="100000"/>
              <a:buChar char="•"/>
            </a:pPr>
            <a:r>
              <a:rPr lang="en-US" sz="1200" dirty="0">
                <a:solidFill>
                  <a:srgbClr val="2B2F38"/>
                </a:solidFill>
                <a:latin typeface="Calibri" pitchFamily="34" charset="0"/>
                <a:ea typeface="Calibri" pitchFamily="34" charset="-122"/>
                <a:cs typeface="Calibri" pitchFamily="34" charset="-120"/>
              </a:rPr>
              <a:t>AutoPublishAlias publica versión y alias live</a:t>
            </a:r>
            <a:endParaRPr lang="en-US" sz="1250" dirty="0"/>
          </a:p>
          <a:p>
            <a:pPr marL="152400" indent="-152400">
              <a:spcAft>
                <a:spcPts val="500"/>
              </a:spcAft>
              <a:buSzPct val="100000"/>
              <a:buChar char="•"/>
            </a:pPr>
            <a:r>
              <a:rPr lang="en-US" sz="1200" dirty="0">
                <a:solidFill>
                  <a:srgbClr val="2B2F38"/>
                </a:solidFill>
                <a:latin typeface="Calibri" pitchFamily="34" charset="0"/>
                <a:ea typeface="Calibri" pitchFamily="34" charset="-122"/>
                <a:cs typeface="Calibri" pitchFamily="34" charset="-120"/>
              </a:rPr>
              <a:t>Canary10Percent5Minutes: 10 % durante 5 minutos</a:t>
            </a:r>
            <a:endParaRPr lang="en-US" sz="1250" dirty="0"/>
          </a:p>
          <a:p>
            <a:pPr marL="152400" indent="-152400">
              <a:spcAft>
                <a:spcPts val="500"/>
              </a:spcAft>
              <a:buSzPct val="100000"/>
              <a:buChar char="•"/>
            </a:pPr>
            <a:r>
              <a:rPr lang="en-US" sz="1200" dirty="0">
                <a:solidFill>
                  <a:srgbClr val="2B2F38"/>
                </a:solidFill>
                <a:latin typeface="Calibri" pitchFamily="34" charset="0"/>
                <a:ea typeface="Calibri" pitchFamily="34" charset="-122"/>
                <a:cs typeface="Calibri" pitchFamily="34" charset="-120"/>
              </a:rPr>
              <a:t>Si la alarma salta, CodeDeploy revierte</a:t>
            </a:r>
            <a:endParaRPr lang="en-US" sz="1250" dirty="0"/>
          </a:p>
        </p:txBody>
      </p:sp>
      <p:sp>
        <p:nvSpPr>
          <p:cNvPr id="4" name="Shape 2"/>
          <p:cNvSpPr/>
          <p:nvPr/>
        </p:nvSpPr>
        <p:spPr>
          <a:xfrm>
            <a:off x="3657600" y="1097280"/>
            <a:ext cx="5029200" cy="3520440"/>
          </a:xfrm>
          <a:prstGeom prst="roundRect">
            <a:avLst>
              <a:gd name="adj" fmla="val 1558"/>
            </a:avLst>
          </a:prstGeom>
          <a:solidFill>
            <a:srgbClr val="1E1E24"/>
          </a:solidFill>
          <a:ln w="12700">
            <a:solidFill>
              <a:srgbClr val="1E1E24"/>
            </a:solidFill>
            <a:prstDash val="solid"/>
          </a:ln>
        </p:spPr>
      </p:sp>
      <p:sp>
        <p:nvSpPr>
          <p:cNvPr id="5" name="Text 3"/>
          <p:cNvSpPr txBox="1"/>
          <p:nvPr/>
        </p:nvSpPr>
        <p:spPr>
          <a:xfrm>
            <a:off x="3840480" y="1170432"/>
            <a:ext cx="1828800" cy="228600"/>
          </a:xfrm>
          <a:prstGeom prst="rect">
            <a:avLst/>
          </a:prstGeom>
          <a:noFill/>
          <a:ln/>
        </p:spPr>
        <p:txBody>
          <a:bodyPr wrap="square" lIns="0" tIns="0" rIns="0" bIns="0" rtlCol="0" anchor="t"/>
          <a:lstStyle/>
          <a:p>
            <a:pPr indent="0" marL="0">
              <a:buNone/>
            </a:pPr>
            <a:r>
              <a:rPr lang="en-US" sz="900" b="1" dirty="0">
                <a:solidFill>
                  <a:srgbClr val="FF9900"/>
                </a:solidFill>
                <a:latin typeface="Calibri" pitchFamily="34" charset="0"/>
                <a:ea typeface="Calibri" pitchFamily="34" charset="-122"/>
                <a:cs typeface="Calibri" pitchFamily="34" charset="-120"/>
              </a:rPr>
              <a:t>YAML</a:t>
            </a:r>
            <a:endParaRPr lang="en-US" sz="900" dirty="0"/>
          </a:p>
        </p:txBody>
      </p:sp>
      <p:sp>
        <p:nvSpPr>
          <p:cNvPr id="6" name="Text 4"/>
          <p:cNvSpPr txBox="1"/>
          <p:nvPr/>
        </p:nvSpPr>
        <p:spPr>
          <a:xfrm>
            <a:off x="3840480" y="1417320"/>
            <a:ext cx="4663440" cy="3108960"/>
          </a:xfrm>
          <a:prstGeom prst="rect">
            <a:avLst/>
          </a:prstGeom>
          <a:noFill/>
          <a:ln/>
        </p:spPr>
        <p:txBody>
          <a:bodyPr wrap="square" lIns="0" tIns="0" rIns="0" bIns="0" rtlCol="0" anchor="t"/>
          <a:lstStyle/>
          <a:p>
            <a:pPr indent="0" marL="0">
              <a:buNone/>
            </a:pPr>
            <a:r>
              <a:rPr lang="en-US" sz="650" dirty="0">
                <a:solidFill>
                  <a:srgbClr val="E6E6E6"/>
                </a:solidFill>
                <a:latin typeface="Courier New" pitchFamily="34" charset="0"/>
                <a:ea typeface="Courier New" pitchFamily="34" charset="-122"/>
                <a:cs typeface="Courier New" pitchFamily="34" charset="-120"/>
              </a:rPr>
              <a:t>Resources:</a:t>
            </a:r>
            <a:endParaRPr lang="en-US" sz="650" dirty="0"/>
          </a:p>
          <a:p>
            <a:pPr indent="0" marL="0">
              <a:buNone/>
            </a:pPr>
            <a:r>
              <a:rPr lang="en-US" sz="650" dirty="0">
                <a:solidFill>
                  <a:srgbClr val="E6E6E6"/>
                </a:solidFill>
                <a:latin typeface="Courier New" pitchFamily="34" charset="0"/>
                <a:ea typeface="Courier New" pitchFamily="34" charset="-122"/>
                <a:cs typeface="Courier New" pitchFamily="34" charset="-120"/>
              </a:rPr>
              <a:t>  Funcion:</a:t>
            </a:r>
            <a:endParaRPr lang="en-US" sz="650" dirty="0"/>
          </a:p>
          <a:p>
            <a:pPr indent="0" marL="0">
              <a:buNone/>
            </a:pPr>
            <a:r>
              <a:rPr lang="en-US" sz="650" dirty="0">
                <a:solidFill>
                  <a:srgbClr val="E6E6E6"/>
                </a:solidFill>
                <a:latin typeface="Courier New" pitchFamily="34" charset="0"/>
                <a:ea typeface="Courier New" pitchFamily="34" charset="-122"/>
                <a:cs typeface="Courier New" pitchFamily="34" charset="-120"/>
              </a:rPr>
              <a:t>    Type: AWS::Serverless::Function</a:t>
            </a:r>
            <a:endParaRPr lang="en-US" sz="650" dirty="0"/>
          </a:p>
          <a:p>
            <a:pPr indent="0" marL="0">
              <a:buNone/>
            </a:pPr>
            <a:r>
              <a:rPr lang="en-US" sz="650" dirty="0">
                <a:solidFill>
                  <a:srgbClr val="E6E6E6"/>
                </a:solidFill>
                <a:latin typeface="Courier New" pitchFamily="34" charset="0"/>
                <a:ea typeface="Courier New" pitchFamily="34" charset="-122"/>
                <a:cs typeface="Courier New" pitchFamily="34" charset="-120"/>
              </a:rPr>
              <a:t>    Properties:</a:t>
            </a:r>
            <a:endParaRPr lang="en-US" sz="650" dirty="0"/>
          </a:p>
          <a:p>
            <a:pPr indent="0" marL="0">
              <a:buNone/>
            </a:pPr>
            <a:r>
              <a:rPr lang="en-US" sz="650" dirty="0">
                <a:solidFill>
                  <a:srgbClr val="E6E6E6"/>
                </a:solidFill>
                <a:latin typeface="Courier New" pitchFamily="34" charset="0"/>
                <a:ea typeface="Courier New" pitchFamily="34" charset="-122"/>
                <a:cs typeface="Courier New" pitchFamily="34" charset="-120"/>
              </a:rPr>
              <a:t>      Runtime: python3.12</a:t>
            </a:r>
            <a:endParaRPr lang="en-US" sz="650" dirty="0"/>
          </a:p>
          <a:p>
            <a:pPr indent="0" marL="0">
              <a:buNone/>
            </a:pPr>
            <a:r>
              <a:rPr lang="en-US" sz="650" dirty="0">
                <a:solidFill>
                  <a:srgbClr val="E6E6E6"/>
                </a:solidFill>
                <a:latin typeface="Courier New" pitchFamily="34" charset="0"/>
                <a:ea typeface="Courier New" pitchFamily="34" charset="-122"/>
                <a:cs typeface="Courier New" pitchFamily="34" charset="-120"/>
              </a:rPr>
              <a:t>      Handler: app.handler</a:t>
            </a:r>
            <a:endParaRPr lang="en-US" sz="650" dirty="0"/>
          </a:p>
          <a:p>
            <a:pPr indent="0" marL="0">
              <a:buNone/>
            </a:pPr>
            <a:r>
              <a:rPr lang="en-US" sz="650" dirty="0">
                <a:solidFill>
                  <a:srgbClr val="E6E6E6"/>
                </a:solidFill>
                <a:latin typeface="Courier New" pitchFamily="34" charset="0"/>
                <a:ea typeface="Courier New" pitchFamily="34" charset="-122"/>
                <a:cs typeface="Courier New" pitchFamily="34" charset="-120"/>
              </a:rPr>
              <a:t>      CodeUri: src/</a:t>
            </a:r>
            <a:endParaRPr lang="en-US" sz="650" dirty="0"/>
          </a:p>
          <a:p>
            <a:pPr indent="0" marL="0">
              <a:buNone/>
            </a:pPr>
            <a:r>
              <a:rPr lang="en-US" sz="650" dirty="0">
                <a:solidFill>
                  <a:srgbClr val="E6E6E6"/>
                </a:solidFill>
                <a:latin typeface="Courier New" pitchFamily="34" charset="0"/>
                <a:ea typeface="Courier New" pitchFamily="34" charset="-122"/>
                <a:cs typeface="Courier New" pitchFamily="34" charset="-120"/>
              </a:rPr>
              <a:t>      AutoPublishAlias: live</a:t>
            </a:r>
            <a:endParaRPr lang="en-US" sz="650" dirty="0"/>
          </a:p>
          <a:p>
            <a:pPr indent="0" marL="0">
              <a:buNone/>
            </a:pPr>
            <a:r>
              <a:rPr lang="en-US" sz="650" dirty="0">
                <a:solidFill>
                  <a:srgbClr val="E6E6E6"/>
                </a:solidFill>
                <a:latin typeface="Courier New" pitchFamily="34" charset="0"/>
                <a:ea typeface="Courier New" pitchFamily="34" charset="-122"/>
                <a:cs typeface="Courier New" pitchFamily="34" charset="-120"/>
              </a:rPr>
              <a:t>      DeploymentPreference:</a:t>
            </a:r>
            <a:endParaRPr lang="en-US" sz="650" dirty="0"/>
          </a:p>
          <a:p>
            <a:pPr indent="0" marL="0">
              <a:buNone/>
            </a:pPr>
            <a:r>
              <a:rPr lang="en-US" sz="650" dirty="0">
                <a:solidFill>
                  <a:srgbClr val="E6E6E6"/>
                </a:solidFill>
                <a:latin typeface="Courier New" pitchFamily="34" charset="0"/>
                <a:ea typeface="Courier New" pitchFamily="34" charset="-122"/>
                <a:cs typeface="Courier New" pitchFamily="34" charset="-120"/>
              </a:rPr>
              <a:t>        Type: Canary10Percent5Minutes</a:t>
            </a:r>
            <a:endParaRPr lang="en-US" sz="650" dirty="0"/>
          </a:p>
          <a:p>
            <a:pPr indent="0" marL="0">
              <a:buNone/>
            </a:pPr>
            <a:r>
              <a:rPr lang="en-US" sz="650" dirty="0">
                <a:solidFill>
                  <a:srgbClr val="E6E6E6"/>
                </a:solidFill>
                <a:latin typeface="Courier New" pitchFamily="34" charset="0"/>
                <a:ea typeface="Courier New" pitchFamily="34" charset="-122"/>
                <a:cs typeface="Courier New" pitchFamily="34" charset="-120"/>
              </a:rPr>
              <a:t>        Alarms:</a:t>
            </a:r>
            <a:endParaRPr lang="en-US" sz="650" dirty="0"/>
          </a:p>
          <a:p>
            <a:pPr indent="0" marL="0">
              <a:buNone/>
            </a:pPr>
            <a:r>
              <a:rPr lang="en-US" sz="650" dirty="0">
                <a:solidFill>
                  <a:srgbClr val="E6E6E6"/>
                </a:solidFill>
                <a:latin typeface="Courier New" pitchFamily="34" charset="0"/>
                <a:ea typeface="Courier New" pitchFamily="34" charset="-122"/>
                <a:cs typeface="Courier New" pitchFamily="34" charset="-120"/>
              </a:rPr>
              <a:t>          - !Ref AlarmaErrores</a:t>
            </a:r>
            <a:endParaRPr lang="en-US" sz="650" dirty="0"/>
          </a:p>
          <a:p>
            <a:pPr indent="0" marL="0">
              <a:buNone/>
            </a:pPr>
            <a:r>
              <a:rPr lang="en-US" sz="650" dirty="0">
                <a:solidFill>
                  <a:srgbClr val="E6E6E6"/>
                </a:solidFill>
                <a:latin typeface="Courier New" pitchFamily="34" charset="0"/>
                <a:ea typeface="Courier New" pitchFamily="34" charset="-122"/>
                <a:cs typeface="Courier New" pitchFamily="34" charset="-120"/>
              </a:rPr>
              <a:t>  AlarmaErrores:</a:t>
            </a:r>
            <a:endParaRPr lang="en-US" sz="650" dirty="0"/>
          </a:p>
          <a:p>
            <a:pPr indent="0" marL="0">
              <a:buNone/>
            </a:pPr>
            <a:r>
              <a:rPr lang="en-US" sz="650" dirty="0">
                <a:solidFill>
                  <a:srgbClr val="E6E6E6"/>
                </a:solidFill>
                <a:latin typeface="Courier New" pitchFamily="34" charset="0"/>
                <a:ea typeface="Courier New" pitchFamily="34" charset="-122"/>
                <a:cs typeface="Courier New" pitchFamily="34" charset="-120"/>
              </a:rPr>
              <a:t>    Type: AWS::CloudWatch::Alarm</a:t>
            </a:r>
            <a:endParaRPr lang="en-US" sz="650" dirty="0"/>
          </a:p>
          <a:p>
            <a:pPr indent="0" marL="0">
              <a:buNone/>
            </a:pPr>
            <a:r>
              <a:rPr lang="en-US" sz="650" dirty="0">
                <a:solidFill>
                  <a:srgbClr val="E6E6E6"/>
                </a:solidFill>
                <a:latin typeface="Courier New" pitchFamily="34" charset="0"/>
                <a:ea typeface="Courier New" pitchFamily="34" charset="-122"/>
                <a:cs typeface="Courier New" pitchFamily="34" charset="-120"/>
              </a:rPr>
              <a:t>    Properties:</a:t>
            </a:r>
            <a:endParaRPr lang="en-US" sz="650" dirty="0"/>
          </a:p>
          <a:p>
            <a:pPr indent="0" marL="0">
              <a:buNone/>
            </a:pPr>
            <a:r>
              <a:rPr lang="en-US" sz="650" dirty="0">
                <a:solidFill>
                  <a:srgbClr val="E6E6E6"/>
                </a:solidFill>
                <a:latin typeface="Courier New" pitchFamily="34" charset="0"/>
                <a:ea typeface="Courier New" pitchFamily="34" charset="-122"/>
                <a:cs typeface="Courier New" pitchFamily="34" charset="-120"/>
              </a:rPr>
              <a:t>      Namespace: AWS/Lambda</a:t>
            </a:r>
            <a:endParaRPr lang="en-US" sz="650" dirty="0"/>
          </a:p>
          <a:p>
            <a:pPr indent="0" marL="0">
              <a:buNone/>
            </a:pPr>
            <a:r>
              <a:rPr lang="en-US" sz="650" dirty="0">
                <a:solidFill>
                  <a:srgbClr val="E6E6E6"/>
                </a:solidFill>
                <a:latin typeface="Courier New" pitchFamily="34" charset="0"/>
                <a:ea typeface="Courier New" pitchFamily="34" charset="-122"/>
                <a:cs typeface="Courier New" pitchFamily="34" charset="-120"/>
              </a:rPr>
              <a:t>      MetricName: Errors</a:t>
            </a:r>
            <a:endParaRPr lang="en-US" sz="650" dirty="0"/>
          </a:p>
          <a:p>
            <a:pPr indent="0" marL="0">
              <a:buNone/>
            </a:pPr>
            <a:r>
              <a:rPr lang="en-US" sz="650" dirty="0">
                <a:solidFill>
                  <a:srgbClr val="E6E6E6"/>
                </a:solidFill>
                <a:latin typeface="Courier New" pitchFamily="34" charset="0"/>
                <a:ea typeface="Courier New" pitchFamily="34" charset="-122"/>
                <a:cs typeface="Courier New" pitchFamily="34" charset="-120"/>
              </a:rPr>
              <a:t>      Statistic: Sum</a:t>
            </a:r>
            <a:endParaRPr lang="en-US" sz="650" dirty="0"/>
          </a:p>
          <a:p>
            <a:pPr indent="0" marL="0">
              <a:buNone/>
            </a:pPr>
            <a:r>
              <a:rPr lang="en-US" sz="650" dirty="0">
                <a:solidFill>
                  <a:srgbClr val="E6E6E6"/>
                </a:solidFill>
                <a:latin typeface="Courier New" pitchFamily="34" charset="0"/>
                <a:ea typeface="Courier New" pitchFamily="34" charset="-122"/>
                <a:cs typeface="Courier New" pitchFamily="34" charset="-120"/>
              </a:rPr>
              <a:t>      Period: 60</a:t>
            </a:r>
            <a:endParaRPr lang="en-US" sz="650" dirty="0"/>
          </a:p>
          <a:p>
            <a:pPr indent="0" marL="0">
              <a:buNone/>
            </a:pPr>
            <a:r>
              <a:rPr lang="en-US" sz="650" dirty="0">
                <a:solidFill>
                  <a:srgbClr val="E6E6E6"/>
                </a:solidFill>
                <a:latin typeface="Courier New" pitchFamily="34" charset="0"/>
                <a:ea typeface="Courier New" pitchFamily="34" charset="-122"/>
                <a:cs typeface="Courier New" pitchFamily="34" charset="-120"/>
              </a:rPr>
              <a:t>      EvaluationPeriods: 1</a:t>
            </a:r>
            <a:endParaRPr lang="en-US" sz="650" dirty="0"/>
          </a:p>
          <a:p>
            <a:pPr indent="0" marL="0">
              <a:buNone/>
            </a:pPr>
            <a:r>
              <a:rPr lang="en-US" sz="650" dirty="0">
                <a:solidFill>
                  <a:srgbClr val="E6E6E6"/>
                </a:solidFill>
                <a:latin typeface="Courier New" pitchFamily="34" charset="0"/>
                <a:ea typeface="Courier New" pitchFamily="34" charset="-122"/>
                <a:cs typeface="Courier New" pitchFamily="34" charset="-120"/>
              </a:rPr>
              <a:t>      Threshold: 0</a:t>
            </a:r>
            <a:endParaRPr lang="en-US" sz="650" dirty="0"/>
          </a:p>
          <a:p>
            <a:pPr indent="0" marL="0">
              <a:buNone/>
            </a:pPr>
            <a:r>
              <a:rPr lang="en-US" sz="650" dirty="0">
                <a:solidFill>
                  <a:srgbClr val="E6E6E6"/>
                </a:solidFill>
                <a:latin typeface="Courier New" pitchFamily="34" charset="0"/>
                <a:ea typeface="Courier New" pitchFamily="34" charset="-122"/>
                <a:cs typeface="Courier New" pitchFamily="34" charset="-120"/>
              </a:rPr>
              <a:t>      ComparisonOperator: GreaterThanThreshold</a:t>
            </a:r>
            <a:endParaRPr lang="en-US" sz="650" dirty="0"/>
          </a:p>
          <a:p>
            <a:pPr indent="0" marL="0">
              <a:buNone/>
            </a:pPr>
            <a:r>
              <a:rPr lang="en-US" sz="650" dirty="0">
                <a:solidFill>
                  <a:srgbClr val="E6E6E6"/>
                </a:solidFill>
                <a:latin typeface="Courier New" pitchFamily="34" charset="0"/>
                <a:ea typeface="Courier New" pitchFamily="34" charset="-122"/>
                <a:cs typeface="Courier New" pitchFamily="34" charset="-120"/>
              </a:rPr>
              <a:t>      Dimensions:</a:t>
            </a:r>
            <a:endParaRPr lang="en-US" sz="650" dirty="0"/>
          </a:p>
          <a:p>
            <a:pPr indent="0" marL="0">
              <a:buNone/>
            </a:pPr>
            <a:r>
              <a:rPr lang="en-US" sz="650" dirty="0">
                <a:solidFill>
                  <a:srgbClr val="E6E6E6"/>
                </a:solidFill>
                <a:latin typeface="Courier New" pitchFamily="34" charset="0"/>
                <a:ea typeface="Courier New" pitchFamily="34" charset="-122"/>
                <a:cs typeface="Courier New" pitchFamily="34" charset="-120"/>
              </a:rPr>
              <a:t>        - Name: Resource</a:t>
            </a:r>
            <a:endParaRPr lang="en-US" sz="650" dirty="0"/>
          </a:p>
          <a:p>
            <a:pPr indent="0" marL="0">
              <a:buNone/>
            </a:pPr>
            <a:r>
              <a:rPr lang="en-US" sz="650" dirty="0">
                <a:solidFill>
                  <a:srgbClr val="E6E6E6"/>
                </a:solidFill>
                <a:latin typeface="Courier New" pitchFamily="34" charset="0"/>
                <a:ea typeface="Courier New" pitchFamily="34" charset="-122"/>
                <a:cs typeface="Courier New" pitchFamily="34" charset="-120"/>
              </a:rPr>
              <a:t>          Value: !Sub "${Funcion}:live"</a:t>
            </a:r>
            <a:endParaRPr lang="en-US" sz="650" dirty="0"/>
          </a:p>
          <a:p>
            <a:pPr indent="0" marL="0">
              <a:buNone/>
            </a:pPr>
            <a:r>
              <a:rPr lang="en-US" sz="650" dirty="0">
                <a:solidFill>
                  <a:srgbClr val="E6E6E6"/>
                </a:solidFill>
                <a:latin typeface="Courier New" pitchFamily="34" charset="0"/>
                <a:ea typeface="Courier New" pitchFamily="34" charset="-122"/>
                <a:cs typeface="Courier New" pitchFamily="34" charset="-120"/>
              </a:rPr>
              <a:t>        - Name: FunctionName</a:t>
            </a:r>
            <a:endParaRPr lang="en-US" sz="650" dirty="0"/>
          </a:p>
          <a:p>
            <a:pPr indent="0" marL="0">
              <a:buNone/>
            </a:pPr>
            <a:r>
              <a:rPr lang="en-US" sz="650" dirty="0">
                <a:solidFill>
                  <a:srgbClr val="E6E6E6"/>
                </a:solidFill>
                <a:latin typeface="Courier New" pitchFamily="34" charset="0"/>
                <a:ea typeface="Courier New" pitchFamily="34" charset="-122"/>
                <a:cs typeface="Courier New" pitchFamily="34" charset="-120"/>
              </a:rPr>
              <a:t>          Value: !Ref Funcion</a:t>
            </a:r>
            <a:endParaRPr lang="en-US" sz="650" dirty="0"/>
          </a:p>
          <a:p>
            <a:pPr indent="0" marL="0">
              <a:buNone/>
            </a:pPr>
            <a:r>
              <a:rPr lang="en-US" sz="650" dirty="0">
                <a:solidFill>
                  <a:srgbClr val="E6E6E6"/>
                </a:solidFill>
                <a:latin typeface="Courier New" pitchFamily="34" charset="0"/>
                <a:ea typeface="Courier New" pitchFamily="34" charset="-122"/>
                <a:cs typeface="Courier New" pitchFamily="34" charset="-120"/>
              </a:rPr>
              <a:t>        - Name: ExecutedVersion</a:t>
            </a:r>
            <a:endParaRPr lang="en-US" sz="650" dirty="0"/>
          </a:p>
          <a:p>
            <a:pPr indent="0" marL="0">
              <a:buNone/>
            </a:pPr>
            <a:r>
              <a:rPr lang="en-US" sz="650" dirty="0">
                <a:solidFill>
                  <a:srgbClr val="E6E6E6"/>
                </a:solidFill>
                <a:latin typeface="Courier New" pitchFamily="34" charset="0"/>
                <a:ea typeface="Courier New" pitchFamily="34" charset="-122"/>
                <a:cs typeface="Courier New" pitchFamily="34" charset="-120"/>
              </a:rPr>
              <a:t>          Value: !GetAtt Funcion.Version.Version</a:t>
            </a:r>
            <a:endParaRPr lang="en-US" sz="650" dirty="0"/>
          </a:p>
        </p:txBody>
      </p:sp>
      <p:sp>
        <p:nvSpPr>
          <p:cNvPr id="7" name="Text 5"/>
          <p:cNvSpPr txBox="1"/>
          <p:nvPr/>
        </p:nvSpPr>
        <p:spPr>
          <a:xfrm>
            <a:off x="457200" y="4773168"/>
            <a:ext cx="6400800" cy="228600"/>
          </a:xfrm>
          <a:prstGeom prst="rect">
            <a:avLst/>
          </a:prstGeom>
          <a:noFill/>
          <a:ln/>
        </p:spPr>
        <p:txBody>
          <a:bodyPr wrap="square" lIns="0" tIns="0" rIns="0" bIns="0" rtlCol="0" anchor="t"/>
          <a:lstStyle/>
          <a:p>
            <a:pPr indent="0" marL="0">
              <a:buNone/>
            </a:pPr>
            <a:r>
              <a:rPr lang="en-US" sz="900" dirty="0">
                <a:solidFill>
                  <a:srgbClr val="8A8F98"/>
                </a:solidFill>
                <a:latin typeface="Calibri" pitchFamily="34" charset="0"/>
                <a:ea typeface="Calibri" pitchFamily="34" charset="-122"/>
                <a:cs typeface="Calibri" pitchFamily="34" charset="-120"/>
              </a:rPr>
              <a:t>DevOps en AWS  ·  Sesión 2</a:t>
            </a:r>
            <a:endParaRPr lang="en-US" sz="900" dirty="0"/>
          </a:p>
        </p:txBody>
      </p:sp>
      <p:sp>
        <p:nvSpPr>
          <p:cNvPr id="8" name="Text 6"/>
          <p:cNvSpPr txBox="1"/>
          <p:nvPr/>
        </p:nvSpPr>
        <p:spPr>
          <a:xfrm>
            <a:off x="8138160" y="4773168"/>
            <a:ext cx="548640" cy="228600"/>
          </a:xfrm>
          <a:prstGeom prst="rect">
            <a:avLst/>
          </a:prstGeom>
          <a:noFill/>
          <a:ln/>
        </p:spPr>
        <p:txBody>
          <a:bodyPr wrap="square" lIns="0" tIns="0" rIns="0" bIns="0" rtlCol="0" anchor="t"/>
          <a:lstStyle/>
          <a:p>
            <a:pPr algn="r" indent="0" marL="0">
              <a:buNone/>
            </a:pPr>
            <a:r>
              <a:rPr lang="en-US" sz="900" dirty="0">
                <a:solidFill>
                  <a:srgbClr val="8A8F98"/>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292608"/>
            <a:ext cx="8229600" cy="685800"/>
          </a:xfrm>
          <a:prstGeom prst="rect">
            <a:avLst/>
          </a:prstGeom>
          <a:noFill/>
          <a:ln/>
        </p:spPr>
        <p:txBody>
          <a:bodyPr wrap="square" lIns="0" tIns="0" rIns="0" bIns="0" rtlCol="0" anchor="ctr"/>
          <a:lstStyle/>
          <a:p>
            <a:pPr indent="0" marL="0">
              <a:buNone/>
            </a:pPr>
            <a:r>
              <a:rPr lang="en-US" sz="2400" b="1" dirty="0">
                <a:solidFill>
                  <a:srgbClr val="232F3E"/>
                </a:solidFill>
                <a:latin typeface="Arial" pitchFamily="34" charset="0"/>
                <a:ea typeface="Arial" pitchFamily="34" charset="-122"/>
                <a:cs typeface="Arial" pitchFamily="34" charset="-120"/>
              </a:rPr>
              <a:t>Observabilidad en AWS</a:t>
            </a:r>
            <a:endParaRPr lang="en-US" sz="2400" dirty="0"/>
          </a:p>
        </p:txBody>
      </p:sp>
      <p:sp>
        <p:nvSpPr>
          <p:cNvPr id="3" name="Shape 1"/>
          <p:cNvSpPr/>
          <p:nvPr/>
        </p:nvSpPr>
        <p:spPr>
          <a:xfrm>
            <a:off x="457200" y="1143000"/>
            <a:ext cx="4000500" cy="1623060"/>
          </a:xfrm>
          <a:prstGeom prst="roundRect">
            <a:avLst>
              <a:gd name="adj" fmla="val 4507"/>
            </a:avLst>
          </a:prstGeom>
          <a:solidFill>
            <a:srgbClr val="F3F5F7"/>
          </a:solidFill>
          <a:ln w="12700">
            <a:solidFill>
              <a:srgbClr val="F3F5F7"/>
            </a:solidFill>
            <a:prstDash val="solid"/>
          </a:ln>
        </p:spPr>
      </p:sp>
      <p:sp>
        <p:nvSpPr>
          <p:cNvPr id="4" name="Shape 2"/>
          <p:cNvSpPr/>
          <p:nvPr/>
        </p:nvSpPr>
        <p:spPr>
          <a:xfrm>
            <a:off x="640080" y="1325880"/>
            <a:ext cx="384048" cy="384048"/>
          </a:xfrm>
          <a:prstGeom prst="ellipse">
            <a:avLst/>
          </a:prstGeom>
          <a:solidFill>
            <a:srgbClr val="FF9900"/>
          </a:solidFill>
          <a:ln w="12700">
            <a:solidFill>
              <a:srgbClr val="FF9900"/>
            </a:solidFill>
            <a:prstDash val="solid"/>
          </a:ln>
        </p:spPr>
      </p:sp>
      <p:sp>
        <p:nvSpPr>
          <p:cNvPr id="5" name="Text 3"/>
          <p:cNvSpPr txBox="1"/>
          <p:nvPr/>
        </p:nvSpPr>
        <p:spPr>
          <a:xfrm>
            <a:off x="640080" y="1325880"/>
            <a:ext cx="384048" cy="384048"/>
          </a:xfrm>
          <a:prstGeom prst="rect">
            <a:avLst/>
          </a:prstGeom>
          <a:noFill/>
          <a:ln/>
        </p:spPr>
        <p:txBody>
          <a:bodyPr wrap="square" lIns="0" tIns="0" rIns="0" bIns="0" rtlCol="0" anchor="ctr"/>
          <a:lstStyle/>
          <a:p>
            <a:pPr algn="ctr" indent="0" marL="0">
              <a:buNone/>
            </a:pPr>
            <a:r>
              <a:rPr lang="en-US" sz="1300" b="1" dirty="0">
                <a:solidFill>
                  <a:srgbClr val="232F3E"/>
                </a:solidFill>
                <a:latin typeface="Arial" pitchFamily="34" charset="0"/>
                <a:ea typeface="Arial" pitchFamily="34" charset="-122"/>
                <a:cs typeface="Arial" pitchFamily="34" charset="-120"/>
              </a:rPr>
              <a:t>1</a:t>
            </a:r>
            <a:endParaRPr lang="en-US" sz="1300" dirty="0"/>
          </a:p>
        </p:txBody>
      </p:sp>
      <p:sp>
        <p:nvSpPr>
          <p:cNvPr id="6" name="Text 4"/>
          <p:cNvSpPr txBox="1"/>
          <p:nvPr/>
        </p:nvSpPr>
        <p:spPr>
          <a:xfrm>
            <a:off x="1143000" y="1298448"/>
            <a:ext cx="3177540" cy="457200"/>
          </a:xfrm>
          <a:prstGeom prst="rect">
            <a:avLst/>
          </a:prstGeom>
          <a:noFill/>
          <a:ln/>
        </p:spPr>
        <p:txBody>
          <a:bodyPr wrap="square" lIns="0" tIns="0" rIns="0" bIns="0" rtlCol="0" anchor="ctr"/>
          <a:lstStyle/>
          <a:p>
            <a:pPr indent="0" marL="0">
              <a:buNone/>
            </a:pPr>
            <a:r>
              <a:rPr lang="en-US" sz="1350" b="1" dirty="0">
                <a:solidFill>
                  <a:srgbClr val="232F3E"/>
                </a:solidFill>
                <a:latin typeface="Arial" pitchFamily="34" charset="0"/>
                <a:ea typeface="Arial" pitchFamily="34" charset="-122"/>
                <a:cs typeface="Arial" pitchFamily="34" charset="-120"/>
              </a:rPr>
              <a:t>Métricas y alarmas</a:t>
            </a:r>
            <a:endParaRPr lang="en-US" sz="1350" dirty="0"/>
          </a:p>
        </p:txBody>
      </p:sp>
      <p:sp>
        <p:nvSpPr>
          <p:cNvPr id="7" name="Text 5"/>
          <p:cNvSpPr txBox="1"/>
          <p:nvPr/>
        </p:nvSpPr>
        <p:spPr>
          <a:xfrm>
            <a:off x="658368" y="1856232"/>
            <a:ext cx="3616452" cy="800100"/>
          </a:xfrm>
          <a:prstGeom prst="rect">
            <a:avLst/>
          </a:prstGeom>
          <a:noFill/>
          <a:ln/>
        </p:spPr>
        <p:txBody>
          <a:bodyPr wrap="square" lIns="0" tIns="0" rIns="0" bIns="0" rtlCol="0" anchor="t"/>
          <a:lstStyle/>
          <a:p>
            <a:pPr indent="0" marL="0">
              <a:buNone/>
            </a:pPr>
            <a:r>
              <a:rPr lang="en-US" sz="1200" dirty="0">
                <a:solidFill>
                  <a:srgbClr val="2B2F38"/>
                </a:solidFill>
                <a:latin typeface="Calibri" pitchFamily="34" charset="0"/>
                <a:ea typeface="Calibri" pitchFamily="34" charset="-122"/>
                <a:cs typeface="Calibri" pitchFamily="34" charset="-120"/>
              </a:rPr>
              <a:t>CloudWatch Metrics con alarmas sobre errores, latencia p99 y throttling; alarmas compuestas para reducir ruido.</a:t>
            </a:r>
            <a:endParaRPr lang="en-US" sz="1200" dirty="0"/>
          </a:p>
        </p:txBody>
      </p:sp>
      <p:sp>
        <p:nvSpPr>
          <p:cNvPr id="8" name="Shape 6"/>
          <p:cNvSpPr/>
          <p:nvPr/>
        </p:nvSpPr>
        <p:spPr>
          <a:xfrm>
            <a:off x="4686300" y="1143000"/>
            <a:ext cx="4000500" cy="1623060"/>
          </a:xfrm>
          <a:prstGeom prst="roundRect">
            <a:avLst>
              <a:gd name="adj" fmla="val 4507"/>
            </a:avLst>
          </a:prstGeom>
          <a:solidFill>
            <a:srgbClr val="F3F5F7"/>
          </a:solidFill>
          <a:ln w="12700">
            <a:solidFill>
              <a:srgbClr val="F3F5F7"/>
            </a:solidFill>
            <a:prstDash val="solid"/>
          </a:ln>
        </p:spPr>
      </p:sp>
      <p:sp>
        <p:nvSpPr>
          <p:cNvPr id="9" name="Shape 7"/>
          <p:cNvSpPr/>
          <p:nvPr/>
        </p:nvSpPr>
        <p:spPr>
          <a:xfrm>
            <a:off x="4869180" y="1325880"/>
            <a:ext cx="384048" cy="384048"/>
          </a:xfrm>
          <a:prstGeom prst="ellipse">
            <a:avLst/>
          </a:prstGeom>
          <a:solidFill>
            <a:srgbClr val="FF9900"/>
          </a:solidFill>
          <a:ln w="12700">
            <a:solidFill>
              <a:srgbClr val="FF9900"/>
            </a:solidFill>
            <a:prstDash val="solid"/>
          </a:ln>
        </p:spPr>
      </p:sp>
      <p:sp>
        <p:nvSpPr>
          <p:cNvPr id="10" name="Text 8"/>
          <p:cNvSpPr txBox="1"/>
          <p:nvPr/>
        </p:nvSpPr>
        <p:spPr>
          <a:xfrm>
            <a:off x="4869180" y="1325880"/>
            <a:ext cx="384048" cy="384048"/>
          </a:xfrm>
          <a:prstGeom prst="rect">
            <a:avLst/>
          </a:prstGeom>
          <a:noFill/>
          <a:ln/>
        </p:spPr>
        <p:txBody>
          <a:bodyPr wrap="square" lIns="0" tIns="0" rIns="0" bIns="0" rtlCol="0" anchor="ctr"/>
          <a:lstStyle/>
          <a:p>
            <a:pPr algn="ctr" indent="0" marL="0">
              <a:buNone/>
            </a:pPr>
            <a:r>
              <a:rPr lang="en-US" sz="1300" b="1" dirty="0">
                <a:solidFill>
                  <a:srgbClr val="232F3E"/>
                </a:solidFill>
                <a:latin typeface="Arial" pitchFamily="34" charset="0"/>
                <a:ea typeface="Arial" pitchFamily="34" charset="-122"/>
                <a:cs typeface="Arial" pitchFamily="34" charset="-120"/>
              </a:rPr>
              <a:t>2</a:t>
            </a:r>
            <a:endParaRPr lang="en-US" sz="1300" dirty="0"/>
          </a:p>
        </p:txBody>
      </p:sp>
      <p:sp>
        <p:nvSpPr>
          <p:cNvPr id="11" name="Text 9"/>
          <p:cNvSpPr txBox="1"/>
          <p:nvPr/>
        </p:nvSpPr>
        <p:spPr>
          <a:xfrm>
            <a:off x="5372100" y="1298448"/>
            <a:ext cx="3177540" cy="457200"/>
          </a:xfrm>
          <a:prstGeom prst="rect">
            <a:avLst/>
          </a:prstGeom>
          <a:noFill/>
          <a:ln/>
        </p:spPr>
        <p:txBody>
          <a:bodyPr wrap="square" lIns="0" tIns="0" rIns="0" bIns="0" rtlCol="0" anchor="ctr"/>
          <a:lstStyle/>
          <a:p>
            <a:pPr indent="0" marL="0">
              <a:buNone/>
            </a:pPr>
            <a:r>
              <a:rPr lang="en-US" sz="1350" b="1" dirty="0">
                <a:solidFill>
                  <a:srgbClr val="232F3E"/>
                </a:solidFill>
                <a:latin typeface="Arial" pitchFamily="34" charset="0"/>
                <a:ea typeface="Arial" pitchFamily="34" charset="-122"/>
                <a:cs typeface="Arial" pitchFamily="34" charset="-120"/>
              </a:rPr>
              <a:t>Logs</a:t>
            </a:r>
            <a:endParaRPr lang="en-US" sz="1350" dirty="0"/>
          </a:p>
        </p:txBody>
      </p:sp>
      <p:sp>
        <p:nvSpPr>
          <p:cNvPr id="12" name="Text 10"/>
          <p:cNvSpPr txBox="1"/>
          <p:nvPr/>
        </p:nvSpPr>
        <p:spPr>
          <a:xfrm>
            <a:off x="4887468" y="1856232"/>
            <a:ext cx="3616452" cy="800100"/>
          </a:xfrm>
          <a:prstGeom prst="rect">
            <a:avLst/>
          </a:prstGeom>
          <a:noFill/>
          <a:ln/>
        </p:spPr>
        <p:txBody>
          <a:bodyPr wrap="square" lIns="0" tIns="0" rIns="0" bIns="0" rtlCol="0" anchor="t"/>
          <a:lstStyle/>
          <a:p>
            <a:pPr indent="0" marL="0">
              <a:buNone/>
            </a:pPr>
            <a:r>
              <a:rPr lang="en-US" sz="1200" dirty="0">
                <a:solidFill>
                  <a:srgbClr val="2B2F38"/>
                </a:solidFill>
                <a:latin typeface="Calibri" pitchFamily="34" charset="0"/>
                <a:ea typeface="Calibri" pitchFamily="34" charset="-122"/>
                <a:cs typeface="Calibri" pitchFamily="34" charset="-120"/>
              </a:rPr>
              <a:t>CloudWatch Logs con logs estructurados en JSON y Logs Insights para consultarlos.</a:t>
            </a:r>
            <a:endParaRPr lang="en-US" sz="1200" dirty="0"/>
          </a:p>
        </p:txBody>
      </p:sp>
      <p:sp>
        <p:nvSpPr>
          <p:cNvPr id="13" name="Shape 11"/>
          <p:cNvSpPr/>
          <p:nvPr/>
        </p:nvSpPr>
        <p:spPr>
          <a:xfrm>
            <a:off x="457200" y="2994660"/>
            <a:ext cx="4000500" cy="1623060"/>
          </a:xfrm>
          <a:prstGeom prst="roundRect">
            <a:avLst>
              <a:gd name="adj" fmla="val 4507"/>
            </a:avLst>
          </a:prstGeom>
          <a:solidFill>
            <a:srgbClr val="F3F5F7"/>
          </a:solidFill>
          <a:ln w="12700">
            <a:solidFill>
              <a:srgbClr val="F3F5F7"/>
            </a:solidFill>
            <a:prstDash val="solid"/>
          </a:ln>
        </p:spPr>
      </p:sp>
      <p:sp>
        <p:nvSpPr>
          <p:cNvPr id="14" name="Shape 12"/>
          <p:cNvSpPr/>
          <p:nvPr/>
        </p:nvSpPr>
        <p:spPr>
          <a:xfrm>
            <a:off x="640080" y="3177540"/>
            <a:ext cx="384048" cy="384048"/>
          </a:xfrm>
          <a:prstGeom prst="ellipse">
            <a:avLst/>
          </a:prstGeom>
          <a:solidFill>
            <a:srgbClr val="FF9900"/>
          </a:solidFill>
          <a:ln w="12700">
            <a:solidFill>
              <a:srgbClr val="FF9900"/>
            </a:solidFill>
            <a:prstDash val="solid"/>
          </a:ln>
        </p:spPr>
      </p:sp>
      <p:sp>
        <p:nvSpPr>
          <p:cNvPr id="15" name="Text 13"/>
          <p:cNvSpPr txBox="1"/>
          <p:nvPr/>
        </p:nvSpPr>
        <p:spPr>
          <a:xfrm>
            <a:off x="640080" y="3177540"/>
            <a:ext cx="384048" cy="384048"/>
          </a:xfrm>
          <a:prstGeom prst="rect">
            <a:avLst/>
          </a:prstGeom>
          <a:noFill/>
          <a:ln/>
        </p:spPr>
        <p:txBody>
          <a:bodyPr wrap="square" lIns="0" tIns="0" rIns="0" bIns="0" rtlCol="0" anchor="ctr"/>
          <a:lstStyle/>
          <a:p>
            <a:pPr algn="ctr" indent="0" marL="0">
              <a:buNone/>
            </a:pPr>
            <a:r>
              <a:rPr lang="en-US" sz="1300" b="1" dirty="0">
                <a:solidFill>
                  <a:srgbClr val="232F3E"/>
                </a:solidFill>
                <a:latin typeface="Arial" pitchFamily="34" charset="0"/>
                <a:ea typeface="Arial" pitchFamily="34" charset="-122"/>
                <a:cs typeface="Arial" pitchFamily="34" charset="-120"/>
              </a:rPr>
              <a:t>3</a:t>
            </a:r>
            <a:endParaRPr lang="en-US" sz="1300" dirty="0"/>
          </a:p>
        </p:txBody>
      </p:sp>
      <p:sp>
        <p:nvSpPr>
          <p:cNvPr id="16" name="Text 14"/>
          <p:cNvSpPr txBox="1"/>
          <p:nvPr/>
        </p:nvSpPr>
        <p:spPr>
          <a:xfrm>
            <a:off x="1143000" y="3150108"/>
            <a:ext cx="3177540" cy="457200"/>
          </a:xfrm>
          <a:prstGeom prst="rect">
            <a:avLst/>
          </a:prstGeom>
          <a:noFill/>
          <a:ln/>
        </p:spPr>
        <p:txBody>
          <a:bodyPr wrap="square" lIns="0" tIns="0" rIns="0" bIns="0" rtlCol="0" anchor="ctr"/>
          <a:lstStyle/>
          <a:p>
            <a:pPr indent="0" marL="0">
              <a:buNone/>
            </a:pPr>
            <a:r>
              <a:rPr lang="en-US" sz="1350" b="1" dirty="0">
                <a:solidFill>
                  <a:srgbClr val="232F3E"/>
                </a:solidFill>
                <a:latin typeface="Arial" pitchFamily="34" charset="0"/>
                <a:ea typeface="Arial" pitchFamily="34" charset="-122"/>
                <a:cs typeface="Arial" pitchFamily="34" charset="-120"/>
              </a:rPr>
              <a:t>Trazas</a:t>
            </a:r>
            <a:endParaRPr lang="en-US" sz="1350" dirty="0"/>
          </a:p>
        </p:txBody>
      </p:sp>
      <p:sp>
        <p:nvSpPr>
          <p:cNvPr id="17" name="Text 15"/>
          <p:cNvSpPr txBox="1"/>
          <p:nvPr/>
        </p:nvSpPr>
        <p:spPr>
          <a:xfrm>
            <a:off x="658368" y="3707892"/>
            <a:ext cx="3616452" cy="800100"/>
          </a:xfrm>
          <a:prstGeom prst="rect">
            <a:avLst/>
          </a:prstGeom>
          <a:noFill/>
          <a:ln/>
        </p:spPr>
        <p:txBody>
          <a:bodyPr wrap="square" lIns="0" tIns="0" rIns="0" bIns="0" rtlCol="0" anchor="t"/>
          <a:lstStyle/>
          <a:p>
            <a:pPr indent="0" marL="0">
              <a:buNone/>
            </a:pPr>
            <a:r>
              <a:rPr lang="en-US" sz="1200" dirty="0">
                <a:solidFill>
                  <a:srgbClr val="2B2F38"/>
                </a:solidFill>
                <a:latin typeface="Calibri" pitchFamily="34" charset="0"/>
                <a:ea typeface="Calibri" pitchFamily="34" charset="-122"/>
                <a:cs typeface="Calibri" pitchFamily="34" charset="-120"/>
              </a:rPr>
              <a:t>X-Ray y Application Signals para seguir peticiones entre servicios.</a:t>
            </a:r>
            <a:endParaRPr lang="en-US" sz="1200" dirty="0"/>
          </a:p>
        </p:txBody>
      </p:sp>
      <p:sp>
        <p:nvSpPr>
          <p:cNvPr id="18" name="Shape 16"/>
          <p:cNvSpPr/>
          <p:nvPr/>
        </p:nvSpPr>
        <p:spPr>
          <a:xfrm>
            <a:off x="4686300" y="2994660"/>
            <a:ext cx="4000500" cy="1623060"/>
          </a:xfrm>
          <a:prstGeom prst="roundRect">
            <a:avLst>
              <a:gd name="adj" fmla="val 4507"/>
            </a:avLst>
          </a:prstGeom>
          <a:solidFill>
            <a:srgbClr val="F3F5F7"/>
          </a:solidFill>
          <a:ln w="12700">
            <a:solidFill>
              <a:srgbClr val="F3F5F7"/>
            </a:solidFill>
            <a:prstDash val="solid"/>
          </a:ln>
        </p:spPr>
      </p:sp>
      <p:sp>
        <p:nvSpPr>
          <p:cNvPr id="19" name="Shape 17"/>
          <p:cNvSpPr/>
          <p:nvPr/>
        </p:nvSpPr>
        <p:spPr>
          <a:xfrm>
            <a:off x="4869180" y="3177540"/>
            <a:ext cx="384048" cy="384048"/>
          </a:xfrm>
          <a:prstGeom prst="ellipse">
            <a:avLst/>
          </a:prstGeom>
          <a:solidFill>
            <a:srgbClr val="FF9900"/>
          </a:solidFill>
          <a:ln w="12700">
            <a:solidFill>
              <a:srgbClr val="FF9900"/>
            </a:solidFill>
            <a:prstDash val="solid"/>
          </a:ln>
        </p:spPr>
      </p:sp>
      <p:sp>
        <p:nvSpPr>
          <p:cNvPr id="20" name="Text 18"/>
          <p:cNvSpPr txBox="1"/>
          <p:nvPr/>
        </p:nvSpPr>
        <p:spPr>
          <a:xfrm>
            <a:off x="4869180" y="3177540"/>
            <a:ext cx="384048" cy="384048"/>
          </a:xfrm>
          <a:prstGeom prst="rect">
            <a:avLst/>
          </a:prstGeom>
          <a:noFill/>
          <a:ln/>
        </p:spPr>
        <p:txBody>
          <a:bodyPr wrap="square" lIns="0" tIns="0" rIns="0" bIns="0" rtlCol="0" anchor="ctr"/>
          <a:lstStyle/>
          <a:p>
            <a:pPr algn="ctr" indent="0" marL="0">
              <a:buNone/>
            </a:pPr>
            <a:r>
              <a:rPr lang="en-US" sz="1300" b="1" dirty="0">
                <a:solidFill>
                  <a:srgbClr val="232F3E"/>
                </a:solidFill>
                <a:latin typeface="Arial" pitchFamily="34" charset="0"/>
                <a:ea typeface="Arial" pitchFamily="34" charset="-122"/>
                <a:cs typeface="Arial" pitchFamily="34" charset="-120"/>
              </a:rPr>
              <a:t>4</a:t>
            </a:r>
            <a:endParaRPr lang="en-US" sz="1300" dirty="0"/>
          </a:p>
        </p:txBody>
      </p:sp>
      <p:sp>
        <p:nvSpPr>
          <p:cNvPr id="21" name="Text 19"/>
          <p:cNvSpPr txBox="1"/>
          <p:nvPr/>
        </p:nvSpPr>
        <p:spPr>
          <a:xfrm>
            <a:off x="5372100" y="3150108"/>
            <a:ext cx="3177540" cy="457200"/>
          </a:xfrm>
          <a:prstGeom prst="rect">
            <a:avLst/>
          </a:prstGeom>
          <a:noFill/>
          <a:ln/>
        </p:spPr>
        <p:txBody>
          <a:bodyPr wrap="square" lIns="0" tIns="0" rIns="0" bIns="0" rtlCol="0" anchor="ctr"/>
          <a:lstStyle/>
          <a:p>
            <a:pPr indent="0" marL="0">
              <a:buNone/>
            </a:pPr>
            <a:r>
              <a:rPr lang="en-US" sz="1350" b="1" dirty="0">
                <a:solidFill>
                  <a:srgbClr val="232F3E"/>
                </a:solidFill>
                <a:latin typeface="Arial" pitchFamily="34" charset="0"/>
                <a:ea typeface="Arial" pitchFamily="34" charset="-122"/>
                <a:cs typeface="Arial" pitchFamily="34" charset="-120"/>
              </a:rPr>
              <a:t>Auditoría</a:t>
            </a:r>
            <a:endParaRPr lang="en-US" sz="1350" dirty="0"/>
          </a:p>
        </p:txBody>
      </p:sp>
      <p:sp>
        <p:nvSpPr>
          <p:cNvPr id="22" name="Text 20"/>
          <p:cNvSpPr txBox="1"/>
          <p:nvPr/>
        </p:nvSpPr>
        <p:spPr>
          <a:xfrm>
            <a:off x="4887468" y="3707892"/>
            <a:ext cx="3616452" cy="800100"/>
          </a:xfrm>
          <a:prstGeom prst="rect">
            <a:avLst/>
          </a:prstGeom>
          <a:noFill/>
          <a:ln/>
        </p:spPr>
        <p:txBody>
          <a:bodyPr wrap="square" lIns="0" tIns="0" rIns="0" bIns="0" rtlCol="0" anchor="t"/>
          <a:lstStyle/>
          <a:p>
            <a:pPr indent="0" marL="0">
              <a:buNone/>
            </a:pPr>
            <a:r>
              <a:rPr lang="en-US" sz="1200" dirty="0">
                <a:solidFill>
                  <a:srgbClr val="2B2F38"/>
                </a:solidFill>
                <a:latin typeface="Calibri" pitchFamily="34" charset="0"/>
                <a:ea typeface="Calibri" pitchFamily="34" charset="-122"/>
                <a:cs typeface="Calibri" pitchFamily="34" charset="-120"/>
              </a:rPr>
              <a:t>CloudTrail registra quién cambió qué y cuándo, incluidas las pipelines.</a:t>
            </a:r>
            <a:endParaRPr lang="en-US" sz="1200" dirty="0"/>
          </a:p>
        </p:txBody>
      </p:sp>
      <p:sp>
        <p:nvSpPr>
          <p:cNvPr id="23" name="Text 21"/>
          <p:cNvSpPr txBox="1"/>
          <p:nvPr/>
        </p:nvSpPr>
        <p:spPr>
          <a:xfrm>
            <a:off x="457200" y="4773168"/>
            <a:ext cx="6400800" cy="228600"/>
          </a:xfrm>
          <a:prstGeom prst="rect">
            <a:avLst/>
          </a:prstGeom>
          <a:noFill/>
          <a:ln/>
        </p:spPr>
        <p:txBody>
          <a:bodyPr wrap="square" lIns="0" tIns="0" rIns="0" bIns="0" rtlCol="0" anchor="t"/>
          <a:lstStyle/>
          <a:p>
            <a:pPr indent="0" marL="0">
              <a:buNone/>
            </a:pPr>
            <a:r>
              <a:rPr lang="en-US" sz="900" dirty="0">
                <a:solidFill>
                  <a:srgbClr val="8A8F98"/>
                </a:solidFill>
                <a:latin typeface="Calibri" pitchFamily="34" charset="0"/>
                <a:ea typeface="Calibri" pitchFamily="34" charset="-122"/>
                <a:cs typeface="Calibri" pitchFamily="34" charset="-120"/>
              </a:rPr>
              <a:t>DevOps en AWS  ·  Sesión 2</a:t>
            </a:r>
            <a:endParaRPr lang="en-US" sz="900" dirty="0"/>
          </a:p>
        </p:txBody>
      </p:sp>
      <p:sp>
        <p:nvSpPr>
          <p:cNvPr id="24" name="Text 22"/>
          <p:cNvSpPr txBox="1"/>
          <p:nvPr/>
        </p:nvSpPr>
        <p:spPr>
          <a:xfrm>
            <a:off x="8138160" y="4773168"/>
            <a:ext cx="548640" cy="228600"/>
          </a:xfrm>
          <a:prstGeom prst="rect">
            <a:avLst/>
          </a:prstGeom>
          <a:noFill/>
          <a:ln/>
        </p:spPr>
        <p:txBody>
          <a:bodyPr wrap="square" lIns="0" tIns="0" rIns="0" bIns="0" rtlCol="0" anchor="t"/>
          <a:lstStyle/>
          <a:p>
            <a:pPr algn="r" indent="0" marL="0">
              <a:buNone/>
            </a:pPr>
            <a:r>
              <a:rPr lang="en-US" sz="900" dirty="0">
                <a:solidFill>
                  <a:srgbClr val="8A8F98"/>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57200" y="292608"/>
            <a:ext cx="8229600" cy="685800"/>
          </a:xfrm>
          <a:prstGeom prst="rect">
            <a:avLst/>
          </a:prstGeom>
          <a:noFill/>
          <a:ln/>
        </p:spPr>
        <p:txBody>
          <a:bodyPr wrap="square" lIns="0" tIns="0" rIns="0" bIns="0" rtlCol="0" anchor="ctr"/>
          <a:lstStyle/>
          <a:p>
            <a:pPr indent="0" marL="0">
              <a:buNone/>
            </a:pPr>
            <a:r>
              <a:rPr lang="en-US" sz="2400" b="1" dirty="0">
                <a:solidFill>
                  <a:srgbClr val="232F3E"/>
                </a:solidFill>
                <a:latin typeface="Arial" pitchFamily="34" charset="0"/>
                <a:ea typeface="Arial" pitchFamily="34" charset="-122"/>
                <a:cs typeface="Arial" pitchFamily="34" charset="-120"/>
              </a:rPr>
              <a:t>Ciclo de un despliegue de Lambda con CodeDeploy</a:t>
            </a:r>
            <a:endParaRPr lang="en-US" sz="2400" dirty="0"/>
          </a:p>
        </p:txBody>
      </p:sp>
      <p:sp>
        <p:nvSpPr>
          <p:cNvPr id="3" name="Shape 1"/>
          <p:cNvSpPr/>
          <p:nvPr/>
        </p:nvSpPr>
        <p:spPr>
          <a:xfrm>
            <a:off x="457200" y="1508760"/>
            <a:ext cx="1499616" cy="3108960"/>
          </a:xfrm>
          <a:prstGeom prst="roundRect">
            <a:avLst>
              <a:gd name="adj" fmla="val 4878"/>
            </a:avLst>
          </a:prstGeom>
          <a:solidFill>
            <a:srgbClr val="F3F5F7"/>
          </a:solidFill>
          <a:ln w="12700">
            <a:solidFill>
              <a:srgbClr val="F3F5F7"/>
            </a:solidFill>
            <a:prstDash val="solid"/>
          </a:ln>
        </p:spPr>
      </p:sp>
      <p:sp>
        <p:nvSpPr>
          <p:cNvPr id="4" name="Shape 2"/>
          <p:cNvSpPr/>
          <p:nvPr/>
        </p:nvSpPr>
        <p:spPr>
          <a:xfrm>
            <a:off x="932688" y="1691640"/>
            <a:ext cx="548640" cy="548640"/>
          </a:xfrm>
          <a:prstGeom prst="ellipse">
            <a:avLst/>
          </a:prstGeom>
          <a:solidFill>
            <a:srgbClr val="232F3E"/>
          </a:solidFill>
          <a:ln w="12700">
            <a:solidFill>
              <a:srgbClr val="232F3E"/>
            </a:solidFill>
            <a:prstDash val="solid"/>
          </a:ln>
        </p:spPr>
      </p:sp>
      <p:sp>
        <p:nvSpPr>
          <p:cNvPr id="5" name="Text 3"/>
          <p:cNvSpPr txBox="1"/>
          <p:nvPr/>
        </p:nvSpPr>
        <p:spPr>
          <a:xfrm>
            <a:off x="932688" y="16916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6" name="Text 4"/>
          <p:cNvSpPr txBox="1"/>
          <p:nvPr/>
        </p:nvSpPr>
        <p:spPr>
          <a:xfrm>
            <a:off x="594360" y="2377440"/>
            <a:ext cx="1225296" cy="548640"/>
          </a:xfrm>
          <a:prstGeom prst="rect">
            <a:avLst/>
          </a:prstGeom>
          <a:noFill/>
          <a:ln/>
        </p:spPr>
        <p:txBody>
          <a:bodyPr wrap="square" lIns="0" tIns="0" rIns="0" bIns="0" rtlCol="0" anchor="ctr"/>
          <a:lstStyle/>
          <a:p>
            <a:pPr algn="ctr" indent="0" marL="0">
              <a:buNone/>
            </a:pPr>
            <a:r>
              <a:rPr lang="en-US" sz="1100" b="1" dirty="0">
                <a:solidFill>
                  <a:srgbClr val="232F3E"/>
                </a:solidFill>
                <a:latin typeface="Arial" pitchFamily="34" charset="0"/>
                <a:ea typeface="Arial" pitchFamily="34" charset="-122"/>
                <a:cs typeface="Arial" pitchFamily="34" charset="-120"/>
              </a:rPr>
              <a:t>Publicar</a:t>
            </a:r>
            <a:endParaRPr lang="en-US" sz="1100" dirty="0"/>
          </a:p>
        </p:txBody>
      </p:sp>
      <p:sp>
        <p:nvSpPr>
          <p:cNvPr id="7" name="Text 5"/>
          <p:cNvSpPr txBox="1"/>
          <p:nvPr/>
        </p:nvSpPr>
        <p:spPr>
          <a:xfrm>
            <a:off x="594360" y="2971800"/>
            <a:ext cx="1225296" cy="1554480"/>
          </a:xfrm>
          <a:prstGeom prst="rect">
            <a:avLst/>
          </a:prstGeom>
          <a:noFill/>
          <a:ln/>
        </p:spPr>
        <p:txBody>
          <a:bodyPr wrap="square" lIns="0" tIns="0" rIns="0" bIns="0" rtlCol="0" anchor="t"/>
          <a:lstStyle/>
          <a:p>
            <a:pPr algn="ctr" indent="0" marL="0">
              <a:buNone/>
            </a:pPr>
            <a:r>
              <a:rPr lang="en-US" sz="1050" dirty="0">
                <a:solidFill>
                  <a:srgbClr val="2B2F38"/>
                </a:solidFill>
                <a:latin typeface="Calibri" pitchFamily="34" charset="0"/>
                <a:ea typeface="Calibri" pitchFamily="34" charset="-122"/>
                <a:cs typeface="Calibri" pitchFamily="34" charset="-120"/>
              </a:rPr>
              <a:t>SAM publica una versión inmutable nueva de la función.</a:t>
            </a:r>
            <a:endParaRPr lang="en-US" sz="1050" dirty="0"/>
          </a:p>
        </p:txBody>
      </p:sp>
      <p:sp>
        <p:nvSpPr>
          <p:cNvPr id="8" name="Shape 6"/>
          <p:cNvSpPr/>
          <p:nvPr/>
        </p:nvSpPr>
        <p:spPr>
          <a:xfrm>
            <a:off x="1527048" y="1965960"/>
            <a:ext cx="1042416" cy="0"/>
          </a:xfrm>
          <a:prstGeom prst="line">
            <a:avLst/>
          </a:prstGeom>
          <a:noFill/>
          <a:ln w="25400">
            <a:solidFill>
              <a:srgbClr val="FF9900"/>
            </a:solidFill>
            <a:prstDash val="solid"/>
            <a:tailEnd type="triangle"/>
          </a:ln>
        </p:spPr>
      </p:sp>
      <p:sp>
        <p:nvSpPr>
          <p:cNvPr id="9" name="Shape 7"/>
          <p:cNvSpPr/>
          <p:nvPr/>
        </p:nvSpPr>
        <p:spPr>
          <a:xfrm>
            <a:off x="2139696" y="1508760"/>
            <a:ext cx="1499616" cy="3108960"/>
          </a:xfrm>
          <a:prstGeom prst="roundRect">
            <a:avLst>
              <a:gd name="adj" fmla="val 4878"/>
            </a:avLst>
          </a:prstGeom>
          <a:solidFill>
            <a:srgbClr val="F3F5F7"/>
          </a:solidFill>
          <a:ln w="12700">
            <a:solidFill>
              <a:srgbClr val="F3F5F7"/>
            </a:solidFill>
            <a:prstDash val="solid"/>
          </a:ln>
        </p:spPr>
      </p:sp>
      <p:sp>
        <p:nvSpPr>
          <p:cNvPr id="10" name="Shape 8"/>
          <p:cNvSpPr/>
          <p:nvPr/>
        </p:nvSpPr>
        <p:spPr>
          <a:xfrm>
            <a:off x="2615184" y="1691640"/>
            <a:ext cx="548640" cy="548640"/>
          </a:xfrm>
          <a:prstGeom prst="ellipse">
            <a:avLst/>
          </a:prstGeom>
          <a:solidFill>
            <a:srgbClr val="232F3E"/>
          </a:solidFill>
          <a:ln w="12700">
            <a:solidFill>
              <a:srgbClr val="232F3E"/>
            </a:solidFill>
            <a:prstDash val="solid"/>
          </a:ln>
        </p:spPr>
      </p:sp>
      <p:sp>
        <p:nvSpPr>
          <p:cNvPr id="11" name="Text 9"/>
          <p:cNvSpPr txBox="1"/>
          <p:nvPr/>
        </p:nvSpPr>
        <p:spPr>
          <a:xfrm>
            <a:off x="2615184" y="16916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2" name="Text 10"/>
          <p:cNvSpPr txBox="1"/>
          <p:nvPr/>
        </p:nvSpPr>
        <p:spPr>
          <a:xfrm>
            <a:off x="2276856" y="2377440"/>
            <a:ext cx="1225296" cy="548640"/>
          </a:xfrm>
          <a:prstGeom prst="rect">
            <a:avLst/>
          </a:prstGeom>
          <a:noFill/>
          <a:ln/>
        </p:spPr>
        <p:txBody>
          <a:bodyPr wrap="square" lIns="0" tIns="0" rIns="0" bIns="0" rtlCol="0" anchor="ctr"/>
          <a:lstStyle/>
          <a:p>
            <a:pPr algn="ctr" indent="0" marL="0">
              <a:buNone/>
            </a:pPr>
            <a:r>
              <a:rPr lang="en-US" sz="1100" b="1" dirty="0">
                <a:solidFill>
                  <a:srgbClr val="232F3E"/>
                </a:solidFill>
                <a:latin typeface="Arial" pitchFamily="34" charset="0"/>
                <a:ea typeface="Arial" pitchFamily="34" charset="-122"/>
                <a:cs typeface="Arial" pitchFamily="34" charset="-120"/>
              </a:rPr>
              <a:t>PreTraffic</a:t>
            </a:r>
            <a:endParaRPr lang="en-US" sz="1100" dirty="0"/>
          </a:p>
        </p:txBody>
      </p:sp>
      <p:sp>
        <p:nvSpPr>
          <p:cNvPr id="13" name="Text 11"/>
          <p:cNvSpPr txBox="1"/>
          <p:nvPr/>
        </p:nvSpPr>
        <p:spPr>
          <a:xfrm>
            <a:off x="2276856" y="2971800"/>
            <a:ext cx="1225296" cy="1554480"/>
          </a:xfrm>
          <a:prstGeom prst="rect">
            <a:avLst/>
          </a:prstGeom>
          <a:noFill/>
          <a:ln/>
        </p:spPr>
        <p:txBody>
          <a:bodyPr wrap="square" lIns="0" tIns="0" rIns="0" bIns="0" rtlCol="0" anchor="t"/>
          <a:lstStyle/>
          <a:p>
            <a:pPr algn="ctr" indent="0" marL="0">
              <a:buNone/>
            </a:pPr>
            <a:r>
              <a:rPr lang="en-US" sz="1050" dirty="0">
                <a:solidFill>
                  <a:srgbClr val="2B2F38"/>
                </a:solidFill>
                <a:latin typeface="Calibri" pitchFamily="34" charset="0"/>
                <a:ea typeface="Calibri" pitchFamily="34" charset="-122"/>
                <a:cs typeface="Calibri" pitchFamily="34" charset="-120"/>
              </a:rPr>
              <a:t>Hook opcional: una Lambda prueba la versión nueva sin tráfico real.</a:t>
            </a:r>
            <a:endParaRPr lang="en-US" sz="1050" dirty="0"/>
          </a:p>
        </p:txBody>
      </p:sp>
      <p:sp>
        <p:nvSpPr>
          <p:cNvPr id="14" name="Shape 12"/>
          <p:cNvSpPr/>
          <p:nvPr/>
        </p:nvSpPr>
        <p:spPr>
          <a:xfrm>
            <a:off x="3209544" y="1965960"/>
            <a:ext cx="1042416" cy="0"/>
          </a:xfrm>
          <a:prstGeom prst="line">
            <a:avLst/>
          </a:prstGeom>
          <a:noFill/>
          <a:ln w="25400">
            <a:solidFill>
              <a:srgbClr val="FF9900"/>
            </a:solidFill>
            <a:prstDash val="solid"/>
            <a:tailEnd type="triangle"/>
          </a:ln>
        </p:spPr>
      </p:sp>
      <p:sp>
        <p:nvSpPr>
          <p:cNvPr id="15" name="Shape 13"/>
          <p:cNvSpPr/>
          <p:nvPr/>
        </p:nvSpPr>
        <p:spPr>
          <a:xfrm>
            <a:off x="3822192" y="1508760"/>
            <a:ext cx="1499616" cy="3108960"/>
          </a:xfrm>
          <a:prstGeom prst="roundRect">
            <a:avLst>
              <a:gd name="adj" fmla="val 4878"/>
            </a:avLst>
          </a:prstGeom>
          <a:solidFill>
            <a:srgbClr val="F3F5F7"/>
          </a:solidFill>
          <a:ln w="12700">
            <a:solidFill>
              <a:srgbClr val="F3F5F7"/>
            </a:solidFill>
            <a:prstDash val="solid"/>
          </a:ln>
        </p:spPr>
      </p:sp>
      <p:sp>
        <p:nvSpPr>
          <p:cNvPr id="16" name="Shape 14"/>
          <p:cNvSpPr/>
          <p:nvPr/>
        </p:nvSpPr>
        <p:spPr>
          <a:xfrm>
            <a:off x="4297680" y="1691640"/>
            <a:ext cx="548640" cy="548640"/>
          </a:xfrm>
          <a:prstGeom prst="ellipse">
            <a:avLst/>
          </a:prstGeom>
          <a:solidFill>
            <a:srgbClr val="232F3E"/>
          </a:solidFill>
          <a:ln w="12700">
            <a:solidFill>
              <a:srgbClr val="232F3E"/>
            </a:solidFill>
            <a:prstDash val="solid"/>
          </a:ln>
        </p:spPr>
      </p:sp>
      <p:sp>
        <p:nvSpPr>
          <p:cNvPr id="17" name="Text 15"/>
          <p:cNvSpPr txBox="1"/>
          <p:nvPr/>
        </p:nvSpPr>
        <p:spPr>
          <a:xfrm>
            <a:off x="4297680" y="16916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18" name="Text 16"/>
          <p:cNvSpPr txBox="1"/>
          <p:nvPr/>
        </p:nvSpPr>
        <p:spPr>
          <a:xfrm>
            <a:off x="3959352" y="2377440"/>
            <a:ext cx="1225296" cy="548640"/>
          </a:xfrm>
          <a:prstGeom prst="rect">
            <a:avLst/>
          </a:prstGeom>
          <a:noFill/>
          <a:ln/>
        </p:spPr>
        <p:txBody>
          <a:bodyPr wrap="square" lIns="0" tIns="0" rIns="0" bIns="0" rtlCol="0" anchor="ctr"/>
          <a:lstStyle/>
          <a:p>
            <a:pPr algn="ctr" indent="0" marL="0">
              <a:buNone/>
            </a:pPr>
            <a:r>
              <a:rPr lang="en-US" sz="1100" b="1" dirty="0">
                <a:solidFill>
                  <a:srgbClr val="232F3E"/>
                </a:solidFill>
                <a:latin typeface="Arial" pitchFamily="34" charset="0"/>
                <a:ea typeface="Arial" pitchFamily="34" charset="-122"/>
                <a:cs typeface="Arial" pitchFamily="34" charset="-120"/>
              </a:rPr>
              <a:t>Desplazar</a:t>
            </a:r>
            <a:endParaRPr lang="en-US" sz="1100" dirty="0"/>
          </a:p>
        </p:txBody>
      </p:sp>
      <p:sp>
        <p:nvSpPr>
          <p:cNvPr id="19" name="Text 17"/>
          <p:cNvSpPr txBox="1"/>
          <p:nvPr/>
        </p:nvSpPr>
        <p:spPr>
          <a:xfrm>
            <a:off x="3959352" y="2971800"/>
            <a:ext cx="1225296" cy="1554480"/>
          </a:xfrm>
          <a:prstGeom prst="rect">
            <a:avLst/>
          </a:prstGeom>
          <a:noFill/>
          <a:ln/>
        </p:spPr>
        <p:txBody>
          <a:bodyPr wrap="square" lIns="0" tIns="0" rIns="0" bIns="0" rtlCol="0" anchor="t"/>
          <a:lstStyle/>
          <a:p>
            <a:pPr algn="ctr" indent="0" marL="0">
              <a:buNone/>
            </a:pPr>
            <a:r>
              <a:rPr lang="en-US" sz="1050" dirty="0">
                <a:solidFill>
                  <a:srgbClr val="2B2F38"/>
                </a:solidFill>
                <a:latin typeface="Calibri" pitchFamily="34" charset="0"/>
                <a:ea typeface="Calibri" pitchFamily="34" charset="-122"/>
                <a:cs typeface="Calibri" pitchFamily="34" charset="-120"/>
              </a:rPr>
              <a:t>El alias reparte tráfico por pesos: canary, lineal o todo de golpe.</a:t>
            </a:r>
            <a:endParaRPr lang="en-US" sz="1050" dirty="0"/>
          </a:p>
        </p:txBody>
      </p:sp>
      <p:sp>
        <p:nvSpPr>
          <p:cNvPr id="20" name="Shape 18"/>
          <p:cNvSpPr/>
          <p:nvPr/>
        </p:nvSpPr>
        <p:spPr>
          <a:xfrm>
            <a:off x="4892040" y="1965960"/>
            <a:ext cx="1042416" cy="0"/>
          </a:xfrm>
          <a:prstGeom prst="line">
            <a:avLst/>
          </a:prstGeom>
          <a:noFill/>
          <a:ln w="25400">
            <a:solidFill>
              <a:srgbClr val="FF9900"/>
            </a:solidFill>
            <a:prstDash val="solid"/>
            <a:tailEnd type="triangle"/>
          </a:ln>
        </p:spPr>
      </p:sp>
      <p:sp>
        <p:nvSpPr>
          <p:cNvPr id="21" name="Shape 19"/>
          <p:cNvSpPr/>
          <p:nvPr/>
        </p:nvSpPr>
        <p:spPr>
          <a:xfrm>
            <a:off x="5504688" y="1508760"/>
            <a:ext cx="1499616" cy="3108960"/>
          </a:xfrm>
          <a:prstGeom prst="roundRect">
            <a:avLst>
              <a:gd name="adj" fmla="val 4878"/>
            </a:avLst>
          </a:prstGeom>
          <a:solidFill>
            <a:srgbClr val="F3F5F7"/>
          </a:solidFill>
          <a:ln w="12700">
            <a:solidFill>
              <a:srgbClr val="F3F5F7"/>
            </a:solidFill>
            <a:prstDash val="solid"/>
          </a:ln>
        </p:spPr>
      </p:sp>
      <p:sp>
        <p:nvSpPr>
          <p:cNvPr id="22" name="Shape 20"/>
          <p:cNvSpPr/>
          <p:nvPr/>
        </p:nvSpPr>
        <p:spPr>
          <a:xfrm>
            <a:off x="5980176" y="1691640"/>
            <a:ext cx="548640" cy="548640"/>
          </a:xfrm>
          <a:prstGeom prst="ellipse">
            <a:avLst/>
          </a:prstGeom>
          <a:solidFill>
            <a:srgbClr val="232F3E"/>
          </a:solidFill>
          <a:ln w="12700">
            <a:solidFill>
              <a:srgbClr val="232F3E"/>
            </a:solidFill>
            <a:prstDash val="solid"/>
          </a:ln>
        </p:spPr>
      </p:sp>
      <p:sp>
        <p:nvSpPr>
          <p:cNvPr id="23" name="Text 21"/>
          <p:cNvSpPr txBox="1"/>
          <p:nvPr/>
        </p:nvSpPr>
        <p:spPr>
          <a:xfrm>
            <a:off x="5980176" y="16916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4</a:t>
            </a:r>
            <a:endParaRPr lang="en-US" sz="1800" dirty="0"/>
          </a:p>
        </p:txBody>
      </p:sp>
      <p:sp>
        <p:nvSpPr>
          <p:cNvPr id="24" name="Text 22"/>
          <p:cNvSpPr txBox="1"/>
          <p:nvPr/>
        </p:nvSpPr>
        <p:spPr>
          <a:xfrm>
            <a:off x="5641848" y="2377440"/>
            <a:ext cx="1225296" cy="548640"/>
          </a:xfrm>
          <a:prstGeom prst="rect">
            <a:avLst/>
          </a:prstGeom>
          <a:noFill/>
          <a:ln/>
        </p:spPr>
        <p:txBody>
          <a:bodyPr wrap="square" lIns="0" tIns="0" rIns="0" bIns="0" rtlCol="0" anchor="ctr"/>
          <a:lstStyle/>
          <a:p>
            <a:pPr algn="ctr" indent="0" marL="0">
              <a:buNone/>
            </a:pPr>
            <a:r>
              <a:rPr lang="en-US" sz="1100" b="1" dirty="0">
                <a:solidFill>
                  <a:srgbClr val="232F3E"/>
                </a:solidFill>
                <a:latin typeface="Arial" pitchFamily="34" charset="0"/>
                <a:ea typeface="Arial" pitchFamily="34" charset="-122"/>
                <a:cs typeface="Arial" pitchFamily="34" charset="-120"/>
              </a:rPr>
              <a:t>PostTraffic</a:t>
            </a:r>
            <a:endParaRPr lang="en-US" sz="1100" dirty="0"/>
          </a:p>
        </p:txBody>
      </p:sp>
      <p:sp>
        <p:nvSpPr>
          <p:cNvPr id="25" name="Text 23"/>
          <p:cNvSpPr txBox="1"/>
          <p:nvPr/>
        </p:nvSpPr>
        <p:spPr>
          <a:xfrm>
            <a:off x="5641848" y="2971800"/>
            <a:ext cx="1225296" cy="1554480"/>
          </a:xfrm>
          <a:prstGeom prst="rect">
            <a:avLst/>
          </a:prstGeom>
          <a:noFill/>
          <a:ln/>
        </p:spPr>
        <p:txBody>
          <a:bodyPr wrap="square" lIns="0" tIns="0" rIns="0" bIns="0" rtlCol="0" anchor="t"/>
          <a:lstStyle/>
          <a:p>
            <a:pPr algn="ctr" indent="0" marL="0">
              <a:buNone/>
            </a:pPr>
            <a:r>
              <a:rPr lang="en-US" sz="1050" dirty="0">
                <a:solidFill>
                  <a:srgbClr val="2B2F38"/>
                </a:solidFill>
                <a:latin typeface="Calibri" pitchFamily="34" charset="0"/>
                <a:ea typeface="Calibri" pitchFamily="34" charset="-122"/>
                <a:cs typeface="Calibri" pitchFamily="34" charset="-120"/>
              </a:rPr>
              <a:t>Hook opcional: pruebas de humo con la versión ya al 100 %.</a:t>
            </a:r>
            <a:endParaRPr lang="en-US" sz="1050" dirty="0"/>
          </a:p>
        </p:txBody>
      </p:sp>
      <p:sp>
        <p:nvSpPr>
          <p:cNvPr id="26" name="Shape 24"/>
          <p:cNvSpPr/>
          <p:nvPr/>
        </p:nvSpPr>
        <p:spPr>
          <a:xfrm>
            <a:off x="6574536" y="1965960"/>
            <a:ext cx="1042416" cy="0"/>
          </a:xfrm>
          <a:prstGeom prst="line">
            <a:avLst/>
          </a:prstGeom>
          <a:noFill/>
          <a:ln w="25400">
            <a:solidFill>
              <a:srgbClr val="FF9900"/>
            </a:solidFill>
            <a:prstDash val="solid"/>
            <a:tailEnd type="triangle"/>
          </a:ln>
        </p:spPr>
      </p:sp>
      <p:sp>
        <p:nvSpPr>
          <p:cNvPr id="27" name="Shape 25"/>
          <p:cNvSpPr/>
          <p:nvPr/>
        </p:nvSpPr>
        <p:spPr>
          <a:xfrm>
            <a:off x="7187184" y="1508760"/>
            <a:ext cx="1499616" cy="3108960"/>
          </a:xfrm>
          <a:prstGeom prst="roundRect">
            <a:avLst>
              <a:gd name="adj" fmla="val 4878"/>
            </a:avLst>
          </a:prstGeom>
          <a:solidFill>
            <a:srgbClr val="F3F5F7"/>
          </a:solidFill>
          <a:ln w="12700">
            <a:solidFill>
              <a:srgbClr val="F3F5F7"/>
            </a:solidFill>
            <a:prstDash val="solid"/>
          </a:ln>
        </p:spPr>
      </p:sp>
      <p:sp>
        <p:nvSpPr>
          <p:cNvPr id="28" name="Shape 26"/>
          <p:cNvSpPr/>
          <p:nvPr/>
        </p:nvSpPr>
        <p:spPr>
          <a:xfrm>
            <a:off x="7662672" y="1691640"/>
            <a:ext cx="548640" cy="548640"/>
          </a:xfrm>
          <a:prstGeom prst="ellipse">
            <a:avLst/>
          </a:prstGeom>
          <a:solidFill>
            <a:srgbClr val="232F3E"/>
          </a:solidFill>
          <a:ln w="12700">
            <a:solidFill>
              <a:srgbClr val="232F3E"/>
            </a:solidFill>
            <a:prstDash val="solid"/>
          </a:ln>
        </p:spPr>
      </p:sp>
      <p:sp>
        <p:nvSpPr>
          <p:cNvPr id="29" name="Text 27"/>
          <p:cNvSpPr txBox="1"/>
          <p:nvPr/>
        </p:nvSpPr>
        <p:spPr>
          <a:xfrm>
            <a:off x="7662672" y="16916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5</a:t>
            </a:r>
            <a:endParaRPr lang="en-US" sz="1800" dirty="0"/>
          </a:p>
        </p:txBody>
      </p:sp>
      <p:sp>
        <p:nvSpPr>
          <p:cNvPr id="30" name="Text 28"/>
          <p:cNvSpPr txBox="1"/>
          <p:nvPr/>
        </p:nvSpPr>
        <p:spPr>
          <a:xfrm>
            <a:off x="7324344" y="2377440"/>
            <a:ext cx="1225296" cy="548640"/>
          </a:xfrm>
          <a:prstGeom prst="rect">
            <a:avLst/>
          </a:prstGeom>
          <a:noFill/>
          <a:ln/>
        </p:spPr>
        <p:txBody>
          <a:bodyPr wrap="square" lIns="0" tIns="0" rIns="0" bIns="0" rtlCol="0" anchor="ctr"/>
          <a:lstStyle/>
          <a:p>
            <a:pPr algn="ctr" indent="0" marL="0">
              <a:buNone/>
            </a:pPr>
            <a:r>
              <a:rPr lang="en-US" sz="1100" b="1" dirty="0">
                <a:solidFill>
                  <a:srgbClr val="232F3E"/>
                </a:solidFill>
                <a:latin typeface="Arial" pitchFamily="34" charset="0"/>
                <a:ea typeface="Arial" pitchFamily="34" charset="-122"/>
                <a:cs typeface="Arial" pitchFamily="34" charset="-120"/>
              </a:rPr>
              <a:t>Vigilar</a:t>
            </a:r>
            <a:endParaRPr lang="en-US" sz="1100" dirty="0"/>
          </a:p>
        </p:txBody>
      </p:sp>
      <p:sp>
        <p:nvSpPr>
          <p:cNvPr id="31" name="Text 29"/>
          <p:cNvSpPr txBox="1"/>
          <p:nvPr/>
        </p:nvSpPr>
        <p:spPr>
          <a:xfrm>
            <a:off x="7324344" y="2971800"/>
            <a:ext cx="1225296" cy="1554480"/>
          </a:xfrm>
          <a:prstGeom prst="rect">
            <a:avLst/>
          </a:prstGeom>
          <a:noFill/>
          <a:ln/>
        </p:spPr>
        <p:txBody>
          <a:bodyPr wrap="square" lIns="0" tIns="0" rIns="0" bIns="0" rtlCol="0" anchor="t"/>
          <a:lstStyle/>
          <a:p>
            <a:pPr algn="ctr" indent="0" marL="0">
              <a:buNone/>
            </a:pPr>
            <a:r>
              <a:rPr lang="en-US" sz="1050" dirty="0">
                <a:solidFill>
                  <a:srgbClr val="2B2F38"/>
                </a:solidFill>
                <a:latin typeface="Calibri" pitchFamily="34" charset="0"/>
                <a:ea typeface="Calibri" pitchFamily="34" charset="-122"/>
                <a:cs typeface="Calibri" pitchFamily="34" charset="-120"/>
              </a:rPr>
              <a:t>Durante todo el proceso, una alarma activa provoca el rollback.</a:t>
            </a:r>
            <a:endParaRPr lang="en-US" sz="1050" dirty="0"/>
          </a:p>
        </p:txBody>
      </p:sp>
      <p:sp>
        <p:nvSpPr>
          <p:cNvPr id="32" name="Text 30"/>
          <p:cNvSpPr txBox="1"/>
          <p:nvPr/>
        </p:nvSpPr>
        <p:spPr>
          <a:xfrm>
            <a:off x="457200" y="4773168"/>
            <a:ext cx="6400800" cy="228600"/>
          </a:xfrm>
          <a:prstGeom prst="rect">
            <a:avLst/>
          </a:prstGeom>
          <a:noFill/>
          <a:ln/>
        </p:spPr>
        <p:txBody>
          <a:bodyPr wrap="square" lIns="0" tIns="0" rIns="0" bIns="0" rtlCol="0" anchor="t"/>
          <a:lstStyle/>
          <a:p>
            <a:pPr indent="0" marL="0">
              <a:buNone/>
            </a:pPr>
            <a:r>
              <a:rPr lang="en-US" sz="900" dirty="0">
                <a:solidFill>
                  <a:srgbClr val="8A8F98"/>
                </a:solidFill>
                <a:latin typeface="Calibri" pitchFamily="34" charset="0"/>
                <a:ea typeface="Calibri" pitchFamily="34" charset="-122"/>
                <a:cs typeface="Calibri" pitchFamily="34" charset="-120"/>
              </a:rPr>
              <a:t>DevOps en AWS  ·  Sesión 2</a:t>
            </a:r>
            <a:endParaRPr lang="en-US" sz="900" dirty="0"/>
          </a:p>
        </p:txBody>
      </p:sp>
      <p:sp>
        <p:nvSpPr>
          <p:cNvPr id="33" name="Text 31"/>
          <p:cNvSpPr txBox="1"/>
          <p:nvPr/>
        </p:nvSpPr>
        <p:spPr>
          <a:xfrm>
            <a:off x="8138160" y="4773168"/>
            <a:ext cx="548640" cy="228600"/>
          </a:xfrm>
          <a:prstGeom prst="rect">
            <a:avLst/>
          </a:prstGeom>
          <a:noFill/>
          <a:ln/>
        </p:spPr>
        <p:txBody>
          <a:bodyPr wrap="square" lIns="0" tIns="0" rIns="0" bIns="0" rtlCol="0" anchor="t"/>
          <a:lstStyle/>
          <a:p>
            <a:pPr algn="r" indent="0" marL="0">
              <a:buNone/>
            </a:pPr>
            <a:r>
              <a:rPr lang="en-US" sz="900" dirty="0">
                <a:solidFill>
                  <a:srgbClr val="8A8F98"/>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457200" y="292608"/>
            <a:ext cx="8229600" cy="685800"/>
          </a:xfrm>
          <a:prstGeom prst="rect">
            <a:avLst/>
          </a:prstGeom>
          <a:noFill/>
          <a:ln/>
        </p:spPr>
        <p:txBody>
          <a:bodyPr wrap="square" lIns="0" tIns="0" rIns="0" bIns="0" rtlCol="0" anchor="ctr"/>
          <a:lstStyle/>
          <a:p>
            <a:pPr indent="0" marL="0">
              <a:buNone/>
            </a:pPr>
            <a:r>
              <a:rPr lang="en-US" sz="2400" b="1" dirty="0">
                <a:solidFill>
                  <a:srgbClr val="232F3E"/>
                </a:solidFill>
                <a:latin typeface="Arial" pitchFamily="34" charset="0"/>
                <a:ea typeface="Arial" pitchFamily="34" charset="-122"/>
                <a:cs typeface="Arial" pitchFamily="34" charset="-120"/>
              </a:rPr>
              <a:t>Alarmas que protegen un despliegue</a:t>
            </a:r>
            <a:endParaRPr lang="en-US" sz="2400" dirty="0"/>
          </a:p>
        </p:txBody>
      </p:sp>
      <p:sp>
        <p:nvSpPr>
          <p:cNvPr id="3" name="Shape 1"/>
          <p:cNvSpPr/>
          <p:nvPr/>
        </p:nvSpPr>
        <p:spPr>
          <a:xfrm>
            <a:off x="457200" y="1097280"/>
            <a:ext cx="4005072" cy="3520440"/>
          </a:xfrm>
          <a:prstGeom prst="roundRect">
            <a:avLst>
              <a:gd name="adj" fmla="val 2078"/>
            </a:avLst>
          </a:prstGeom>
          <a:solidFill>
            <a:srgbClr val="F3F5F7"/>
          </a:solidFill>
          <a:ln w="12700">
            <a:solidFill>
              <a:srgbClr val="F3F5F7"/>
            </a:solidFill>
            <a:prstDash val="solid"/>
          </a:ln>
        </p:spPr>
      </p:sp>
      <p:sp>
        <p:nvSpPr>
          <p:cNvPr id="4" name="Text 2"/>
          <p:cNvSpPr txBox="1"/>
          <p:nvPr/>
        </p:nvSpPr>
        <p:spPr>
          <a:xfrm>
            <a:off x="685800" y="1234440"/>
            <a:ext cx="3547872" cy="411480"/>
          </a:xfrm>
          <a:prstGeom prst="rect">
            <a:avLst/>
          </a:prstGeom>
          <a:noFill/>
          <a:ln/>
        </p:spPr>
        <p:txBody>
          <a:bodyPr wrap="square" lIns="0" tIns="0" rIns="0" bIns="0" rtlCol="0" anchor="ctr"/>
          <a:lstStyle/>
          <a:p>
            <a:pPr indent="0" marL="0">
              <a:buNone/>
            </a:pPr>
            <a:r>
              <a:rPr lang="en-US" sz="1500" b="1" dirty="0">
                <a:solidFill>
                  <a:srgbClr val="232F3E"/>
                </a:solidFill>
                <a:latin typeface="Arial" pitchFamily="34" charset="0"/>
                <a:ea typeface="Arial" pitchFamily="34" charset="-122"/>
                <a:cs typeface="Arial" pitchFamily="34" charset="-120"/>
              </a:rPr>
              <a:t>Señales útiles</a:t>
            </a:r>
            <a:endParaRPr lang="en-US" sz="1500" dirty="0"/>
          </a:p>
        </p:txBody>
      </p:sp>
      <p:sp>
        <p:nvSpPr>
          <p:cNvPr id="5" name="Text 3"/>
          <p:cNvSpPr txBox="1"/>
          <p:nvPr/>
        </p:nvSpPr>
        <p:spPr>
          <a:xfrm>
            <a:off x="685800" y="1737360"/>
            <a:ext cx="3547872" cy="2743200"/>
          </a:xfrm>
          <a:prstGeom prst="rect">
            <a:avLst/>
          </a:prstGeom>
          <a:noFill/>
          <a:ln/>
        </p:spPr>
        <p:txBody>
          <a:bodyPr wrap="square" lIns="0" tIns="0" rIns="0" bIns="0" rtlCol="0" anchor="t"/>
          <a:lstStyle/>
          <a:p>
            <a:pPr marL="152400" indent="-152400">
              <a:spcAft>
                <a:spcPts val="500"/>
              </a:spcAft>
              <a:buSzPct val="100000"/>
              <a:buChar char="•"/>
            </a:pPr>
            <a:r>
              <a:rPr lang="en-US" sz="1350" dirty="0">
                <a:solidFill>
                  <a:srgbClr val="2B2F38"/>
                </a:solidFill>
                <a:latin typeface="Calibri" pitchFamily="34" charset="0"/>
                <a:ea typeface="Calibri" pitchFamily="34" charset="-122"/>
                <a:cs typeface="Calibri" pitchFamily="34" charset="-120"/>
              </a:rPr>
              <a:t>Tasa de errores de la versión nueva, no totales</a:t>
            </a:r>
            <a:endParaRPr lang="en-US" sz="1350" dirty="0"/>
          </a:p>
          <a:p>
            <a:pPr marL="152400" indent="-152400">
              <a:spcAft>
                <a:spcPts val="500"/>
              </a:spcAft>
              <a:buSzPct val="100000"/>
              <a:buChar char="•"/>
            </a:pPr>
            <a:r>
              <a:rPr lang="en-US" sz="1350" dirty="0">
                <a:solidFill>
                  <a:srgbClr val="2B2F38"/>
                </a:solidFill>
                <a:latin typeface="Calibri" pitchFamily="34" charset="0"/>
                <a:ea typeface="Calibri" pitchFamily="34" charset="-122"/>
                <a:cs typeface="Calibri" pitchFamily="34" charset="-120"/>
              </a:rPr>
              <a:t>Latencia p95 o p99 frente a la línea base</a:t>
            </a:r>
            <a:endParaRPr lang="en-US" sz="1350" dirty="0"/>
          </a:p>
          <a:p>
            <a:pPr marL="152400" indent="-152400">
              <a:spcAft>
                <a:spcPts val="500"/>
              </a:spcAft>
              <a:buSzPct val="100000"/>
              <a:buChar char="•"/>
            </a:pPr>
            <a:r>
              <a:rPr lang="en-US" sz="1350" dirty="0">
                <a:solidFill>
                  <a:srgbClr val="2B2F38"/>
                </a:solidFill>
                <a:latin typeface="Calibri" pitchFamily="34" charset="0"/>
                <a:ea typeface="Calibri" pitchFamily="34" charset="-122"/>
                <a:cs typeface="Calibri" pitchFamily="34" charset="-120"/>
              </a:rPr>
              <a:t>Throttling y errores de dependencias</a:t>
            </a:r>
            <a:endParaRPr lang="en-US" sz="1350" dirty="0"/>
          </a:p>
          <a:p>
            <a:pPr marL="152400" indent="-152400">
              <a:spcAft>
                <a:spcPts val="500"/>
              </a:spcAft>
              <a:buSzPct val="100000"/>
              <a:buChar char="•"/>
            </a:pPr>
            <a:r>
              <a:rPr lang="en-US" sz="1350" dirty="0">
                <a:solidFill>
                  <a:srgbClr val="2B2F38"/>
                </a:solidFill>
                <a:latin typeface="Calibri" pitchFamily="34" charset="0"/>
                <a:ea typeface="Calibri" pitchFamily="34" charset="-122"/>
                <a:cs typeface="Calibri" pitchFamily="34" charset="-120"/>
              </a:rPr>
              <a:t>Métricas de negocio: pedidos, pagos, altas</a:t>
            </a:r>
            <a:endParaRPr lang="en-US" sz="1350" dirty="0"/>
          </a:p>
          <a:p>
            <a:pPr marL="152400" indent="-152400">
              <a:spcAft>
                <a:spcPts val="500"/>
              </a:spcAft>
              <a:buSzPct val="100000"/>
              <a:buChar char="•"/>
            </a:pPr>
            <a:r>
              <a:rPr lang="en-US" sz="1350" dirty="0">
                <a:solidFill>
                  <a:srgbClr val="2B2F38"/>
                </a:solidFill>
                <a:latin typeface="Calibri" pitchFamily="34" charset="0"/>
                <a:ea typeface="Calibri" pitchFamily="34" charset="-122"/>
                <a:cs typeface="Calibri" pitchFamily="34" charset="-120"/>
              </a:rPr>
              <a:t>Varias señales combinadas en una alarma compuesta</a:t>
            </a:r>
            <a:endParaRPr lang="en-US" sz="1350" dirty="0"/>
          </a:p>
        </p:txBody>
      </p:sp>
      <p:sp>
        <p:nvSpPr>
          <p:cNvPr id="6" name="Shape 4"/>
          <p:cNvSpPr/>
          <p:nvPr/>
        </p:nvSpPr>
        <p:spPr>
          <a:xfrm>
            <a:off x="4681728" y="1097280"/>
            <a:ext cx="4005072" cy="3520440"/>
          </a:xfrm>
          <a:prstGeom prst="roundRect">
            <a:avLst>
              <a:gd name="adj" fmla="val 2078"/>
            </a:avLst>
          </a:prstGeom>
          <a:solidFill>
            <a:srgbClr val="FFF4E5"/>
          </a:solidFill>
          <a:ln w="12700">
            <a:solidFill>
              <a:srgbClr val="FFF4E5"/>
            </a:solidFill>
            <a:prstDash val="solid"/>
          </a:ln>
        </p:spPr>
      </p:sp>
      <p:sp>
        <p:nvSpPr>
          <p:cNvPr id="7" name="Text 5"/>
          <p:cNvSpPr txBox="1"/>
          <p:nvPr/>
        </p:nvSpPr>
        <p:spPr>
          <a:xfrm>
            <a:off x="4910328" y="1234440"/>
            <a:ext cx="3547872" cy="411480"/>
          </a:xfrm>
          <a:prstGeom prst="rect">
            <a:avLst/>
          </a:prstGeom>
          <a:noFill/>
          <a:ln/>
        </p:spPr>
        <p:txBody>
          <a:bodyPr wrap="square" lIns="0" tIns="0" rIns="0" bIns="0" rtlCol="0" anchor="ctr"/>
          <a:lstStyle/>
          <a:p>
            <a:pPr indent="0" marL="0">
              <a:buNone/>
            </a:pPr>
            <a:r>
              <a:rPr lang="en-US" sz="1500" b="1" dirty="0">
                <a:solidFill>
                  <a:srgbClr val="B35C00"/>
                </a:solidFill>
                <a:latin typeface="Arial" pitchFamily="34" charset="0"/>
                <a:ea typeface="Arial" pitchFamily="34" charset="-122"/>
                <a:cs typeface="Arial" pitchFamily="34" charset="-120"/>
              </a:rPr>
              <a:t>Errores frecuentes</a:t>
            </a:r>
            <a:endParaRPr lang="en-US" sz="1500" dirty="0"/>
          </a:p>
        </p:txBody>
      </p:sp>
      <p:sp>
        <p:nvSpPr>
          <p:cNvPr id="8" name="Text 6"/>
          <p:cNvSpPr txBox="1"/>
          <p:nvPr/>
        </p:nvSpPr>
        <p:spPr>
          <a:xfrm>
            <a:off x="4910328" y="1737360"/>
            <a:ext cx="3547872" cy="2743200"/>
          </a:xfrm>
          <a:prstGeom prst="rect">
            <a:avLst/>
          </a:prstGeom>
          <a:noFill/>
          <a:ln/>
        </p:spPr>
        <p:txBody>
          <a:bodyPr wrap="square" lIns="0" tIns="0" rIns="0" bIns="0" rtlCol="0" anchor="t"/>
          <a:lstStyle/>
          <a:p>
            <a:pPr marL="152400" indent="-152400">
              <a:spcAft>
                <a:spcPts val="500"/>
              </a:spcAft>
              <a:buSzPct val="100000"/>
              <a:buChar char="•"/>
            </a:pPr>
            <a:r>
              <a:rPr lang="en-US" sz="1350" dirty="0">
                <a:solidFill>
                  <a:srgbClr val="2B2F38"/>
                </a:solidFill>
                <a:latin typeface="Calibri" pitchFamily="34" charset="0"/>
                <a:ea typeface="Calibri" pitchFamily="34" charset="-122"/>
                <a:cs typeface="Calibri" pitchFamily="34" charset="-120"/>
              </a:rPr>
              <a:t>Alarma sin dimensión de versión: mezcla la antigua</a:t>
            </a:r>
            <a:endParaRPr lang="en-US" sz="1350" dirty="0"/>
          </a:p>
          <a:p>
            <a:pPr marL="152400" indent="-152400">
              <a:spcAft>
                <a:spcPts val="500"/>
              </a:spcAft>
              <a:buSzPct val="100000"/>
              <a:buChar char="•"/>
            </a:pPr>
            <a:r>
              <a:rPr lang="en-US" sz="1350" dirty="0">
                <a:solidFill>
                  <a:srgbClr val="2B2F38"/>
                </a:solidFill>
                <a:latin typeface="Calibri" pitchFamily="34" charset="0"/>
                <a:ea typeface="Calibri" pitchFamily="34" charset="-122"/>
                <a:cs typeface="Calibri" pitchFamily="34" charset="-120"/>
              </a:rPr>
              <a:t>Datos ausentes tratados como alarma</a:t>
            </a:r>
            <a:endParaRPr lang="en-US" sz="1350" dirty="0"/>
          </a:p>
          <a:p>
            <a:pPr marL="152400" indent="-152400">
              <a:spcAft>
                <a:spcPts val="500"/>
              </a:spcAft>
              <a:buSzPct val="100000"/>
              <a:buChar char="•"/>
            </a:pPr>
            <a:r>
              <a:rPr lang="en-US" sz="1350" dirty="0">
                <a:solidFill>
                  <a:srgbClr val="2B2F38"/>
                </a:solidFill>
                <a:latin typeface="Calibri" pitchFamily="34" charset="0"/>
                <a:ea typeface="Calibri" pitchFamily="34" charset="-122"/>
                <a:cs typeface="Calibri" pitchFamily="34" charset="-120"/>
              </a:rPr>
              <a:t>Umbrales tan bajos que el ruido revierte todo</a:t>
            </a:r>
            <a:endParaRPr lang="en-US" sz="1350" dirty="0"/>
          </a:p>
          <a:p>
            <a:pPr marL="152400" indent="-152400">
              <a:spcAft>
                <a:spcPts val="500"/>
              </a:spcAft>
              <a:buSzPct val="100000"/>
              <a:buChar char="•"/>
            </a:pPr>
            <a:r>
              <a:rPr lang="en-US" sz="1350" dirty="0">
                <a:solidFill>
                  <a:srgbClr val="2B2F38"/>
                </a:solidFill>
                <a:latin typeface="Calibri" pitchFamily="34" charset="0"/>
                <a:ea typeface="Calibri" pitchFamily="34" charset="-122"/>
                <a:cs typeface="Calibri" pitchFamily="34" charset="-120"/>
              </a:rPr>
              <a:t>Ventana de canary sin tráfico suficiente</a:t>
            </a:r>
            <a:endParaRPr lang="en-US" sz="1350" dirty="0"/>
          </a:p>
          <a:p>
            <a:pPr marL="152400" indent="-152400">
              <a:spcAft>
                <a:spcPts val="500"/>
              </a:spcAft>
              <a:buSzPct val="100000"/>
              <a:buChar char="•"/>
            </a:pPr>
            <a:r>
              <a:rPr lang="en-US" sz="1350" dirty="0">
                <a:solidFill>
                  <a:srgbClr val="2B2F38"/>
                </a:solidFill>
                <a:latin typeface="Calibri" pitchFamily="34" charset="0"/>
                <a:ea typeface="Calibri" pitchFamily="34" charset="-122"/>
                <a:cs typeface="Calibri" pitchFamily="34" charset="-120"/>
              </a:rPr>
              <a:t>Alarmas que nadie revisa después del rollback</a:t>
            </a:r>
            <a:endParaRPr lang="en-US" sz="1350" dirty="0"/>
          </a:p>
        </p:txBody>
      </p:sp>
      <p:sp>
        <p:nvSpPr>
          <p:cNvPr id="9" name="Text 7"/>
          <p:cNvSpPr txBox="1"/>
          <p:nvPr/>
        </p:nvSpPr>
        <p:spPr>
          <a:xfrm>
            <a:off x="457200" y="4773168"/>
            <a:ext cx="6400800" cy="228600"/>
          </a:xfrm>
          <a:prstGeom prst="rect">
            <a:avLst/>
          </a:prstGeom>
          <a:noFill/>
          <a:ln/>
        </p:spPr>
        <p:txBody>
          <a:bodyPr wrap="square" lIns="0" tIns="0" rIns="0" bIns="0" rtlCol="0" anchor="t"/>
          <a:lstStyle/>
          <a:p>
            <a:pPr indent="0" marL="0">
              <a:buNone/>
            </a:pPr>
            <a:r>
              <a:rPr lang="en-US" sz="900" dirty="0">
                <a:solidFill>
                  <a:srgbClr val="8A8F98"/>
                </a:solidFill>
                <a:latin typeface="Calibri" pitchFamily="34" charset="0"/>
                <a:ea typeface="Calibri" pitchFamily="34" charset="-122"/>
                <a:cs typeface="Calibri" pitchFamily="34" charset="-120"/>
              </a:rPr>
              <a:t>DevOps en AWS  ·  Sesión 2</a:t>
            </a:r>
            <a:endParaRPr lang="en-US" sz="900" dirty="0"/>
          </a:p>
        </p:txBody>
      </p:sp>
      <p:sp>
        <p:nvSpPr>
          <p:cNvPr id="10" name="Text 8"/>
          <p:cNvSpPr txBox="1"/>
          <p:nvPr/>
        </p:nvSpPr>
        <p:spPr>
          <a:xfrm>
            <a:off x="8138160" y="4773168"/>
            <a:ext cx="548640" cy="228600"/>
          </a:xfrm>
          <a:prstGeom prst="rect">
            <a:avLst/>
          </a:prstGeom>
          <a:noFill/>
          <a:ln/>
        </p:spPr>
        <p:txBody>
          <a:bodyPr wrap="square" lIns="0" tIns="0" rIns="0" bIns="0" rtlCol="0" anchor="t"/>
          <a:lstStyle/>
          <a:p>
            <a:pPr algn="r" indent="0" marL="0">
              <a:buNone/>
            </a:pPr>
            <a:r>
              <a:rPr lang="en-US" sz="900" dirty="0">
                <a:solidFill>
                  <a:srgbClr val="8A8F98"/>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3017520" cy="5143500"/>
          </a:xfrm>
          <a:prstGeom prst="rect">
            <a:avLst/>
          </a:prstGeom>
          <a:solidFill>
            <a:srgbClr val="232F3E"/>
          </a:solidFill>
          <a:ln w="12700">
            <a:solidFill>
              <a:srgbClr val="232F3E"/>
            </a:solidFill>
            <a:prstDash val="solid"/>
          </a:ln>
        </p:spPr>
      </p:sp>
      <p:sp>
        <p:nvSpPr>
          <p:cNvPr id="3" name="Text 1"/>
          <p:cNvSpPr txBox="1"/>
          <p:nvPr/>
        </p:nvSpPr>
        <p:spPr>
          <a:xfrm>
            <a:off x="411480" y="548640"/>
            <a:ext cx="2286000" cy="320040"/>
          </a:xfrm>
          <a:prstGeom prst="rect">
            <a:avLst/>
          </a:prstGeom>
          <a:noFill/>
          <a:ln/>
        </p:spPr>
        <p:txBody>
          <a:bodyPr wrap="square" lIns="0" tIns="0" rIns="0" bIns="0" rtlCol="0" anchor="t"/>
          <a:lstStyle/>
          <a:p>
            <a:pPr indent="0" marL="0">
              <a:buNone/>
            </a:pPr>
            <a:r>
              <a:rPr lang="en-US" sz="1200" b="1" dirty="0">
                <a:solidFill>
                  <a:srgbClr val="FF9900"/>
                </a:solidFill>
                <a:latin typeface="Calibri" pitchFamily="34" charset="0"/>
                <a:ea typeface="Calibri" pitchFamily="34" charset="-122"/>
                <a:cs typeface="Calibri" pitchFamily="34" charset="-120"/>
              </a:rPr>
              <a:t>PRÁCTICA</a:t>
            </a:r>
            <a:endParaRPr lang="en-US" sz="1200" dirty="0"/>
          </a:p>
        </p:txBody>
      </p:sp>
      <p:sp>
        <p:nvSpPr>
          <p:cNvPr id="4" name="Text 2"/>
          <p:cNvSpPr txBox="1"/>
          <p:nvPr/>
        </p:nvSpPr>
        <p:spPr>
          <a:xfrm>
            <a:off x="411480" y="868680"/>
            <a:ext cx="2377440" cy="822960"/>
          </a:xfrm>
          <a:prstGeom prst="rect">
            <a:avLst/>
          </a:prstGeom>
          <a:noFill/>
          <a:ln/>
        </p:spPr>
        <p:txBody>
          <a:bodyPr wrap="square" lIns="0" tIns="0" rIns="0" bIns="0" rtlCol="0" anchor="t"/>
          <a:lstStyle/>
          <a:p>
            <a:pPr indent="0" marL="0">
              <a:buNone/>
            </a:pPr>
            <a:r>
              <a:rPr lang="en-US" sz="4000" b="1" dirty="0">
                <a:solidFill>
                  <a:srgbClr val="FFFFFF"/>
                </a:solidFill>
                <a:latin typeface="Arial" pitchFamily="34" charset="0"/>
                <a:ea typeface="Arial" pitchFamily="34" charset="-122"/>
                <a:cs typeface="Arial" pitchFamily="34" charset="-120"/>
              </a:rPr>
              <a:t>Lab 04</a:t>
            </a:r>
            <a:endParaRPr lang="en-US" sz="4000" dirty="0"/>
          </a:p>
        </p:txBody>
      </p:sp>
      <p:sp>
        <p:nvSpPr>
          <p:cNvPr id="5" name="Text 3"/>
          <p:cNvSpPr txBox="1"/>
          <p:nvPr/>
        </p:nvSpPr>
        <p:spPr>
          <a:xfrm>
            <a:off x="411480" y="1783080"/>
            <a:ext cx="2286000" cy="320040"/>
          </a:xfrm>
          <a:prstGeom prst="rect">
            <a:avLst/>
          </a:prstGeom>
          <a:noFill/>
          <a:ln/>
        </p:spPr>
        <p:txBody>
          <a:bodyPr wrap="square" lIns="0" tIns="0" rIns="0" bIns="0" rtlCol="0" anchor="t"/>
          <a:lstStyle/>
          <a:p>
            <a:pPr indent="0" marL="0">
              <a:buNone/>
            </a:pPr>
            <a:r>
              <a:rPr lang="en-US" sz="1300" dirty="0">
                <a:solidFill>
                  <a:srgbClr val="C9D1DB"/>
                </a:solidFill>
                <a:latin typeface="Calibri" pitchFamily="34" charset="0"/>
                <a:ea typeface="Calibri" pitchFamily="34" charset="-122"/>
                <a:cs typeface="Calibri" pitchFamily="34" charset="-120"/>
              </a:rPr>
              <a:t>50 minutos</a:t>
            </a:r>
            <a:endParaRPr lang="en-US" sz="1300" dirty="0"/>
          </a:p>
        </p:txBody>
      </p:sp>
      <p:sp>
        <p:nvSpPr>
          <p:cNvPr id="6" name="Text 4"/>
          <p:cNvSpPr txBox="1"/>
          <p:nvPr/>
        </p:nvSpPr>
        <p:spPr>
          <a:xfrm>
            <a:off x="411480" y="4114800"/>
            <a:ext cx="2377440" cy="548640"/>
          </a:xfrm>
          <a:prstGeom prst="rect">
            <a:avLst/>
          </a:prstGeom>
          <a:noFill/>
          <a:ln/>
        </p:spPr>
        <p:txBody>
          <a:bodyPr wrap="square" lIns="0" tIns="0" rIns="0" bIns="0" rtlCol="0" anchor="t"/>
          <a:lstStyle/>
          <a:p>
            <a:pPr indent="0" marL="0">
              <a:buNone/>
            </a:pPr>
            <a:r>
              <a:rPr lang="en-US" sz="1000" dirty="0">
                <a:solidFill>
                  <a:srgbClr val="C9D1DB"/>
                </a:solidFill>
                <a:latin typeface="Calibri" pitchFamily="34" charset="0"/>
                <a:ea typeface="Calibri" pitchFamily="34" charset="-122"/>
                <a:cs typeface="Calibri" pitchFamily="34" charset="-120"/>
              </a:rPr>
              <a:t>practicas/Lab04_canary_rollback</a:t>
            </a:r>
            <a:endParaRPr lang="en-US" sz="1000" dirty="0"/>
          </a:p>
        </p:txBody>
      </p:sp>
      <p:sp>
        <p:nvSpPr>
          <p:cNvPr id="7" name="Text 5"/>
          <p:cNvSpPr txBox="1"/>
          <p:nvPr/>
        </p:nvSpPr>
        <p:spPr>
          <a:xfrm>
            <a:off x="3383280" y="411480"/>
            <a:ext cx="5303520" cy="822960"/>
          </a:xfrm>
          <a:prstGeom prst="rect">
            <a:avLst/>
          </a:prstGeom>
          <a:noFill/>
          <a:ln/>
        </p:spPr>
        <p:txBody>
          <a:bodyPr wrap="square" lIns="0" tIns="0" rIns="0" bIns="0" rtlCol="0" anchor="ctr"/>
          <a:lstStyle/>
          <a:p>
            <a:pPr indent="0" marL="0">
              <a:buNone/>
            </a:pPr>
            <a:r>
              <a:rPr lang="en-US" sz="2200" b="1" dirty="0">
                <a:solidFill>
                  <a:srgbClr val="232F3E"/>
                </a:solidFill>
                <a:latin typeface="Arial" pitchFamily="34" charset="0"/>
                <a:ea typeface="Arial" pitchFamily="34" charset="-122"/>
                <a:cs typeface="Arial" pitchFamily="34" charset="-120"/>
              </a:rPr>
              <a:t>Canary de Lambda con rollback automático</a:t>
            </a:r>
            <a:endParaRPr lang="en-US" sz="2200" dirty="0"/>
          </a:p>
        </p:txBody>
      </p:sp>
      <p:sp>
        <p:nvSpPr>
          <p:cNvPr id="8" name="Text 6"/>
          <p:cNvSpPr txBox="1"/>
          <p:nvPr/>
        </p:nvSpPr>
        <p:spPr>
          <a:xfrm>
            <a:off x="3383280" y="1280160"/>
            <a:ext cx="5303520" cy="640080"/>
          </a:xfrm>
          <a:prstGeom prst="rect">
            <a:avLst/>
          </a:prstGeom>
          <a:noFill/>
          <a:ln/>
        </p:spPr>
        <p:txBody>
          <a:bodyPr wrap="square" lIns="0" tIns="0" rIns="0" bIns="0" rtlCol="0" anchor="t"/>
          <a:lstStyle/>
          <a:p>
            <a:pPr indent="0" marL="0">
              <a:buNone/>
            </a:pPr>
            <a:r>
              <a:rPr lang="en-US" sz="1250" i="1" dirty="0">
                <a:solidFill>
                  <a:srgbClr val="555B66"/>
                </a:solidFill>
                <a:latin typeface="Calibri" pitchFamily="34" charset="0"/>
                <a:ea typeface="Calibri" pitchFamily="34" charset="-122"/>
                <a:cs typeface="Calibri" pitchFamily="34" charset="-120"/>
              </a:rPr>
              <a:t>Desplegar una función con SAM y CodeDeploy, publicar una versión defectuosa y ver cómo se revierte sola.</a:t>
            </a:r>
            <a:endParaRPr lang="en-US" sz="1250" dirty="0"/>
          </a:p>
        </p:txBody>
      </p:sp>
      <p:sp>
        <p:nvSpPr>
          <p:cNvPr id="9" name="Shape 7"/>
          <p:cNvSpPr/>
          <p:nvPr/>
        </p:nvSpPr>
        <p:spPr>
          <a:xfrm>
            <a:off x="3383280" y="2011680"/>
            <a:ext cx="329184" cy="329184"/>
          </a:xfrm>
          <a:prstGeom prst="ellipse">
            <a:avLst/>
          </a:prstGeom>
          <a:solidFill>
            <a:srgbClr val="FF9900"/>
          </a:solidFill>
          <a:ln w="12700">
            <a:solidFill>
              <a:srgbClr val="FF9900"/>
            </a:solidFill>
            <a:prstDash val="solid"/>
          </a:ln>
        </p:spPr>
      </p:sp>
      <p:sp>
        <p:nvSpPr>
          <p:cNvPr id="10" name="Text 8"/>
          <p:cNvSpPr txBox="1"/>
          <p:nvPr/>
        </p:nvSpPr>
        <p:spPr>
          <a:xfrm>
            <a:off x="3383280" y="2011680"/>
            <a:ext cx="329184" cy="329184"/>
          </a:xfrm>
          <a:prstGeom prst="rect">
            <a:avLst/>
          </a:prstGeom>
          <a:noFill/>
          <a:ln/>
        </p:spPr>
        <p:txBody>
          <a:bodyPr wrap="square" lIns="0" tIns="0" rIns="0" bIns="0" rtlCol="0" anchor="ctr"/>
          <a:lstStyle/>
          <a:p>
            <a:pPr algn="ctr" indent="0" marL="0">
              <a:buNone/>
            </a:pPr>
            <a:r>
              <a:rPr lang="en-US" sz="1100" b="1" dirty="0">
                <a:solidFill>
                  <a:srgbClr val="232F3E"/>
                </a:solidFill>
                <a:latin typeface="Arial" pitchFamily="34" charset="0"/>
                <a:ea typeface="Arial" pitchFamily="34" charset="-122"/>
                <a:cs typeface="Arial" pitchFamily="34" charset="-120"/>
              </a:rPr>
              <a:t>1</a:t>
            </a:r>
            <a:endParaRPr lang="en-US" sz="1100" dirty="0"/>
          </a:p>
        </p:txBody>
      </p:sp>
      <p:sp>
        <p:nvSpPr>
          <p:cNvPr id="11" name="Text 9"/>
          <p:cNvSpPr txBox="1"/>
          <p:nvPr/>
        </p:nvSpPr>
        <p:spPr>
          <a:xfrm>
            <a:off x="3840480" y="1993392"/>
            <a:ext cx="4846320" cy="411480"/>
          </a:xfrm>
          <a:prstGeom prst="rect">
            <a:avLst/>
          </a:prstGeom>
          <a:noFill/>
          <a:ln/>
        </p:spPr>
        <p:txBody>
          <a:bodyPr wrap="square" lIns="0" tIns="0" rIns="0" bIns="0" rtlCol="0" anchor="ctr"/>
          <a:lstStyle/>
          <a:p>
            <a:pPr indent="0" marL="0">
              <a:buNone/>
            </a:pPr>
            <a:r>
              <a:rPr lang="en-US" sz="1200" dirty="0">
                <a:solidFill>
                  <a:srgbClr val="2B2F38"/>
                </a:solidFill>
                <a:latin typeface="Calibri" pitchFamily="34" charset="0"/>
                <a:ea typeface="Calibri" pitchFamily="34" charset="-122"/>
                <a:cs typeface="Calibri" pitchFamily="34" charset="-120"/>
              </a:rPr>
              <a:t>Preparar la función, la alarma y la plantilla SAM en CloudShell</a:t>
            </a:r>
            <a:endParaRPr lang="en-US" sz="1200" dirty="0"/>
          </a:p>
        </p:txBody>
      </p:sp>
      <p:sp>
        <p:nvSpPr>
          <p:cNvPr id="12" name="Shape 10"/>
          <p:cNvSpPr/>
          <p:nvPr/>
        </p:nvSpPr>
        <p:spPr>
          <a:xfrm>
            <a:off x="3383280" y="2542032"/>
            <a:ext cx="329184" cy="329184"/>
          </a:xfrm>
          <a:prstGeom prst="ellipse">
            <a:avLst/>
          </a:prstGeom>
          <a:solidFill>
            <a:srgbClr val="FF9900"/>
          </a:solidFill>
          <a:ln w="12700">
            <a:solidFill>
              <a:srgbClr val="FF9900"/>
            </a:solidFill>
            <a:prstDash val="solid"/>
          </a:ln>
        </p:spPr>
      </p:sp>
      <p:sp>
        <p:nvSpPr>
          <p:cNvPr id="13" name="Text 11"/>
          <p:cNvSpPr txBox="1"/>
          <p:nvPr/>
        </p:nvSpPr>
        <p:spPr>
          <a:xfrm>
            <a:off x="3383280" y="2542032"/>
            <a:ext cx="329184" cy="329184"/>
          </a:xfrm>
          <a:prstGeom prst="rect">
            <a:avLst/>
          </a:prstGeom>
          <a:noFill/>
          <a:ln/>
        </p:spPr>
        <p:txBody>
          <a:bodyPr wrap="square" lIns="0" tIns="0" rIns="0" bIns="0" rtlCol="0" anchor="ctr"/>
          <a:lstStyle/>
          <a:p>
            <a:pPr algn="ctr" indent="0" marL="0">
              <a:buNone/>
            </a:pPr>
            <a:r>
              <a:rPr lang="en-US" sz="1100" b="1" dirty="0">
                <a:solidFill>
                  <a:srgbClr val="232F3E"/>
                </a:solidFill>
                <a:latin typeface="Arial" pitchFamily="34" charset="0"/>
                <a:ea typeface="Arial" pitchFamily="34" charset="-122"/>
                <a:cs typeface="Arial" pitchFamily="34" charset="-120"/>
              </a:rPr>
              <a:t>2</a:t>
            </a:r>
            <a:endParaRPr lang="en-US" sz="1100" dirty="0"/>
          </a:p>
        </p:txBody>
      </p:sp>
      <p:sp>
        <p:nvSpPr>
          <p:cNvPr id="14" name="Text 12"/>
          <p:cNvSpPr txBox="1"/>
          <p:nvPr/>
        </p:nvSpPr>
        <p:spPr>
          <a:xfrm>
            <a:off x="3840480" y="2523744"/>
            <a:ext cx="4846320" cy="411480"/>
          </a:xfrm>
          <a:prstGeom prst="rect">
            <a:avLst/>
          </a:prstGeom>
          <a:noFill/>
          <a:ln/>
        </p:spPr>
        <p:txBody>
          <a:bodyPr wrap="square" lIns="0" tIns="0" rIns="0" bIns="0" rtlCol="0" anchor="ctr"/>
          <a:lstStyle/>
          <a:p>
            <a:pPr indent="0" marL="0">
              <a:buNone/>
            </a:pPr>
            <a:r>
              <a:rPr lang="en-US" sz="1200" dirty="0">
                <a:solidFill>
                  <a:srgbClr val="2B2F38"/>
                </a:solidFill>
                <a:latin typeface="Calibri" pitchFamily="34" charset="0"/>
                <a:ea typeface="Calibri" pitchFamily="34" charset="-122"/>
                <a:cs typeface="Calibri" pitchFamily="34" charset="-120"/>
              </a:rPr>
              <a:t>Desplegar la versión 1 y comprobar el alias live</a:t>
            </a:r>
            <a:endParaRPr lang="en-US" sz="1200" dirty="0"/>
          </a:p>
        </p:txBody>
      </p:sp>
      <p:sp>
        <p:nvSpPr>
          <p:cNvPr id="15" name="Shape 13"/>
          <p:cNvSpPr/>
          <p:nvPr/>
        </p:nvSpPr>
        <p:spPr>
          <a:xfrm>
            <a:off x="3383280" y="3072384"/>
            <a:ext cx="329184" cy="329184"/>
          </a:xfrm>
          <a:prstGeom prst="ellipse">
            <a:avLst/>
          </a:prstGeom>
          <a:solidFill>
            <a:srgbClr val="FF9900"/>
          </a:solidFill>
          <a:ln w="12700">
            <a:solidFill>
              <a:srgbClr val="FF9900"/>
            </a:solidFill>
            <a:prstDash val="solid"/>
          </a:ln>
        </p:spPr>
      </p:sp>
      <p:sp>
        <p:nvSpPr>
          <p:cNvPr id="16" name="Text 14"/>
          <p:cNvSpPr txBox="1"/>
          <p:nvPr/>
        </p:nvSpPr>
        <p:spPr>
          <a:xfrm>
            <a:off x="3383280" y="3072384"/>
            <a:ext cx="329184" cy="329184"/>
          </a:xfrm>
          <a:prstGeom prst="rect">
            <a:avLst/>
          </a:prstGeom>
          <a:noFill/>
          <a:ln/>
        </p:spPr>
        <p:txBody>
          <a:bodyPr wrap="square" lIns="0" tIns="0" rIns="0" bIns="0" rtlCol="0" anchor="ctr"/>
          <a:lstStyle/>
          <a:p>
            <a:pPr algn="ctr" indent="0" marL="0">
              <a:buNone/>
            </a:pPr>
            <a:r>
              <a:rPr lang="en-US" sz="1100" b="1" dirty="0">
                <a:solidFill>
                  <a:srgbClr val="232F3E"/>
                </a:solidFill>
                <a:latin typeface="Arial" pitchFamily="34" charset="0"/>
                <a:ea typeface="Arial" pitchFamily="34" charset="-122"/>
                <a:cs typeface="Arial" pitchFamily="34" charset="-120"/>
              </a:rPr>
              <a:t>3</a:t>
            </a:r>
            <a:endParaRPr lang="en-US" sz="1100" dirty="0"/>
          </a:p>
        </p:txBody>
      </p:sp>
      <p:sp>
        <p:nvSpPr>
          <p:cNvPr id="17" name="Text 15"/>
          <p:cNvSpPr txBox="1"/>
          <p:nvPr/>
        </p:nvSpPr>
        <p:spPr>
          <a:xfrm>
            <a:off x="3840480" y="3054096"/>
            <a:ext cx="4846320" cy="411480"/>
          </a:xfrm>
          <a:prstGeom prst="rect">
            <a:avLst/>
          </a:prstGeom>
          <a:noFill/>
          <a:ln/>
        </p:spPr>
        <p:txBody>
          <a:bodyPr wrap="square" lIns="0" tIns="0" rIns="0" bIns="0" rtlCol="0" anchor="ctr"/>
          <a:lstStyle/>
          <a:p>
            <a:pPr indent="0" marL="0">
              <a:buNone/>
            </a:pPr>
            <a:r>
              <a:rPr lang="en-US" sz="1200" dirty="0">
                <a:solidFill>
                  <a:srgbClr val="2B2F38"/>
                </a:solidFill>
                <a:latin typeface="Calibri" pitchFamily="34" charset="0"/>
                <a:ea typeface="Calibri" pitchFamily="34" charset="-122"/>
                <a:cs typeface="Calibri" pitchFamily="34" charset="-120"/>
              </a:rPr>
              <a:t>Publicar una versión 2 defectuosa mientras generas tráfico</a:t>
            </a:r>
            <a:endParaRPr lang="en-US" sz="1200" dirty="0"/>
          </a:p>
        </p:txBody>
      </p:sp>
      <p:sp>
        <p:nvSpPr>
          <p:cNvPr id="18" name="Shape 16"/>
          <p:cNvSpPr/>
          <p:nvPr/>
        </p:nvSpPr>
        <p:spPr>
          <a:xfrm>
            <a:off x="3383280" y="3602736"/>
            <a:ext cx="329184" cy="329184"/>
          </a:xfrm>
          <a:prstGeom prst="ellipse">
            <a:avLst/>
          </a:prstGeom>
          <a:solidFill>
            <a:srgbClr val="FF9900"/>
          </a:solidFill>
          <a:ln w="12700">
            <a:solidFill>
              <a:srgbClr val="FF9900"/>
            </a:solidFill>
            <a:prstDash val="solid"/>
          </a:ln>
        </p:spPr>
      </p:sp>
      <p:sp>
        <p:nvSpPr>
          <p:cNvPr id="19" name="Text 17"/>
          <p:cNvSpPr txBox="1"/>
          <p:nvPr/>
        </p:nvSpPr>
        <p:spPr>
          <a:xfrm>
            <a:off x="3383280" y="3602736"/>
            <a:ext cx="329184" cy="329184"/>
          </a:xfrm>
          <a:prstGeom prst="rect">
            <a:avLst/>
          </a:prstGeom>
          <a:noFill/>
          <a:ln/>
        </p:spPr>
        <p:txBody>
          <a:bodyPr wrap="square" lIns="0" tIns="0" rIns="0" bIns="0" rtlCol="0" anchor="ctr"/>
          <a:lstStyle/>
          <a:p>
            <a:pPr algn="ctr" indent="0" marL="0">
              <a:buNone/>
            </a:pPr>
            <a:r>
              <a:rPr lang="en-US" sz="1100" b="1" dirty="0">
                <a:solidFill>
                  <a:srgbClr val="232F3E"/>
                </a:solidFill>
                <a:latin typeface="Arial" pitchFamily="34" charset="0"/>
                <a:ea typeface="Arial" pitchFamily="34" charset="-122"/>
                <a:cs typeface="Arial" pitchFamily="34" charset="-120"/>
              </a:rPr>
              <a:t>4</a:t>
            </a:r>
            <a:endParaRPr lang="en-US" sz="1100" dirty="0"/>
          </a:p>
        </p:txBody>
      </p:sp>
      <p:sp>
        <p:nvSpPr>
          <p:cNvPr id="20" name="Text 18"/>
          <p:cNvSpPr txBox="1"/>
          <p:nvPr/>
        </p:nvSpPr>
        <p:spPr>
          <a:xfrm>
            <a:off x="3840480" y="3584448"/>
            <a:ext cx="4846320" cy="411480"/>
          </a:xfrm>
          <a:prstGeom prst="rect">
            <a:avLst/>
          </a:prstGeom>
          <a:noFill/>
          <a:ln/>
        </p:spPr>
        <p:txBody>
          <a:bodyPr wrap="square" lIns="0" tIns="0" rIns="0" bIns="0" rtlCol="0" anchor="ctr"/>
          <a:lstStyle/>
          <a:p>
            <a:pPr indent="0" marL="0">
              <a:buNone/>
            </a:pPr>
            <a:r>
              <a:rPr lang="en-US" sz="1200" dirty="0">
                <a:solidFill>
                  <a:srgbClr val="2B2F38"/>
                </a:solidFill>
                <a:latin typeface="Calibri" pitchFamily="34" charset="0"/>
                <a:ea typeface="Calibri" pitchFamily="34" charset="-122"/>
                <a:cs typeface="Calibri" pitchFamily="34" charset="-120"/>
              </a:rPr>
              <a:t>Seguir el despliegue en CodeDeploy y ver el rollback</a:t>
            </a:r>
            <a:endParaRPr lang="en-US" sz="1200" dirty="0"/>
          </a:p>
        </p:txBody>
      </p:sp>
      <p:sp>
        <p:nvSpPr>
          <p:cNvPr id="21" name="Shape 19"/>
          <p:cNvSpPr/>
          <p:nvPr/>
        </p:nvSpPr>
        <p:spPr>
          <a:xfrm>
            <a:off x="3383280" y="4133088"/>
            <a:ext cx="329184" cy="329184"/>
          </a:xfrm>
          <a:prstGeom prst="ellipse">
            <a:avLst/>
          </a:prstGeom>
          <a:solidFill>
            <a:srgbClr val="FF9900"/>
          </a:solidFill>
          <a:ln w="12700">
            <a:solidFill>
              <a:srgbClr val="FF9900"/>
            </a:solidFill>
            <a:prstDash val="solid"/>
          </a:ln>
        </p:spPr>
      </p:sp>
      <p:sp>
        <p:nvSpPr>
          <p:cNvPr id="22" name="Text 20"/>
          <p:cNvSpPr txBox="1"/>
          <p:nvPr/>
        </p:nvSpPr>
        <p:spPr>
          <a:xfrm>
            <a:off x="3383280" y="4133088"/>
            <a:ext cx="329184" cy="329184"/>
          </a:xfrm>
          <a:prstGeom prst="rect">
            <a:avLst/>
          </a:prstGeom>
          <a:noFill/>
          <a:ln/>
        </p:spPr>
        <p:txBody>
          <a:bodyPr wrap="square" lIns="0" tIns="0" rIns="0" bIns="0" rtlCol="0" anchor="ctr"/>
          <a:lstStyle/>
          <a:p>
            <a:pPr algn="ctr" indent="0" marL="0">
              <a:buNone/>
            </a:pPr>
            <a:r>
              <a:rPr lang="en-US" sz="1100" b="1" dirty="0">
                <a:solidFill>
                  <a:srgbClr val="232F3E"/>
                </a:solidFill>
                <a:latin typeface="Arial" pitchFamily="34" charset="0"/>
                <a:ea typeface="Arial" pitchFamily="34" charset="-122"/>
                <a:cs typeface="Arial" pitchFamily="34" charset="-120"/>
              </a:rPr>
              <a:t>5</a:t>
            </a:r>
            <a:endParaRPr lang="en-US" sz="1100" dirty="0"/>
          </a:p>
        </p:txBody>
      </p:sp>
      <p:sp>
        <p:nvSpPr>
          <p:cNvPr id="23" name="Text 21"/>
          <p:cNvSpPr txBox="1"/>
          <p:nvPr/>
        </p:nvSpPr>
        <p:spPr>
          <a:xfrm>
            <a:off x="3840480" y="4114800"/>
            <a:ext cx="4846320" cy="411480"/>
          </a:xfrm>
          <a:prstGeom prst="rect">
            <a:avLst/>
          </a:prstGeom>
          <a:noFill/>
          <a:ln/>
        </p:spPr>
        <p:txBody>
          <a:bodyPr wrap="square" lIns="0" tIns="0" rIns="0" bIns="0" rtlCol="0" anchor="ctr"/>
          <a:lstStyle/>
          <a:p>
            <a:pPr indent="0" marL="0">
              <a:buNone/>
            </a:pPr>
            <a:r>
              <a:rPr lang="en-US" sz="1200" dirty="0">
                <a:solidFill>
                  <a:srgbClr val="2B2F38"/>
                </a:solidFill>
                <a:latin typeface="Calibri" pitchFamily="34" charset="0"/>
                <a:ea typeface="Calibri" pitchFamily="34" charset="-122"/>
                <a:cs typeface="Calibri" pitchFamily="34" charset="-120"/>
              </a:rPr>
              <a:t>Consultar métricas y logs para explicar lo ocurrido</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232F3E"/>
        </a:solidFill>
      </p:bgPr>
    </p:bg>
    <p:spTree>
      <p:nvGrpSpPr>
        <p:cNvPr id="1" name=""/>
        <p:cNvGrpSpPr/>
        <p:nvPr/>
      </p:nvGrpSpPr>
      <p:grpSpPr>
        <a:xfrm>
          <a:off x="0" y="0"/>
          <a:ext cx="0" cy="0"/>
          <a:chOff x="0" y="0"/>
          <a:chExt cx="0" cy="0"/>
        </a:xfrm>
      </p:grpSpPr>
      <p:sp>
        <p:nvSpPr>
          <p:cNvPr id="2" name="Text 0"/>
          <p:cNvSpPr txBox="1"/>
          <p:nvPr/>
        </p:nvSpPr>
        <p:spPr>
          <a:xfrm>
            <a:off x="548640" y="731520"/>
            <a:ext cx="2286000" cy="1280160"/>
          </a:xfrm>
          <a:prstGeom prst="rect">
            <a:avLst/>
          </a:prstGeom>
          <a:noFill/>
          <a:ln/>
        </p:spPr>
        <p:txBody>
          <a:bodyPr wrap="square" lIns="0" tIns="0" rIns="0" bIns="0" rtlCol="0" anchor="b"/>
          <a:lstStyle/>
          <a:p>
            <a:pPr indent="0" marL="0">
              <a:buNone/>
            </a:pPr>
            <a:r>
              <a:rPr lang="en-US" sz="7200" b="1" dirty="0">
                <a:solidFill>
                  <a:srgbClr val="FF9900"/>
                </a:solidFill>
                <a:latin typeface="Arial" pitchFamily="34" charset="0"/>
                <a:ea typeface="Arial" pitchFamily="34" charset="-122"/>
                <a:cs typeface="Arial" pitchFamily="34" charset="-120"/>
              </a:rPr>
              <a:t>06</a:t>
            </a:r>
            <a:endParaRPr lang="en-US" sz="7200" dirty="0"/>
          </a:p>
        </p:txBody>
      </p:sp>
      <p:sp>
        <p:nvSpPr>
          <p:cNvPr id="3" name="Text 1"/>
          <p:cNvSpPr txBox="1"/>
          <p:nvPr/>
        </p:nvSpPr>
        <p:spPr>
          <a:xfrm>
            <a:off x="548640" y="2148840"/>
            <a:ext cx="7863840" cy="1325880"/>
          </a:xfrm>
          <a:prstGeom prst="rect">
            <a:avLst/>
          </a:prstGeom>
          <a:noFill/>
          <a:ln/>
        </p:spPr>
        <p:txBody>
          <a:bodyPr wrap="square" lIns="0" tIns="0" rIns="0" bIns="0" rtlCol="0" anchor="t"/>
          <a:lstStyle/>
          <a:p>
            <a:pPr indent="0" marL="0">
              <a:buNone/>
            </a:pPr>
            <a:r>
              <a:rPr lang="en-US" sz="3000" b="1" dirty="0">
                <a:solidFill>
                  <a:srgbClr val="FFFFFF"/>
                </a:solidFill>
                <a:latin typeface="Arial" pitchFamily="34" charset="0"/>
                <a:ea typeface="Arial" pitchFamily="34" charset="-122"/>
                <a:cs typeface="Arial" pitchFamily="34" charset="-120"/>
              </a:rPr>
              <a:t>Seguridad de pipelines y multi-cuenta</a:t>
            </a:r>
            <a:endParaRPr lang="en-US" sz="3000" dirty="0"/>
          </a:p>
        </p:txBody>
      </p:sp>
      <p:sp>
        <p:nvSpPr>
          <p:cNvPr id="4" name="Text 2"/>
          <p:cNvSpPr txBox="1"/>
          <p:nvPr/>
        </p:nvSpPr>
        <p:spPr>
          <a:xfrm>
            <a:off x="548640" y="3657600"/>
            <a:ext cx="7680960" cy="731520"/>
          </a:xfrm>
          <a:prstGeom prst="rect">
            <a:avLst/>
          </a:prstGeom>
          <a:noFill/>
          <a:ln/>
        </p:spPr>
        <p:txBody>
          <a:bodyPr wrap="square" lIns="0" tIns="0" rIns="0" bIns="0" rtlCol="0" anchor="t"/>
          <a:lstStyle/>
          <a:p>
            <a:pPr indent="0" marL="0">
              <a:buNone/>
            </a:pPr>
            <a:r>
              <a:rPr lang="en-US" sz="1500" dirty="0">
                <a:solidFill>
                  <a:srgbClr val="C9D1DB"/>
                </a:solidFill>
                <a:latin typeface="Calibri" pitchFamily="34" charset="0"/>
                <a:ea typeface="Calibri" pitchFamily="34" charset="-122"/>
                <a:cs typeface="Calibri" pitchFamily="34" charset="-120"/>
              </a:rPr>
              <a:t>La pipeline tiene las llaves de producción: protégela como tal</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457200" y="292608"/>
            <a:ext cx="8229600" cy="685800"/>
          </a:xfrm>
          <a:prstGeom prst="rect">
            <a:avLst/>
          </a:prstGeom>
          <a:noFill/>
          <a:ln/>
        </p:spPr>
        <p:txBody>
          <a:bodyPr wrap="square" lIns="0" tIns="0" rIns="0" bIns="0" rtlCol="0" anchor="ctr"/>
          <a:lstStyle/>
          <a:p>
            <a:pPr indent="0" marL="0">
              <a:buNone/>
            </a:pPr>
            <a:r>
              <a:rPr lang="en-US" sz="2400" b="1" dirty="0">
                <a:solidFill>
                  <a:srgbClr val="232F3E"/>
                </a:solidFill>
                <a:latin typeface="Arial" pitchFamily="34" charset="0"/>
                <a:ea typeface="Arial" pitchFamily="34" charset="-122"/>
                <a:cs typeface="Arial" pitchFamily="34" charset="-120"/>
              </a:rPr>
              <a:t>Principios de seguridad para CI/CD</a:t>
            </a:r>
            <a:endParaRPr lang="en-US" sz="2400" dirty="0"/>
          </a:p>
        </p:txBody>
      </p:sp>
      <p:sp>
        <p:nvSpPr>
          <p:cNvPr id="3" name="Shape 1"/>
          <p:cNvSpPr/>
          <p:nvPr/>
        </p:nvSpPr>
        <p:spPr>
          <a:xfrm>
            <a:off x="457200" y="1143000"/>
            <a:ext cx="4000500" cy="1623060"/>
          </a:xfrm>
          <a:prstGeom prst="roundRect">
            <a:avLst>
              <a:gd name="adj" fmla="val 4507"/>
            </a:avLst>
          </a:prstGeom>
          <a:solidFill>
            <a:srgbClr val="F3F5F7"/>
          </a:solidFill>
          <a:ln w="12700">
            <a:solidFill>
              <a:srgbClr val="F3F5F7"/>
            </a:solidFill>
            <a:prstDash val="solid"/>
          </a:ln>
        </p:spPr>
      </p:sp>
      <p:sp>
        <p:nvSpPr>
          <p:cNvPr id="4" name="Shape 2"/>
          <p:cNvSpPr/>
          <p:nvPr/>
        </p:nvSpPr>
        <p:spPr>
          <a:xfrm>
            <a:off x="640080" y="1325880"/>
            <a:ext cx="384048" cy="384048"/>
          </a:xfrm>
          <a:prstGeom prst="ellipse">
            <a:avLst/>
          </a:prstGeom>
          <a:solidFill>
            <a:srgbClr val="FF9900"/>
          </a:solidFill>
          <a:ln w="12700">
            <a:solidFill>
              <a:srgbClr val="FF9900"/>
            </a:solidFill>
            <a:prstDash val="solid"/>
          </a:ln>
        </p:spPr>
      </p:sp>
      <p:sp>
        <p:nvSpPr>
          <p:cNvPr id="5" name="Text 3"/>
          <p:cNvSpPr txBox="1"/>
          <p:nvPr/>
        </p:nvSpPr>
        <p:spPr>
          <a:xfrm>
            <a:off x="640080" y="1325880"/>
            <a:ext cx="384048" cy="384048"/>
          </a:xfrm>
          <a:prstGeom prst="rect">
            <a:avLst/>
          </a:prstGeom>
          <a:noFill/>
          <a:ln/>
        </p:spPr>
        <p:txBody>
          <a:bodyPr wrap="square" lIns="0" tIns="0" rIns="0" bIns="0" rtlCol="0" anchor="ctr"/>
          <a:lstStyle/>
          <a:p>
            <a:pPr algn="ctr" indent="0" marL="0">
              <a:buNone/>
            </a:pPr>
            <a:r>
              <a:rPr lang="en-US" sz="1300" b="1" dirty="0">
                <a:solidFill>
                  <a:srgbClr val="232F3E"/>
                </a:solidFill>
                <a:latin typeface="Arial" pitchFamily="34" charset="0"/>
                <a:ea typeface="Arial" pitchFamily="34" charset="-122"/>
                <a:cs typeface="Arial" pitchFamily="34" charset="-120"/>
              </a:rPr>
              <a:t>1</a:t>
            </a:r>
            <a:endParaRPr lang="en-US" sz="1300" dirty="0"/>
          </a:p>
        </p:txBody>
      </p:sp>
      <p:sp>
        <p:nvSpPr>
          <p:cNvPr id="6" name="Text 4"/>
          <p:cNvSpPr txBox="1"/>
          <p:nvPr/>
        </p:nvSpPr>
        <p:spPr>
          <a:xfrm>
            <a:off x="1143000" y="1298448"/>
            <a:ext cx="3177540" cy="457200"/>
          </a:xfrm>
          <a:prstGeom prst="rect">
            <a:avLst/>
          </a:prstGeom>
          <a:noFill/>
          <a:ln/>
        </p:spPr>
        <p:txBody>
          <a:bodyPr wrap="square" lIns="0" tIns="0" rIns="0" bIns="0" rtlCol="0" anchor="ctr"/>
          <a:lstStyle/>
          <a:p>
            <a:pPr indent="0" marL="0">
              <a:buNone/>
            </a:pPr>
            <a:r>
              <a:rPr lang="en-US" sz="1350" b="1" dirty="0">
                <a:solidFill>
                  <a:srgbClr val="232F3E"/>
                </a:solidFill>
                <a:latin typeface="Arial" pitchFamily="34" charset="0"/>
                <a:ea typeface="Arial" pitchFamily="34" charset="-122"/>
                <a:cs typeface="Arial" pitchFamily="34" charset="-120"/>
              </a:rPr>
              <a:t>Mínimo privilegio</a:t>
            </a:r>
            <a:endParaRPr lang="en-US" sz="1350" dirty="0"/>
          </a:p>
        </p:txBody>
      </p:sp>
      <p:sp>
        <p:nvSpPr>
          <p:cNvPr id="7" name="Text 5"/>
          <p:cNvSpPr txBox="1"/>
          <p:nvPr/>
        </p:nvSpPr>
        <p:spPr>
          <a:xfrm>
            <a:off x="658368" y="1856232"/>
            <a:ext cx="3616452" cy="800100"/>
          </a:xfrm>
          <a:prstGeom prst="rect">
            <a:avLst/>
          </a:prstGeom>
          <a:noFill/>
          <a:ln/>
        </p:spPr>
        <p:txBody>
          <a:bodyPr wrap="square" lIns="0" tIns="0" rIns="0" bIns="0" rtlCol="0" anchor="t"/>
          <a:lstStyle/>
          <a:p>
            <a:pPr indent="0" marL="0">
              <a:buNone/>
            </a:pPr>
            <a:r>
              <a:rPr lang="en-US" sz="1200" dirty="0">
                <a:solidFill>
                  <a:srgbClr val="2B2F38"/>
                </a:solidFill>
                <a:latin typeface="Calibri" pitchFamily="34" charset="0"/>
                <a:ea typeface="Calibri" pitchFamily="34" charset="-122"/>
                <a:cs typeface="Calibri" pitchFamily="34" charset="-120"/>
              </a:rPr>
              <a:t>Un rol por pipeline y por acción, limitado a los recursos que realmente despliega.</a:t>
            </a:r>
            <a:endParaRPr lang="en-US" sz="1200" dirty="0"/>
          </a:p>
        </p:txBody>
      </p:sp>
      <p:sp>
        <p:nvSpPr>
          <p:cNvPr id="8" name="Shape 6"/>
          <p:cNvSpPr/>
          <p:nvPr/>
        </p:nvSpPr>
        <p:spPr>
          <a:xfrm>
            <a:off x="4686300" y="1143000"/>
            <a:ext cx="4000500" cy="1623060"/>
          </a:xfrm>
          <a:prstGeom prst="roundRect">
            <a:avLst>
              <a:gd name="adj" fmla="val 4507"/>
            </a:avLst>
          </a:prstGeom>
          <a:solidFill>
            <a:srgbClr val="F3F5F7"/>
          </a:solidFill>
          <a:ln w="12700">
            <a:solidFill>
              <a:srgbClr val="F3F5F7"/>
            </a:solidFill>
            <a:prstDash val="solid"/>
          </a:ln>
        </p:spPr>
      </p:sp>
      <p:sp>
        <p:nvSpPr>
          <p:cNvPr id="9" name="Shape 7"/>
          <p:cNvSpPr/>
          <p:nvPr/>
        </p:nvSpPr>
        <p:spPr>
          <a:xfrm>
            <a:off x="4869180" y="1325880"/>
            <a:ext cx="384048" cy="384048"/>
          </a:xfrm>
          <a:prstGeom prst="ellipse">
            <a:avLst/>
          </a:prstGeom>
          <a:solidFill>
            <a:srgbClr val="FF9900"/>
          </a:solidFill>
          <a:ln w="12700">
            <a:solidFill>
              <a:srgbClr val="FF9900"/>
            </a:solidFill>
            <a:prstDash val="solid"/>
          </a:ln>
        </p:spPr>
      </p:sp>
      <p:sp>
        <p:nvSpPr>
          <p:cNvPr id="10" name="Text 8"/>
          <p:cNvSpPr txBox="1"/>
          <p:nvPr/>
        </p:nvSpPr>
        <p:spPr>
          <a:xfrm>
            <a:off x="4869180" y="1325880"/>
            <a:ext cx="384048" cy="384048"/>
          </a:xfrm>
          <a:prstGeom prst="rect">
            <a:avLst/>
          </a:prstGeom>
          <a:noFill/>
          <a:ln/>
        </p:spPr>
        <p:txBody>
          <a:bodyPr wrap="square" lIns="0" tIns="0" rIns="0" bIns="0" rtlCol="0" anchor="ctr"/>
          <a:lstStyle/>
          <a:p>
            <a:pPr algn="ctr" indent="0" marL="0">
              <a:buNone/>
            </a:pPr>
            <a:r>
              <a:rPr lang="en-US" sz="1300" b="1" dirty="0">
                <a:solidFill>
                  <a:srgbClr val="232F3E"/>
                </a:solidFill>
                <a:latin typeface="Arial" pitchFamily="34" charset="0"/>
                <a:ea typeface="Arial" pitchFamily="34" charset="-122"/>
                <a:cs typeface="Arial" pitchFamily="34" charset="-120"/>
              </a:rPr>
              <a:t>2</a:t>
            </a:r>
            <a:endParaRPr lang="en-US" sz="1300" dirty="0"/>
          </a:p>
        </p:txBody>
      </p:sp>
      <p:sp>
        <p:nvSpPr>
          <p:cNvPr id="11" name="Text 9"/>
          <p:cNvSpPr txBox="1"/>
          <p:nvPr/>
        </p:nvSpPr>
        <p:spPr>
          <a:xfrm>
            <a:off x="5372100" y="1298448"/>
            <a:ext cx="3177540" cy="457200"/>
          </a:xfrm>
          <a:prstGeom prst="rect">
            <a:avLst/>
          </a:prstGeom>
          <a:noFill/>
          <a:ln/>
        </p:spPr>
        <p:txBody>
          <a:bodyPr wrap="square" lIns="0" tIns="0" rIns="0" bIns="0" rtlCol="0" anchor="ctr"/>
          <a:lstStyle/>
          <a:p>
            <a:pPr indent="0" marL="0">
              <a:buNone/>
            </a:pPr>
            <a:r>
              <a:rPr lang="en-US" sz="1350" b="1" dirty="0">
                <a:solidFill>
                  <a:srgbClr val="232F3E"/>
                </a:solidFill>
                <a:latin typeface="Arial" pitchFamily="34" charset="0"/>
                <a:ea typeface="Arial" pitchFamily="34" charset="-122"/>
                <a:cs typeface="Arial" pitchFamily="34" charset="-120"/>
              </a:rPr>
              <a:t>Sin claves estáticas</a:t>
            </a:r>
            <a:endParaRPr lang="en-US" sz="1350" dirty="0"/>
          </a:p>
        </p:txBody>
      </p:sp>
      <p:sp>
        <p:nvSpPr>
          <p:cNvPr id="12" name="Text 10"/>
          <p:cNvSpPr txBox="1"/>
          <p:nvPr/>
        </p:nvSpPr>
        <p:spPr>
          <a:xfrm>
            <a:off x="4887468" y="1856232"/>
            <a:ext cx="3616452" cy="800100"/>
          </a:xfrm>
          <a:prstGeom prst="rect">
            <a:avLst/>
          </a:prstGeom>
          <a:noFill/>
          <a:ln/>
        </p:spPr>
        <p:txBody>
          <a:bodyPr wrap="square" lIns="0" tIns="0" rIns="0" bIns="0" rtlCol="0" anchor="t"/>
          <a:lstStyle/>
          <a:p>
            <a:pPr indent="0" marL="0">
              <a:buNone/>
            </a:pPr>
            <a:r>
              <a:rPr lang="en-US" sz="1200" dirty="0">
                <a:solidFill>
                  <a:srgbClr val="2B2F38"/>
                </a:solidFill>
                <a:latin typeface="Calibri" pitchFamily="34" charset="0"/>
                <a:ea typeface="Calibri" pitchFamily="34" charset="-122"/>
                <a:cs typeface="Calibri" pitchFamily="34" charset="-120"/>
              </a:rPr>
              <a:t>OIDC para GitHub Actions o GitLab y roles asumidos. Nada de access keys guardadas.</a:t>
            </a:r>
            <a:endParaRPr lang="en-US" sz="1200" dirty="0"/>
          </a:p>
        </p:txBody>
      </p:sp>
      <p:sp>
        <p:nvSpPr>
          <p:cNvPr id="13" name="Shape 11"/>
          <p:cNvSpPr/>
          <p:nvPr/>
        </p:nvSpPr>
        <p:spPr>
          <a:xfrm>
            <a:off x="457200" y="2994660"/>
            <a:ext cx="4000500" cy="1623060"/>
          </a:xfrm>
          <a:prstGeom prst="roundRect">
            <a:avLst>
              <a:gd name="adj" fmla="val 4507"/>
            </a:avLst>
          </a:prstGeom>
          <a:solidFill>
            <a:srgbClr val="F3F5F7"/>
          </a:solidFill>
          <a:ln w="12700">
            <a:solidFill>
              <a:srgbClr val="F3F5F7"/>
            </a:solidFill>
            <a:prstDash val="solid"/>
          </a:ln>
        </p:spPr>
      </p:sp>
      <p:sp>
        <p:nvSpPr>
          <p:cNvPr id="14" name="Shape 12"/>
          <p:cNvSpPr/>
          <p:nvPr/>
        </p:nvSpPr>
        <p:spPr>
          <a:xfrm>
            <a:off x="640080" y="3177540"/>
            <a:ext cx="384048" cy="384048"/>
          </a:xfrm>
          <a:prstGeom prst="ellipse">
            <a:avLst/>
          </a:prstGeom>
          <a:solidFill>
            <a:srgbClr val="FF9900"/>
          </a:solidFill>
          <a:ln w="12700">
            <a:solidFill>
              <a:srgbClr val="FF9900"/>
            </a:solidFill>
            <a:prstDash val="solid"/>
          </a:ln>
        </p:spPr>
      </p:sp>
      <p:sp>
        <p:nvSpPr>
          <p:cNvPr id="15" name="Text 13"/>
          <p:cNvSpPr txBox="1"/>
          <p:nvPr/>
        </p:nvSpPr>
        <p:spPr>
          <a:xfrm>
            <a:off x="640080" y="3177540"/>
            <a:ext cx="384048" cy="384048"/>
          </a:xfrm>
          <a:prstGeom prst="rect">
            <a:avLst/>
          </a:prstGeom>
          <a:noFill/>
          <a:ln/>
        </p:spPr>
        <p:txBody>
          <a:bodyPr wrap="square" lIns="0" tIns="0" rIns="0" bIns="0" rtlCol="0" anchor="ctr"/>
          <a:lstStyle/>
          <a:p>
            <a:pPr algn="ctr" indent="0" marL="0">
              <a:buNone/>
            </a:pPr>
            <a:r>
              <a:rPr lang="en-US" sz="1300" b="1" dirty="0">
                <a:solidFill>
                  <a:srgbClr val="232F3E"/>
                </a:solidFill>
                <a:latin typeface="Arial" pitchFamily="34" charset="0"/>
                <a:ea typeface="Arial" pitchFamily="34" charset="-122"/>
                <a:cs typeface="Arial" pitchFamily="34" charset="-120"/>
              </a:rPr>
              <a:t>3</a:t>
            </a:r>
            <a:endParaRPr lang="en-US" sz="1300" dirty="0"/>
          </a:p>
        </p:txBody>
      </p:sp>
      <p:sp>
        <p:nvSpPr>
          <p:cNvPr id="16" name="Text 14"/>
          <p:cNvSpPr txBox="1"/>
          <p:nvPr/>
        </p:nvSpPr>
        <p:spPr>
          <a:xfrm>
            <a:off x="1143000" y="3150108"/>
            <a:ext cx="3177540" cy="457200"/>
          </a:xfrm>
          <a:prstGeom prst="rect">
            <a:avLst/>
          </a:prstGeom>
          <a:noFill/>
          <a:ln/>
        </p:spPr>
        <p:txBody>
          <a:bodyPr wrap="square" lIns="0" tIns="0" rIns="0" bIns="0" rtlCol="0" anchor="ctr"/>
          <a:lstStyle/>
          <a:p>
            <a:pPr indent="0" marL="0">
              <a:buNone/>
            </a:pPr>
            <a:r>
              <a:rPr lang="en-US" sz="1350" b="1" dirty="0">
                <a:solidFill>
                  <a:srgbClr val="232F3E"/>
                </a:solidFill>
                <a:latin typeface="Arial" pitchFamily="34" charset="0"/>
                <a:ea typeface="Arial" pitchFamily="34" charset="-122"/>
                <a:cs typeface="Arial" pitchFamily="34" charset="-120"/>
              </a:rPr>
              <a:t>Secretos gestionados</a:t>
            </a:r>
            <a:endParaRPr lang="en-US" sz="1350" dirty="0"/>
          </a:p>
        </p:txBody>
      </p:sp>
      <p:sp>
        <p:nvSpPr>
          <p:cNvPr id="17" name="Text 15"/>
          <p:cNvSpPr txBox="1"/>
          <p:nvPr/>
        </p:nvSpPr>
        <p:spPr>
          <a:xfrm>
            <a:off x="658368" y="3707892"/>
            <a:ext cx="3616452" cy="800100"/>
          </a:xfrm>
          <a:prstGeom prst="rect">
            <a:avLst/>
          </a:prstGeom>
          <a:noFill/>
          <a:ln/>
        </p:spPr>
        <p:txBody>
          <a:bodyPr wrap="square" lIns="0" tIns="0" rIns="0" bIns="0" rtlCol="0" anchor="t"/>
          <a:lstStyle/>
          <a:p>
            <a:pPr indent="0" marL="0">
              <a:buNone/>
            </a:pPr>
            <a:r>
              <a:rPr lang="en-US" sz="1200" dirty="0">
                <a:solidFill>
                  <a:srgbClr val="2B2F38"/>
                </a:solidFill>
                <a:latin typeface="Calibri" pitchFamily="34" charset="0"/>
                <a:ea typeface="Calibri" pitchFamily="34" charset="-122"/>
                <a:cs typeface="Calibri" pitchFamily="34" charset="-120"/>
              </a:rPr>
              <a:t>Secrets Manager o Parameter Store, con rotación y acceso auditado.</a:t>
            </a:r>
            <a:endParaRPr lang="en-US" sz="1200" dirty="0"/>
          </a:p>
        </p:txBody>
      </p:sp>
      <p:sp>
        <p:nvSpPr>
          <p:cNvPr id="18" name="Shape 16"/>
          <p:cNvSpPr/>
          <p:nvPr/>
        </p:nvSpPr>
        <p:spPr>
          <a:xfrm>
            <a:off x="4686300" y="2994660"/>
            <a:ext cx="4000500" cy="1623060"/>
          </a:xfrm>
          <a:prstGeom prst="roundRect">
            <a:avLst>
              <a:gd name="adj" fmla="val 4507"/>
            </a:avLst>
          </a:prstGeom>
          <a:solidFill>
            <a:srgbClr val="F3F5F7"/>
          </a:solidFill>
          <a:ln w="12700">
            <a:solidFill>
              <a:srgbClr val="F3F5F7"/>
            </a:solidFill>
            <a:prstDash val="solid"/>
          </a:ln>
        </p:spPr>
      </p:sp>
      <p:sp>
        <p:nvSpPr>
          <p:cNvPr id="19" name="Shape 17"/>
          <p:cNvSpPr/>
          <p:nvPr/>
        </p:nvSpPr>
        <p:spPr>
          <a:xfrm>
            <a:off x="4869180" y="3177540"/>
            <a:ext cx="384048" cy="384048"/>
          </a:xfrm>
          <a:prstGeom prst="ellipse">
            <a:avLst/>
          </a:prstGeom>
          <a:solidFill>
            <a:srgbClr val="FF9900"/>
          </a:solidFill>
          <a:ln w="12700">
            <a:solidFill>
              <a:srgbClr val="FF9900"/>
            </a:solidFill>
            <a:prstDash val="solid"/>
          </a:ln>
        </p:spPr>
      </p:sp>
      <p:sp>
        <p:nvSpPr>
          <p:cNvPr id="20" name="Text 18"/>
          <p:cNvSpPr txBox="1"/>
          <p:nvPr/>
        </p:nvSpPr>
        <p:spPr>
          <a:xfrm>
            <a:off x="4869180" y="3177540"/>
            <a:ext cx="384048" cy="384048"/>
          </a:xfrm>
          <a:prstGeom prst="rect">
            <a:avLst/>
          </a:prstGeom>
          <a:noFill/>
          <a:ln/>
        </p:spPr>
        <p:txBody>
          <a:bodyPr wrap="square" lIns="0" tIns="0" rIns="0" bIns="0" rtlCol="0" anchor="ctr"/>
          <a:lstStyle/>
          <a:p>
            <a:pPr algn="ctr" indent="0" marL="0">
              <a:buNone/>
            </a:pPr>
            <a:r>
              <a:rPr lang="en-US" sz="1300" b="1" dirty="0">
                <a:solidFill>
                  <a:srgbClr val="232F3E"/>
                </a:solidFill>
                <a:latin typeface="Arial" pitchFamily="34" charset="0"/>
                <a:ea typeface="Arial" pitchFamily="34" charset="-122"/>
                <a:cs typeface="Arial" pitchFamily="34" charset="-120"/>
              </a:rPr>
              <a:t>4</a:t>
            </a:r>
            <a:endParaRPr lang="en-US" sz="1300" dirty="0"/>
          </a:p>
        </p:txBody>
      </p:sp>
      <p:sp>
        <p:nvSpPr>
          <p:cNvPr id="21" name="Text 19"/>
          <p:cNvSpPr txBox="1"/>
          <p:nvPr/>
        </p:nvSpPr>
        <p:spPr>
          <a:xfrm>
            <a:off x="5372100" y="3150108"/>
            <a:ext cx="3177540" cy="457200"/>
          </a:xfrm>
          <a:prstGeom prst="rect">
            <a:avLst/>
          </a:prstGeom>
          <a:noFill/>
          <a:ln/>
        </p:spPr>
        <p:txBody>
          <a:bodyPr wrap="square" lIns="0" tIns="0" rIns="0" bIns="0" rtlCol="0" anchor="ctr"/>
          <a:lstStyle/>
          <a:p>
            <a:pPr indent="0" marL="0">
              <a:buNone/>
            </a:pPr>
            <a:r>
              <a:rPr lang="en-US" sz="1350" b="1" dirty="0">
                <a:solidFill>
                  <a:srgbClr val="232F3E"/>
                </a:solidFill>
                <a:latin typeface="Arial" pitchFamily="34" charset="0"/>
                <a:ea typeface="Arial" pitchFamily="34" charset="-122"/>
                <a:cs typeface="Arial" pitchFamily="34" charset="-120"/>
              </a:rPr>
              <a:t>Cadena de suministro</a:t>
            </a:r>
            <a:endParaRPr lang="en-US" sz="1350" dirty="0"/>
          </a:p>
        </p:txBody>
      </p:sp>
      <p:sp>
        <p:nvSpPr>
          <p:cNvPr id="22" name="Text 20"/>
          <p:cNvSpPr txBox="1"/>
          <p:nvPr/>
        </p:nvSpPr>
        <p:spPr>
          <a:xfrm>
            <a:off x="4887468" y="3707892"/>
            <a:ext cx="3616452" cy="800100"/>
          </a:xfrm>
          <a:prstGeom prst="rect">
            <a:avLst/>
          </a:prstGeom>
          <a:noFill/>
          <a:ln/>
        </p:spPr>
        <p:txBody>
          <a:bodyPr wrap="square" lIns="0" tIns="0" rIns="0" bIns="0" rtlCol="0" anchor="t"/>
          <a:lstStyle/>
          <a:p>
            <a:pPr indent="0" marL="0">
              <a:buNone/>
            </a:pPr>
            <a:r>
              <a:rPr lang="en-US" sz="1200" dirty="0">
                <a:solidFill>
                  <a:srgbClr val="2B2F38"/>
                </a:solidFill>
                <a:latin typeface="Calibri" pitchFamily="34" charset="0"/>
                <a:ea typeface="Calibri" pitchFamily="34" charset="-122"/>
                <a:cs typeface="Calibri" pitchFamily="34" charset="-120"/>
              </a:rPr>
              <a:t>Escaneo de dependencias, imágenes e IaC; artefactos firmados y versionados.</a:t>
            </a:r>
            <a:endParaRPr lang="en-US" sz="1200" dirty="0"/>
          </a:p>
        </p:txBody>
      </p:sp>
      <p:sp>
        <p:nvSpPr>
          <p:cNvPr id="23" name="Text 21"/>
          <p:cNvSpPr txBox="1"/>
          <p:nvPr/>
        </p:nvSpPr>
        <p:spPr>
          <a:xfrm>
            <a:off x="457200" y="4773168"/>
            <a:ext cx="6400800" cy="228600"/>
          </a:xfrm>
          <a:prstGeom prst="rect">
            <a:avLst/>
          </a:prstGeom>
          <a:noFill/>
          <a:ln/>
        </p:spPr>
        <p:txBody>
          <a:bodyPr wrap="square" lIns="0" tIns="0" rIns="0" bIns="0" rtlCol="0" anchor="t"/>
          <a:lstStyle/>
          <a:p>
            <a:pPr indent="0" marL="0">
              <a:buNone/>
            </a:pPr>
            <a:r>
              <a:rPr lang="en-US" sz="900" dirty="0">
                <a:solidFill>
                  <a:srgbClr val="8A8F98"/>
                </a:solidFill>
                <a:latin typeface="Calibri" pitchFamily="34" charset="0"/>
                <a:ea typeface="Calibri" pitchFamily="34" charset="-122"/>
                <a:cs typeface="Calibri" pitchFamily="34" charset="-120"/>
              </a:rPr>
              <a:t>DevOps en AWS  ·  Sesión 2</a:t>
            </a:r>
            <a:endParaRPr lang="en-US" sz="900" dirty="0"/>
          </a:p>
        </p:txBody>
      </p:sp>
      <p:sp>
        <p:nvSpPr>
          <p:cNvPr id="24" name="Text 22"/>
          <p:cNvSpPr txBox="1"/>
          <p:nvPr/>
        </p:nvSpPr>
        <p:spPr>
          <a:xfrm>
            <a:off x="8138160" y="4773168"/>
            <a:ext cx="548640" cy="228600"/>
          </a:xfrm>
          <a:prstGeom prst="rect">
            <a:avLst/>
          </a:prstGeom>
          <a:noFill/>
          <a:ln/>
        </p:spPr>
        <p:txBody>
          <a:bodyPr wrap="square" lIns="0" tIns="0" rIns="0" bIns="0" rtlCol="0" anchor="t"/>
          <a:lstStyle/>
          <a:p>
            <a:pPr algn="r" indent="0" marL="0">
              <a:buNone/>
            </a:pPr>
            <a:r>
              <a:rPr lang="en-US" sz="900" dirty="0">
                <a:solidFill>
                  <a:srgbClr val="8A8F98"/>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457200" y="292608"/>
            <a:ext cx="8229600" cy="685800"/>
          </a:xfrm>
          <a:prstGeom prst="rect">
            <a:avLst/>
          </a:prstGeom>
          <a:noFill/>
          <a:ln/>
        </p:spPr>
        <p:txBody>
          <a:bodyPr wrap="square" lIns="0" tIns="0" rIns="0" bIns="0" rtlCol="0" anchor="ctr"/>
          <a:lstStyle/>
          <a:p>
            <a:pPr indent="0" marL="0">
              <a:buNone/>
            </a:pPr>
            <a:r>
              <a:rPr lang="en-US" sz="2400" b="1" dirty="0">
                <a:solidFill>
                  <a:srgbClr val="232F3E"/>
                </a:solidFill>
                <a:latin typeface="Arial" pitchFamily="34" charset="0"/>
                <a:ea typeface="Arial" pitchFamily="34" charset="-122"/>
                <a:cs typeface="Arial" pitchFamily="34" charset="-120"/>
              </a:rPr>
              <a:t>GitHub Actions hacia AWS con OIDC</a:t>
            </a:r>
            <a:endParaRPr lang="en-US" sz="2400" dirty="0"/>
          </a:p>
        </p:txBody>
      </p:sp>
      <p:sp>
        <p:nvSpPr>
          <p:cNvPr id="3" name="Text 1"/>
          <p:cNvSpPr txBox="1"/>
          <p:nvPr/>
        </p:nvSpPr>
        <p:spPr>
          <a:xfrm>
            <a:off x="457200" y="1097280"/>
            <a:ext cx="2926080" cy="3520440"/>
          </a:xfrm>
          <a:prstGeom prst="rect">
            <a:avLst/>
          </a:prstGeom>
          <a:noFill/>
          <a:ln/>
        </p:spPr>
        <p:txBody>
          <a:bodyPr wrap="square" lIns="0" tIns="0" rIns="0" bIns="0" rtlCol="0" anchor="t"/>
          <a:lstStyle/>
          <a:p>
            <a:pPr indent="0" marL="0">
              <a:spcAft>
                <a:spcPts val="800"/>
              </a:spcAft>
              <a:buNone/>
            </a:pPr>
            <a:r>
              <a:rPr lang="en-US" sz="1250" dirty="0">
                <a:solidFill>
                  <a:srgbClr val="2B2F38"/>
                </a:solidFill>
                <a:latin typeface="Calibri" pitchFamily="34" charset="0"/>
                <a:ea typeface="Calibri" pitchFamily="34" charset="-122"/>
                <a:cs typeface="Calibri" pitchFamily="34" charset="-120"/>
              </a:rPr>
              <a:t>El rol de IAM confía en el proveedor OIDC de GitHub y limita qué repositorio y rama pueden asumirlo.</a:t>
            </a:r>
            <a:endParaRPr lang="en-US" sz="1250" dirty="0"/>
          </a:p>
          <a:p>
            <a:pPr marL="152400" indent="-152400">
              <a:spcAft>
                <a:spcPts val="500"/>
              </a:spcAft>
              <a:buSzPct val="100000"/>
              <a:buChar char="•"/>
            </a:pPr>
            <a:r>
              <a:rPr lang="en-US" sz="1200" dirty="0">
                <a:solidFill>
                  <a:srgbClr val="2B2F38"/>
                </a:solidFill>
                <a:latin typeface="Calibri" pitchFamily="34" charset="0"/>
                <a:ea typeface="Calibri" pitchFamily="34" charset="-122"/>
                <a:cs typeface="Calibri" pitchFamily="34" charset="-120"/>
              </a:rPr>
              <a:t>permissions: id-token: write habilita el token</a:t>
            </a:r>
            <a:endParaRPr lang="en-US" sz="1250" dirty="0"/>
          </a:p>
          <a:p>
            <a:pPr marL="152400" indent="-152400">
              <a:spcAft>
                <a:spcPts val="500"/>
              </a:spcAft>
              <a:buSzPct val="100000"/>
              <a:buChar char="•"/>
            </a:pPr>
            <a:r>
              <a:rPr lang="en-US" sz="1200" dirty="0">
                <a:solidFill>
                  <a:srgbClr val="2B2F38"/>
                </a:solidFill>
                <a:latin typeface="Calibri" pitchFamily="34" charset="0"/>
                <a:ea typeface="Calibri" pitchFamily="34" charset="-122"/>
                <a:cs typeface="Calibri" pitchFamily="34" charset="-120"/>
              </a:rPr>
              <a:t>La condición sub restringe repositorio y rama</a:t>
            </a:r>
            <a:endParaRPr lang="en-US" sz="1250" dirty="0"/>
          </a:p>
          <a:p>
            <a:pPr marL="152400" indent="-152400">
              <a:spcAft>
                <a:spcPts val="500"/>
              </a:spcAft>
              <a:buSzPct val="100000"/>
              <a:buChar char="•"/>
            </a:pPr>
            <a:r>
              <a:rPr lang="en-US" sz="1200" dirty="0">
                <a:solidFill>
                  <a:srgbClr val="2B2F38"/>
                </a:solidFill>
                <a:latin typeface="Calibri" pitchFamily="34" charset="0"/>
                <a:ea typeface="Calibri" pitchFamily="34" charset="-122"/>
                <a:cs typeface="Calibri" pitchFamily="34" charset="-120"/>
              </a:rPr>
              <a:t>Credenciales temporales: caducan solas</a:t>
            </a:r>
            <a:endParaRPr lang="en-US" sz="1250" dirty="0"/>
          </a:p>
        </p:txBody>
      </p:sp>
      <p:sp>
        <p:nvSpPr>
          <p:cNvPr id="4" name="Shape 2"/>
          <p:cNvSpPr/>
          <p:nvPr/>
        </p:nvSpPr>
        <p:spPr>
          <a:xfrm>
            <a:off x="3657600" y="1097280"/>
            <a:ext cx="5029200" cy="3520440"/>
          </a:xfrm>
          <a:prstGeom prst="roundRect">
            <a:avLst>
              <a:gd name="adj" fmla="val 1558"/>
            </a:avLst>
          </a:prstGeom>
          <a:solidFill>
            <a:srgbClr val="1E1E24"/>
          </a:solidFill>
          <a:ln w="12700">
            <a:solidFill>
              <a:srgbClr val="1E1E24"/>
            </a:solidFill>
            <a:prstDash val="solid"/>
          </a:ln>
        </p:spPr>
      </p:sp>
      <p:sp>
        <p:nvSpPr>
          <p:cNvPr id="5" name="Text 3"/>
          <p:cNvSpPr txBox="1"/>
          <p:nvPr/>
        </p:nvSpPr>
        <p:spPr>
          <a:xfrm>
            <a:off x="3840480" y="1170432"/>
            <a:ext cx="1828800" cy="228600"/>
          </a:xfrm>
          <a:prstGeom prst="rect">
            <a:avLst/>
          </a:prstGeom>
          <a:noFill/>
          <a:ln/>
        </p:spPr>
        <p:txBody>
          <a:bodyPr wrap="square" lIns="0" tIns="0" rIns="0" bIns="0" rtlCol="0" anchor="t"/>
          <a:lstStyle/>
          <a:p>
            <a:pPr indent="0" marL="0">
              <a:buNone/>
            </a:pPr>
            <a:r>
              <a:rPr lang="en-US" sz="900" b="1" dirty="0">
                <a:solidFill>
                  <a:srgbClr val="FF9900"/>
                </a:solidFill>
                <a:latin typeface="Calibri" pitchFamily="34" charset="0"/>
                <a:ea typeface="Calibri" pitchFamily="34" charset="-122"/>
                <a:cs typeface="Calibri" pitchFamily="34" charset="-120"/>
              </a:rPr>
              <a:t>YAML</a:t>
            </a:r>
            <a:endParaRPr lang="en-US" sz="900" dirty="0"/>
          </a:p>
        </p:txBody>
      </p:sp>
      <p:sp>
        <p:nvSpPr>
          <p:cNvPr id="6" name="Text 4"/>
          <p:cNvSpPr txBox="1"/>
          <p:nvPr/>
        </p:nvSpPr>
        <p:spPr>
          <a:xfrm>
            <a:off x="3840480" y="1417320"/>
            <a:ext cx="4663440" cy="3108960"/>
          </a:xfrm>
          <a:prstGeom prst="rect">
            <a:avLst/>
          </a:prstGeom>
          <a:noFill/>
          <a:ln/>
        </p:spPr>
        <p:txBody>
          <a:bodyPr wrap="square" lIns="0" tIns="0" rIns="0" bIns="0" rtlCol="0" anchor="t"/>
          <a:lstStyle/>
          <a:p>
            <a:pPr indent="0" marL="0">
              <a:buNone/>
            </a:pPr>
            <a:r>
              <a:rPr lang="en-US" sz="900" dirty="0">
                <a:solidFill>
                  <a:srgbClr val="E6E6E6"/>
                </a:solidFill>
                <a:latin typeface="Courier New" pitchFamily="34" charset="0"/>
                <a:ea typeface="Courier New" pitchFamily="34" charset="-122"/>
                <a:cs typeface="Courier New" pitchFamily="34" charset="-120"/>
              </a:rPr>
              <a:t>name: despliegue</a:t>
            </a:r>
            <a:endParaRPr lang="en-US" sz="900" dirty="0"/>
          </a:p>
          <a:p>
            <a:pPr indent="0" marL="0">
              <a:buNone/>
            </a:pPr>
            <a:r>
              <a:rPr lang="en-US" sz="900" dirty="0">
                <a:solidFill>
                  <a:srgbClr val="E6E6E6"/>
                </a:solidFill>
                <a:latin typeface="Courier New" pitchFamily="34" charset="0"/>
                <a:ea typeface="Courier New" pitchFamily="34" charset="-122"/>
                <a:cs typeface="Courier New" pitchFamily="34" charset="-120"/>
              </a:rPr>
              <a:t>on:</a:t>
            </a:r>
            <a:endParaRPr lang="en-US" sz="900" dirty="0"/>
          </a:p>
          <a:p>
            <a:pPr indent="0" marL="0">
              <a:buNone/>
            </a:pPr>
            <a:r>
              <a:rPr lang="en-US" sz="900" dirty="0">
                <a:solidFill>
                  <a:srgbClr val="E6E6E6"/>
                </a:solidFill>
                <a:latin typeface="Courier New" pitchFamily="34" charset="0"/>
                <a:ea typeface="Courier New" pitchFamily="34" charset="-122"/>
                <a:cs typeface="Courier New" pitchFamily="34" charset="-120"/>
              </a:rPr>
              <a:t>  push:</a:t>
            </a:r>
            <a:endParaRPr lang="en-US" sz="900" dirty="0"/>
          </a:p>
          <a:p>
            <a:pPr indent="0" marL="0">
              <a:buNone/>
            </a:pPr>
            <a:r>
              <a:rPr lang="en-US" sz="900" dirty="0">
                <a:solidFill>
                  <a:srgbClr val="E6E6E6"/>
                </a:solidFill>
                <a:latin typeface="Courier New" pitchFamily="34" charset="0"/>
                <a:ea typeface="Courier New" pitchFamily="34" charset="-122"/>
                <a:cs typeface="Courier New" pitchFamily="34" charset="-120"/>
              </a:rPr>
              <a:t>    branches: [main]</a:t>
            </a:r>
            <a:endParaRPr lang="en-US" sz="900" dirty="0"/>
          </a:p>
          <a:p>
            <a:pPr indent="0" marL="0">
              <a:buNone/>
            </a:pPr>
            <a:r>
              <a:rPr lang="en-US" sz="900" dirty="0">
                <a:solidFill>
                  <a:srgbClr val="E6E6E6"/>
                </a:solidFill>
                <a:latin typeface="Courier New" pitchFamily="34" charset="0"/>
                <a:ea typeface="Courier New" pitchFamily="34" charset="-122"/>
                <a:cs typeface="Courier New" pitchFamily="34" charset="-120"/>
              </a:rPr>
              <a:t>permissions:</a:t>
            </a:r>
            <a:endParaRPr lang="en-US" sz="900" dirty="0"/>
          </a:p>
          <a:p>
            <a:pPr indent="0" marL="0">
              <a:buNone/>
            </a:pPr>
            <a:r>
              <a:rPr lang="en-US" sz="900" dirty="0">
                <a:solidFill>
                  <a:srgbClr val="E6E6E6"/>
                </a:solidFill>
                <a:latin typeface="Courier New" pitchFamily="34" charset="0"/>
                <a:ea typeface="Courier New" pitchFamily="34" charset="-122"/>
                <a:cs typeface="Courier New" pitchFamily="34" charset="-120"/>
              </a:rPr>
              <a:t>  id-token: write</a:t>
            </a:r>
            <a:endParaRPr lang="en-US" sz="900" dirty="0"/>
          </a:p>
          <a:p>
            <a:pPr indent="0" marL="0">
              <a:buNone/>
            </a:pPr>
            <a:r>
              <a:rPr lang="en-US" sz="900" dirty="0">
                <a:solidFill>
                  <a:srgbClr val="E6E6E6"/>
                </a:solidFill>
                <a:latin typeface="Courier New" pitchFamily="34" charset="0"/>
                <a:ea typeface="Courier New" pitchFamily="34" charset="-122"/>
                <a:cs typeface="Courier New" pitchFamily="34" charset="-120"/>
              </a:rPr>
              <a:t>  contents: read</a:t>
            </a:r>
            <a:endParaRPr lang="en-US" sz="900" dirty="0"/>
          </a:p>
          <a:p>
            <a:pPr indent="0" marL="0">
              <a:buNone/>
            </a:pPr>
            <a:r>
              <a:rPr lang="en-US" sz="900" dirty="0">
                <a:solidFill>
                  <a:srgbClr val="E6E6E6"/>
                </a:solidFill>
                <a:latin typeface="Courier New" pitchFamily="34" charset="0"/>
                <a:ea typeface="Courier New" pitchFamily="34" charset="-122"/>
                <a:cs typeface="Courier New" pitchFamily="34" charset="-120"/>
              </a:rPr>
              <a:t>jobs:</a:t>
            </a:r>
            <a:endParaRPr lang="en-US" sz="900" dirty="0"/>
          </a:p>
          <a:p>
            <a:pPr indent="0" marL="0">
              <a:buNone/>
            </a:pPr>
            <a:r>
              <a:rPr lang="en-US" sz="900" dirty="0">
                <a:solidFill>
                  <a:srgbClr val="E6E6E6"/>
                </a:solidFill>
                <a:latin typeface="Courier New" pitchFamily="34" charset="0"/>
                <a:ea typeface="Courier New" pitchFamily="34" charset="-122"/>
                <a:cs typeface="Courier New" pitchFamily="34" charset="-120"/>
              </a:rPr>
              <a:t>  deploy:</a:t>
            </a:r>
            <a:endParaRPr lang="en-US" sz="900" dirty="0"/>
          </a:p>
          <a:p>
            <a:pPr indent="0" marL="0">
              <a:buNone/>
            </a:pPr>
            <a:r>
              <a:rPr lang="en-US" sz="900" dirty="0">
                <a:solidFill>
                  <a:srgbClr val="E6E6E6"/>
                </a:solidFill>
                <a:latin typeface="Courier New" pitchFamily="34" charset="0"/>
                <a:ea typeface="Courier New" pitchFamily="34" charset="-122"/>
                <a:cs typeface="Courier New" pitchFamily="34" charset="-120"/>
              </a:rPr>
              <a:t>    runs-on: ubuntu-latest</a:t>
            </a:r>
            <a:endParaRPr lang="en-US" sz="900" dirty="0"/>
          </a:p>
          <a:p>
            <a:pPr indent="0" marL="0">
              <a:buNone/>
            </a:pPr>
            <a:r>
              <a:rPr lang="en-US" sz="900" dirty="0">
                <a:solidFill>
                  <a:srgbClr val="E6E6E6"/>
                </a:solidFill>
                <a:latin typeface="Courier New" pitchFamily="34" charset="0"/>
                <a:ea typeface="Courier New" pitchFamily="34" charset="-122"/>
                <a:cs typeface="Courier New" pitchFamily="34" charset="-120"/>
              </a:rPr>
              <a:t>    steps:</a:t>
            </a:r>
            <a:endParaRPr lang="en-US" sz="900" dirty="0"/>
          </a:p>
          <a:p>
            <a:pPr indent="0" marL="0">
              <a:buNone/>
            </a:pPr>
            <a:r>
              <a:rPr lang="en-US" sz="900" dirty="0">
                <a:solidFill>
                  <a:srgbClr val="E6E6E6"/>
                </a:solidFill>
                <a:latin typeface="Courier New" pitchFamily="34" charset="0"/>
                <a:ea typeface="Courier New" pitchFamily="34" charset="-122"/>
                <a:cs typeface="Courier New" pitchFamily="34" charset="-120"/>
              </a:rPr>
              <a:t>      - uses: actions/checkout@v4</a:t>
            </a:r>
            <a:endParaRPr lang="en-US" sz="900" dirty="0"/>
          </a:p>
          <a:p>
            <a:pPr indent="0" marL="0">
              <a:buNone/>
            </a:pPr>
            <a:r>
              <a:rPr lang="en-US" sz="900" dirty="0">
                <a:solidFill>
                  <a:srgbClr val="E6E6E6"/>
                </a:solidFill>
                <a:latin typeface="Courier New" pitchFamily="34" charset="0"/>
                <a:ea typeface="Courier New" pitchFamily="34" charset="-122"/>
                <a:cs typeface="Courier New" pitchFamily="34" charset="-120"/>
              </a:rPr>
              <a:t>      - uses: aws-actions/configure-aws-credentials@v4</a:t>
            </a:r>
            <a:endParaRPr lang="en-US" sz="900" dirty="0"/>
          </a:p>
          <a:p>
            <a:pPr indent="0" marL="0">
              <a:buNone/>
            </a:pPr>
            <a:r>
              <a:rPr lang="en-US" sz="900" dirty="0">
                <a:solidFill>
                  <a:srgbClr val="E6E6E6"/>
                </a:solidFill>
                <a:latin typeface="Courier New" pitchFamily="34" charset="0"/>
                <a:ea typeface="Courier New" pitchFamily="34" charset="-122"/>
                <a:cs typeface="Courier New" pitchFamily="34" charset="-120"/>
              </a:rPr>
              <a:t>        with:</a:t>
            </a:r>
            <a:endParaRPr lang="en-US" sz="900" dirty="0"/>
          </a:p>
          <a:p>
            <a:pPr indent="0" marL="0">
              <a:buNone/>
            </a:pPr>
            <a:r>
              <a:rPr lang="en-US" sz="900" dirty="0">
                <a:solidFill>
                  <a:srgbClr val="E6E6E6"/>
                </a:solidFill>
                <a:latin typeface="Courier New" pitchFamily="34" charset="0"/>
                <a:ea typeface="Courier New" pitchFamily="34" charset="-122"/>
                <a:cs typeface="Courier New" pitchFamily="34" charset="-120"/>
              </a:rPr>
              <a:t>          role-to-assume: arn:aws:iam::111122223333:role/gh-deploy</a:t>
            </a:r>
            <a:endParaRPr lang="en-US" sz="900" dirty="0"/>
          </a:p>
          <a:p>
            <a:pPr indent="0" marL="0">
              <a:buNone/>
            </a:pPr>
            <a:r>
              <a:rPr lang="en-US" sz="900" dirty="0">
                <a:solidFill>
                  <a:srgbClr val="E6E6E6"/>
                </a:solidFill>
                <a:latin typeface="Courier New" pitchFamily="34" charset="0"/>
                <a:ea typeface="Courier New" pitchFamily="34" charset="-122"/>
                <a:cs typeface="Courier New" pitchFamily="34" charset="-120"/>
              </a:rPr>
              <a:t>          aws-region: eu-west-1</a:t>
            </a:r>
            <a:endParaRPr lang="en-US" sz="900" dirty="0"/>
          </a:p>
          <a:p>
            <a:pPr indent="0" marL="0">
              <a:buNone/>
            </a:pPr>
            <a:r>
              <a:rPr lang="en-US" sz="900" dirty="0">
                <a:solidFill>
                  <a:srgbClr val="E6E6E6"/>
                </a:solidFill>
                <a:latin typeface="Courier New" pitchFamily="34" charset="0"/>
                <a:ea typeface="Courier New" pitchFamily="34" charset="-122"/>
                <a:cs typeface="Courier New" pitchFamily="34" charset="-120"/>
              </a:rPr>
              <a:t>      - run: sam deploy --no-confirm-changeset</a:t>
            </a:r>
            <a:endParaRPr lang="en-US" sz="900" dirty="0"/>
          </a:p>
        </p:txBody>
      </p:sp>
      <p:sp>
        <p:nvSpPr>
          <p:cNvPr id="7" name="Text 5"/>
          <p:cNvSpPr txBox="1"/>
          <p:nvPr/>
        </p:nvSpPr>
        <p:spPr>
          <a:xfrm>
            <a:off x="457200" y="4773168"/>
            <a:ext cx="6400800" cy="228600"/>
          </a:xfrm>
          <a:prstGeom prst="rect">
            <a:avLst/>
          </a:prstGeom>
          <a:noFill/>
          <a:ln/>
        </p:spPr>
        <p:txBody>
          <a:bodyPr wrap="square" lIns="0" tIns="0" rIns="0" bIns="0" rtlCol="0" anchor="t"/>
          <a:lstStyle/>
          <a:p>
            <a:pPr indent="0" marL="0">
              <a:buNone/>
            </a:pPr>
            <a:r>
              <a:rPr lang="en-US" sz="900" dirty="0">
                <a:solidFill>
                  <a:srgbClr val="8A8F98"/>
                </a:solidFill>
                <a:latin typeface="Calibri" pitchFamily="34" charset="0"/>
                <a:ea typeface="Calibri" pitchFamily="34" charset="-122"/>
                <a:cs typeface="Calibri" pitchFamily="34" charset="-120"/>
              </a:rPr>
              <a:t>DevOps en AWS  ·  Sesión 2</a:t>
            </a:r>
            <a:endParaRPr lang="en-US" sz="900" dirty="0"/>
          </a:p>
        </p:txBody>
      </p:sp>
      <p:sp>
        <p:nvSpPr>
          <p:cNvPr id="8" name="Text 6"/>
          <p:cNvSpPr txBox="1"/>
          <p:nvPr/>
        </p:nvSpPr>
        <p:spPr>
          <a:xfrm>
            <a:off x="8138160" y="4773168"/>
            <a:ext cx="548640" cy="228600"/>
          </a:xfrm>
          <a:prstGeom prst="rect">
            <a:avLst/>
          </a:prstGeom>
          <a:noFill/>
          <a:ln/>
        </p:spPr>
        <p:txBody>
          <a:bodyPr wrap="square" lIns="0" tIns="0" rIns="0" bIns="0" rtlCol="0" anchor="t"/>
          <a:lstStyle/>
          <a:p>
            <a:pPr algn="r" indent="0" marL="0">
              <a:buNone/>
            </a:pPr>
            <a:r>
              <a:rPr lang="en-US" sz="900" dirty="0">
                <a:solidFill>
                  <a:srgbClr val="8A8F98"/>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457200" y="292608"/>
            <a:ext cx="8229600" cy="685800"/>
          </a:xfrm>
          <a:prstGeom prst="rect">
            <a:avLst/>
          </a:prstGeom>
          <a:noFill/>
          <a:ln/>
        </p:spPr>
        <p:txBody>
          <a:bodyPr wrap="square" lIns="0" tIns="0" rIns="0" bIns="0" rtlCol="0" anchor="ctr"/>
          <a:lstStyle/>
          <a:p>
            <a:pPr indent="0" marL="0">
              <a:buNone/>
            </a:pPr>
            <a:r>
              <a:rPr lang="en-US" sz="2400" b="1" dirty="0">
                <a:solidFill>
                  <a:srgbClr val="232F3E"/>
                </a:solidFill>
                <a:latin typeface="Arial" pitchFamily="34" charset="0"/>
                <a:ea typeface="Arial" pitchFamily="34" charset="-122"/>
                <a:cs typeface="Arial" pitchFamily="34" charset="-120"/>
              </a:rPr>
              <a:t>Arquitectura multi-cuenta para CI/CD</a:t>
            </a:r>
            <a:endParaRPr lang="en-US" sz="2400" dirty="0"/>
          </a:p>
        </p:txBody>
      </p:sp>
      <p:sp>
        <p:nvSpPr>
          <p:cNvPr id="3" name="Shape 1"/>
          <p:cNvSpPr/>
          <p:nvPr/>
        </p:nvSpPr>
        <p:spPr>
          <a:xfrm>
            <a:off x="457200" y="1508760"/>
            <a:ext cx="1920240" cy="3108960"/>
          </a:xfrm>
          <a:prstGeom prst="roundRect">
            <a:avLst>
              <a:gd name="adj" fmla="val 3810"/>
            </a:avLst>
          </a:prstGeom>
          <a:solidFill>
            <a:srgbClr val="F3F5F7"/>
          </a:solidFill>
          <a:ln w="12700">
            <a:solidFill>
              <a:srgbClr val="F3F5F7"/>
            </a:solidFill>
            <a:prstDash val="solid"/>
          </a:ln>
        </p:spPr>
      </p:sp>
      <p:sp>
        <p:nvSpPr>
          <p:cNvPr id="4" name="Shape 2"/>
          <p:cNvSpPr/>
          <p:nvPr/>
        </p:nvSpPr>
        <p:spPr>
          <a:xfrm>
            <a:off x="1143000" y="1691640"/>
            <a:ext cx="548640" cy="548640"/>
          </a:xfrm>
          <a:prstGeom prst="ellipse">
            <a:avLst/>
          </a:prstGeom>
          <a:solidFill>
            <a:srgbClr val="232F3E"/>
          </a:solidFill>
          <a:ln w="12700">
            <a:solidFill>
              <a:srgbClr val="232F3E"/>
            </a:solidFill>
            <a:prstDash val="solid"/>
          </a:ln>
        </p:spPr>
      </p:sp>
      <p:sp>
        <p:nvSpPr>
          <p:cNvPr id="5" name="Text 3"/>
          <p:cNvSpPr txBox="1"/>
          <p:nvPr/>
        </p:nvSpPr>
        <p:spPr>
          <a:xfrm>
            <a:off x="1143000" y="16916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6" name="Text 4"/>
          <p:cNvSpPr txBox="1"/>
          <p:nvPr/>
        </p:nvSpPr>
        <p:spPr>
          <a:xfrm>
            <a:off x="594360" y="2377440"/>
            <a:ext cx="1645920" cy="548640"/>
          </a:xfrm>
          <a:prstGeom prst="rect">
            <a:avLst/>
          </a:prstGeom>
          <a:noFill/>
          <a:ln/>
        </p:spPr>
        <p:txBody>
          <a:bodyPr wrap="square" lIns="0" tIns="0" rIns="0" bIns="0" rtlCol="0" anchor="ctr"/>
          <a:lstStyle/>
          <a:p>
            <a:pPr algn="ctr" indent="0" marL="0">
              <a:buNone/>
            </a:pPr>
            <a:r>
              <a:rPr lang="en-US" sz="1300" b="1" dirty="0">
                <a:solidFill>
                  <a:srgbClr val="232F3E"/>
                </a:solidFill>
                <a:latin typeface="Arial" pitchFamily="34" charset="0"/>
                <a:ea typeface="Arial" pitchFamily="34" charset="-122"/>
                <a:cs typeface="Arial" pitchFamily="34" charset="-120"/>
              </a:rPr>
              <a:t>Cuenta de herramientas</a:t>
            </a:r>
            <a:endParaRPr lang="en-US" sz="1300" dirty="0"/>
          </a:p>
        </p:txBody>
      </p:sp>
      <p:sp>
        <p:nvSpPr>
          <p:cNvPr id="7" name="Text 5"/>
          <p:cNvSpPr txBox="1"/>
          <p:nvPr/>
        </p:nvSpPr>
        <p:spPr>
          <a:xfrm>
            <a:off x="594360" y="2971800"/>
            <a:ext cx="1645920" cy="1554480"/>
          </a:xfrm>
          <a:prstGeom prst="rect">
            <a:avLst/>
          </a:prstGeom>
          <a:noFill/>
          <a:ln/>
        </p:spPr>
        <p:txBody>
          <a:bodyPr wrap="square" lIns="0" tIns="0" rIns="0" bIns="0" rtlCol="0" anchor="t"/>
          <a:lstStyle/>
          <a:p>
            <a:pPr algn="ctr" indent="0" marL="0">
              <a:buNone/>
            </a:pPr>
            <a:r>
              <a:rPr lang="en-US" sz="1150" dirty="0">
                <a:solidFill>
                  <a:srgbClr val="2B2F38"/>
                </a:solidFill>
                <a:latin typeface="Calibri" pitchFamily="34" charset="0"/>
                <a:ea typeface="Calibri" pitchFamily="34" charset="-122"/>
                <a:cs typeface="Calibri" pitchFamily="34" charset="-120"/>
              </a:rPr>
              <a:t>Pipelines, artefactos y claves KMS compartidas.</a:t>
            </a:r>
            <a:endParaRPr lang="en-US" sz="1150" dirty="0"/>
          </a:p>
        </p:txBody>
      </p:sp>
      <p:sp>
        <p:nvSpPr>
          <p:cNvPr id="8" name="Shape 6"/>
          <p:cNvSpPr/>
          <p:nvPr/>
        </p:nvSpPr>
        <p:spPr>
          <a:xfrm>
            <a:off x="1737360" y="1965960"/>
            <a:ext cx="1463040" cy="0"/>
          </a:xfrm>
          <a:prstGeom prst="line">
            <a:avLst/>
          </a:prstGeom>
          <a:noFill/>
          <a:ln w="25400">
            <a:solidFill>
              <a:srgbClr val="FF9900"/>
            </a:solidFill>
            <a:prstDash val="solid"/>
            <a:tailEnd type="triangle"/>
          </a:ln>
        </p:spPr>
      </p:sp>
      <p:sp>
        <p:nvSpPr>
          <p:cNvPr id="9" name="Shape 7"/>
          <p:cNvSpPr/>
          <p:nvPr/>
        </p:nvSpPr>
        <p:spPr>
          <a:xfrm>
            <a:off x="2560320" y="1508760"/>
            <a:ext cx="1920240" cy="3108960"/>
          </a:xfrm>
          <a:prstGeom prst="roundRect">
            <a:avLst>
              <a:gd name="adj" fmla="val 3810"/>
            </a:avLst>
          </a:prstGeom>
          <a:solidFill>
            <a:srgbClr val="F3F5F7"/>
          </a:solidFill>
          <a:ln w="12700">
            <a:solidFill>
              <a:srgbClr val="F3F5F7"/>
            </a:solidFill>
            <a:prstDash val="solid"/>
          </a:ln>
        </p:spPr>
      </p:sp>
      <p:sp>
        <p:nvSpPr>
          <p:cNvPr id="10" name="Shape 8"/>
          <p:cNvSpPr/>
          <p:nvPr/>
        </p:nvSpPr>
        <p:spPr>
          <a:xfrm>
            <a:off x="3246120" y="1691640"/>
            <a:ext cx="548640" cy="548640"/>
          </a:xfrm>
          <a:prstGeom prst="ellipse">
            <a:avLst/>
          </a:prstGeom>
          <a:solidFill>
            <a:srgbClr val="232F3E"/>
          </a:solidFill>
          <a:ln w="12700">
            <a:solidFill>
              <a:srgbClr val="232F3E"/>
            </a:solidFill>
            <a:prstDash val="solid"/>
          </a:ln>
        </p:spPr>
      </p:sp>
      <p:sp>
        <p:nvSpPr>
          <p:cNvPr id="11" name="Text 9"/>
          <p:cNvSpPr txBox="1"/>
          <p:nvPr/>
        </p:nvSpPr>
        <p:spPr>
          <a:xfrm>
            <a:off x="3246120" y="16916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2" name="Text 10"/>
          <p:cNvSpPr txBox="1"/>
          <p:nvPr/>
        </p:nvSpPr>
        <p:spPr>
          <a:xfrm>
            <a:off x="2697480" y="2377440"/>
            <a:ext cx="1645920" cy="548640"/>
          </a:xfrm>
          <a:prstGeom prst="rect">
            <a:avLst/>
          </a:prstGeom>
          <a:noFill/>
          <a:ln/>
        </p:spPr>
        <p:txBody>
          <a:bodyPr wrap="square" lIns="0" tIns="0" rIns="0" bIns="0" rtlCol="0" anchor="ctr"/>
          <a:lstStyle/>
          <a:p>
            <a:pPr algn="ctr" indent="0" marL="0">
              <a:buNone/>
            </a:pPr>
            <a:r>
              <a:rPr lang="en-US" sz="1300" b="1" dirty="0">
                <a:solidFill>
                  <a:srgbClr val="232F3E"/>
                </a:solidFill>
                <a:latin typeface="Arial" pitchFamily="34" charset="0"/>
                <a:ea typeface="Arial" pitchFamily="34" charset="-122"/>
                <a:cs typeface="Arial" pitchFamily="34" charset="-120"/>
              </a:rPr>
              <a:t>Cuenta de desarrollo</a:t>
            </a:r>
            <a:endParaRPr lang="en-US" sz="1300" dirty="0"/>
          </a:p>
        </p:txBody>
      </p:sp>
      <p:sp>
        <p:nvSpPr>
          <p:cNvPr id="13" name="Text 11"/>
          <p:cNvSpPr txBox="1"/>
          <p:nvPr/>
        </p:nvSpPr>
        <p:spPr>
          <a:xfrm>
            <a:off x="2697480" y="2971800"/>
            <a:ext cx="1645920" cy="1554480"/>
          </a:xfrm>
          <a:prstGeom prst="rect">
            <a:avLst/>
          </a:prstGeom>
          <a:noFill/>
          <a:ln/>
        </p:spPr>
        <p:txBody>
          <a:bodyPr wrap="square" lIns="0" tIns="0" rIns="0" bIns="0" rtlCol="0" anchor="t"/>
          <a:lstStyle/>
          <a:p>
            <a:pPr algn="ctr" indent="0" marL="0">
              <a:buNone/>
            </a:pPr>
            <a:r>
              <a:rPr lang="en-US" sz="1150" dirty="0">
                <a:solidFill>
                  <a:srgbClr val="2B2F38"/>
                </a:solidFill>
                <a:latin typeface="Calibri" pitchFamily="34" charset="0"/>
                <a:ea typeface="Calibri" pitchFamily="34" charset="-122"/>
                <a:cs typeface="Calibri" pitchFamily="34" charset="-120"/>
              </a:rPr>
              <a:t>Despliegue automático tras cada cambio.</a:t>
            </a:r>
            <a:endParaRPr lang="en-US" sz="1150" dirty="0"/>
          </a:p>
        </p:txBody>
      </p:sp>
      <p:sp>
        <p:nvSpPr>
          <p:cNvPr id="14" name="Shape 12"/>
          <p:cNvSpPr/>
          <p:nvPr/>
        </p:nvSpPr>
        <p:spPr>
          <a:xfrm>
            <a:off x="3840480" y="1965960"/>
            <a:ext cx="1463040" cy="0"/>
          </a:xfrm>
          <a:prstGeom prst="line">
            <a:avLst/>
          </a:prstGeom>
          <a:noFill/>
          <a:ln w="25400">
            <a:solidFill>
              <a:srgbClr val="FF9900"/>
            </a:solidFill>
            <a:prstDash val="solid"/>
            <a:tailEnd type="triangle"/>
          </a:ln>
        </p:spPr>
      </p:sp>
      <p:sp>
        <p:nvSpPr>
          <p:cNvPr id="15" name="Shape 13"/>
          <p:cNvSpPr/>
          <p:nvPr/>
        </p:nvSpPr>
        <p:spPr>
          <a:xfrm>
            <a:off x="4663440" y="1508760"/>
            <a:ext cx="1920240" cy="3108960"/>
          </a:xfrm>
          <a:prstGeom prst="roundRect">
            <a:avLst>
              <a:gd name="adj" fmla="val 3810"/>
            </a:avLst>
          </a:prstGeom>
          <a:solidFill>
            <a:srgbClr val="F3F5F7"/>
          </a:solidFill>
          <a:ln w="12700">
            <a:solidFill>
              <a:srgbClr val="F3F5F7"/>
            </a:solidFill>
            <a:prstDash val="solid"/>
          </a:ln>
        </p:spPr>
      </p:sp>
      <p:sp>
        <p:nvSpPr>
          <p:cNvPr id="16" name="Shape 14"/>
          <p:cNvSpPr/>
          <p:nvPr/>
        </p:nvSpPr>
        <p:spPr>
          <a:xfrm>
            <a:off x="5349240" y="1691640"/>
            <a:ext cx="548640" cy="548640"/>
          </a:xfrm>
          <a:prstGeom prst="ellipse">
            <a:avLst/>
          </a:prstGeom>
          <a:solidFill>
            <a:srgbClr val="232F3E"/>
          </a:solidFill>
          <a:ln w="12700">
            <a:solidFill>
              <a:srgbClr val="232F3E"/>
            </a:solidFill>
            <a:prstDash val="solid"/>
          </a:ln>
        </p:spPr>
      </p:sp>
      <p:sp>
        <p:nvSpPr>
          <p:cNvPr id="17" name="Text 15"/>
          <p:cNvSpPr txBox="1"/>
          <p:nvPr/>
        </p:nvSpPr>
        <p:spPr>
          <a:xfrm>
            <a:off x="5349240" y="16916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18" name="Text 16"/>
          <p:cNvSpPr txBox="1"/>
          <p:nvPr/>
        </p:nvSpPr>
        <p:spPr>
          <a:xfrm>
            <a:off x="4800600" y="2377440"/>
            <a:ext cx="1645920" cy="548640"/>
          </a:xfrm>
          <a:prstGeom prst="rect">
            <a:avLst/>
          </a:prstGeom>
          <a:noFill/>
          <a:ln/>
        </p:spPr>
        <p:txBody>
          <a:bodyPr wrap="square" lIns="0" tIns="0" rIns="0" bIns="0" rtlCol="0" anchor="ctr"/>
          <a:lstStyle/>
          <a:p>
            <a:pPr algn="ctr" indent="0" marL="0">
              <a:buNone/>
            </a:pPr>
            <a:r>
              <a:rPr lang="en-US" sz="1300" b="1" dirty="0">
                <a:solidFill>
                  <a:srgbClr val="232F3E"/>
                </a:solidFill>
                <a:latin typeface="Arial" pitchFamily="34" charset="0"/>
                <a:ea typeface="Arial" pitchFamily="34" charset="-122"/>
                <a:cs typeface="Arial" pitchFamily="34" charset="-120"/>
              </a:rPr>
              <a:t>Cuenta de preproducción</a:t>
            </a:r>
            <a:endParaRPr lang="en-US" sz="1300" dirty="0"/>
          </a:p>
        </p:txBody>
      </p:sp>
      <p:sp>
        <p:nvSpPr>
          <p:cNvPr id="19" name="Text 17"/>
          <p:cNvSpPr txBox="1"/>
          <p:nvPr/>
        </p:nvSpPr>
        <p:spPr>
          <a:xfrm>
            <a:off x="4800600" y="2971800"/>
            <a:ext cx="1645920" cy="1554480"/>
          </a:xfrm>
          <a:prstGeom prst="rect">
            <a:avLst/>
          </a:prstGeom>
          <a:noFill/>
          <a:ln/>
        </p:spPr>
        <p:txBody>
          <a:bodyPr wrap="square" lIns="0" tIns="0" rIns="0" bIns="0" rtlCol="0" anchor="t"/>
          <a:lstStyle/>
          <a:p>
            <a:pPr algn="ctr" indent="0" marL="0">
              <a:buNone/>
            </a:pPr>
            <a:r>
              <a:rPr lang="en-US" sz="1150" dirty="0">
                <a:solidFill>
                  <a:srgbClr val="2B2F38"/>
                </a:solidFill>
                <a:latin typeface="Calibri" pitchFamily="34" charset="0"/>
                <a:ea typeface="Calibri" pitchFamily="34" charset="-122"/>
                <a:cs typeface="Calibri" pitchFamily="34" charset="-120"/>
              </a:rPr>
              <a:t>Pruebas de integración y rendimiento.</a:t>
            </a:r>
            <a:endParaRPr lang="en-US" sz="1150" dirty="0"/>
          </a:p>
        </p:txBody>
      </p:sp>
      <p:sp>
        <p:nvSpPr>
          <p:cNvPr id="20" name="Shape 18"/>
          <p:cNvSpPr/>
          <p:nvPr/>
        </p:nvSpPr>
        <p:spPr>
          <a:xfrm>
            <a:off x="5943600" y="1965960"/>
            <a:ext cx="1463040" cy="0"/>
          </a:xfrm>
          <a:prstGeom prst="line">
            <a:avLst/>
          </a:prstGeom>
          <a:noFill/>
          <a:ln w="25400">
            <a:solidFill>
              <a:srgbClr val="FF9900"/>
            </a:solidFill>
            <a:prstDash val="solid"/>
            <a:tailEnd type="triangle"/>
          </a:ln>
        </p:spPr>
      </p:sp>
      <p:sp>
        <p:nvSpPr>
          <p:cNvPr id="21" name="Shape 19"/>
          <p:cNvSpPr/>
          <p:nvPr/>
        </p:nvSpPr>
        <p:spPr>
          <a:xfrm>
            <a:off x="6766560" y="1508760"/>
            <a:ext cx="1920240" cy="3108960"/>
          </a:xfrm>
          <a:prstGeom prst="roundRect">
            <a:avLst>
              <a:gd name="adj" fmla="val 3810"/>
            </a:avLst>
          </a:prstGeom>
          <a:solidFill>
            <a:srgbClr val="F3F5F7"/>
          </a:solidFill>
          <a:ln w="12700">
            <a:solidFill>
              <a:srgbClr val="F3F5F7"/>
            </a:solidFill>
            <a:prstDash val="solid"/>
          </a:ln>
        </p:spPr>
      </p:sp>
      <p:sp>
        <p:nvSpPr>
          <p:cNvPr id="22" name="Shape 20"/>
          <p:cNvSpPr/>
          <p:nvPr/>
        </p:nvSpPr>
        <p:spPr>
          <a:xfrm>
            <a:off x="7452360" y="1691640"/>
            <a:ext cx="548640" cy="548640"/>
          </a:xfrm>
          <a:prstGeom prst="ellipse">
            <a:avLst/>
          </a:prstGeom>
          <a:solidFill>
            <a:srgbClr val="232F3E"/>
          </a:solidFill>
          <a:ln w="12700">
            <a:solidFill>
              <a:srgbClr val="232F3E"/>
            </a:solidFill>
            <a:prstDash val="solid"/>
          </a:ln>
        </p:spPr>
      </p:sp>
      <p:sp>
        <p:nvSpPr>
          <p:cNvPr id="23" name="Text 21"/>
          <p:cNvSpPr txBox="1"/>
          <p:nvPr/>
        </p:nvSpPr>
        <p:spPr>
          <a:xfrm>
            <a:off x="7452360" y="16916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4</a:t>
            </a:r>
            <a:endParaRPr lang="en-US" sz="1800" dirty="0"/>
          </a:p>
        </p:txBody>
      </p:sp>
      <p:sp>
        <p:nvSpPr>
          <p:cNvPr id="24" name="Text 22"/>
          <p:cNvSpPr txBox="1"/>
          <p:nvPr/>
        </p:nvSpPr>
        <p:spPr>
          <a:xfrm>
            <a:off x="6903720" y="2377440"/>
            <a:ext cx="1645920" cy="548640"/>
          </a:xfrm>
          <a:prstGeom prst="rect">
            <a:avLst/>
          </a:prstGeom>
          <a:noFill/>
          <a:ln/>
        </p:spPr>
        <p:txBody>
          <a:bodyPr wrap="square" lIns="0" tIns="0" rIns="0" bIns="0" rtlCol="0" anchor="ctr"/>
          <a:lstStyle/>
          <a:p>
            <a:pPr algn="ctr" indent="0" marL="0">
              <a:buNone/>
            </a:pPr>
            <a:r>
              <a:rPr lang="en-US" sz="1300" b="1" dirty="0">
                <a:solidFill>
                  <a:srgbClr val="232F3E"/>
                </a:solidFill>
                <a:latin typeface="Arial" pitchFamily="34" charset="0"/>
                <a:ea typeface="Arial" pitchFamily="34" charset="-122"/>
                <a:cs typeface="Arial" pitchFamily="34" charset="-120"/>
              </a:rPr>
              <a:t>Cuenta de producción</a:t>
            </a:r>
            <a:endParaRPr lang="en-US" sz="1300" dirty="0"/>
          </a:p>
        </p:txBody>
      </p:sp>
      <p:sp>
        <p:nvSpPr>
          <p:cNvPr id="25" name="Text 23"/>
          <p:cNvSpPr txBox="1"/>
          <p:nvPr/>
        </p:nvSpPr>
        <p:spPr>
          <a:xfrm>
            <a:off x="6903720" y="2971800"/>
            <a:ext cx="1645920" cy="1554480"/>
          </a:xfrm>
          <a:prstGeom prst="rect">
            <a:avLst/>
          </a:prstGeom>
          <a:noFill/>
          <a:ln/>
        </p:spPr>
        <p:txBody>
          <a:bodyPr wrap="square" lIns="0" tIns="0" rIns="0" bIns="0" rtlCol="0" anchor="t"/>
          <a:lstStyle/>
          <a:p>
            <a:pPr algn="ctr" indent="0" marL="0">
              <a:buNone/>
            </a:pPr>
            <a:r>
              <a:rPr lang="en-US" sz="1150" dirty="0">
                <a:solidFill>
                  <a:srgbClr val="2B2F38"/>
                </a:solidFill>
                <a:latin typeface="Calibri" pitchFamily="34" charset="0"/>
                <a:ea typeface="Calibri" pitchFamily="34" charset="-122"/>
                <a:cs typeface="Calibri" pitchFamily="34" charset="-120"/>
              </a:rPr>
              <a:t>Aprobación y rol de despliegue acotado.</a:t>
            </a:r>
            <a:endParaRPr lang="en-US" sz="1150" dirty="0"/>
          </a:p>
        </p:txBody>
      </p:sp>
      <p:sp>
        <p:nvSpPr>
          <p:cNvPr id="26" name="Text 24"/>
          <p:cNvSpPr txBox="1"/>
          <p:nvPr/>
        </p:nvSpPr>
        <p:spPr>
          <a:xfrm>
            <a:off x="457200" y="4773168"/>
            <a:ext cx="6400800" cy="228600"/>
          </a:xfrm>
          <a:prstGeom prst="rect">
            <a:avLst/>
          </a:prstGeom>
          <a:noFill/>
          <a:ln/>
        </p:spPr>
        <p:txBody>
          <a:bodyPr wrap="square" lIns="0" tIns="0" rIns="0" bIns="0" rtlCol="0" anchor="t"/>
          <a:lstStyle/>
          <a:p>
            <a:pPr indent="0" marL="0">
              <a:buNone/>
            </a:pPr>
            <a:r>
              <a:rPr lang="en-US" sz="900" dirty="0">
                <a:solidFill>
                  <a:srgbClr val="8A8F98"/>
                </a:solidFill>
                <a:latin typeface="Calibri" pitchFamily="34" charset="0"/>
                <a:ea typeface="Calibri" pitchFamily="34" charset="-122"/>
                <a:cs typeface="Calibri" pitchFamily="34" charset="-120"/>
              </a:rPr>
              <a:t>DevOps en AWS  ·  Sesión 2</a:t>
            </a:r>
            <a:endParaRPr lang="en-US" sz="900" dirty="0"/>
          </a:p>
        </p:txBody>
      </p:sp>
      <p:sp>
        <p:nvSpPr>
          <p:cNvPr id="27" name="Text 25"/>
          <p:cNvSpPr txBox="1"/>
          <p:nvPr/>
        </p:nvSpPr>
        <p:spPr>
          <a:xfrm>
            <a:off x="8138160" y="4773168"/>
            <a:ext cx="548640" cy="228600"/>
          </a:xfrm>
          <a:prstGeom prst="rect">
            <a:avLst/>
          </a:prstGeom>
          <a:noFill/>
          <a:ln/>
        </p:spPr>
        <p:txBody>
          <a:bodyPr wrap="square" lIns="0" tIns="0" rIns="0" bIns="0" rtlCol="0" anchor="t"/>
          <a:lstStyle/>
          <a:p>
            <a:pPr algn="r" indent="0" marL="0">
              <a:buNone/>
            </a:pPr>
            <a:r>
              <a:rPr lang="en-US" sz="900" dirty="0">
                <a:solidFill>
                  <a:srgbClr val="8A8F98"/>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232F3E"/>
        </a:solidFill>
      </p:bgPr>
    </p:bg>
    <p:spTree>
      <p:nvGrpSpPr>
        <p:cNvPr id="1" name=""/>
        <p:cNvGrpSpPr/>
        <p:nvPr/>
      </p:nvGrpSpPr>
      <p:grpSpPr>
        <a:xfrm>
          <a:off x="0" y="0"/>
          <a:ext cx="0" cy="0"/>
          <a:chOff x="0" y="0"/>
          <a:chExt cx="0" cy="0"/>
        </a:xfrm>
      </p:grpSpPr>
      <p:sp>
        <p:nvSpPr>
          <p:cNvPr id="2" name="Text 0"/>
          <p:cNvSpPr txBox="1"/>
          <p:nvPr/>
        </p:nvSpPr>
        <p:spPr>
          <a:xfrm>
            <a:off x="548640" y="548640"/>
            <a:ext cx="8046720" cy="82296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Resumen del curso</a:t>
            </a:r>
            <a:endParaRPr lang="en-US" sz="3000" dirty="0"/>
          </a:p>
        </p:txBody>
      </p:sp>
      <p:sp>
        <p:nvSpPr>
          <p:cNvPr id="3" name="Shape 1"/>
          <p:cNvSpPr/>
          <p:nvPr/>
        </p:nvSpPr>
        <p:spPr>
          <a:xfrm>
            <a:off x="548640" y="1463040"/>
            <a:ext cx="365760" cy="365760"/>
          </a:xfrm>
          <a:prstGeom prst="ellipse">
            <a:avLst/>
          </a:prstGeom>
          <a:solidFill>
            <a:srgbClr val="FF9900"/>
          </a:solidFill>
          <a:ln w="12700">
            <a:solidFill>
              <a:srgbClr val="FF9900"/>
            </a:solidFill>
            <a:prstDash val="solid"/>
          </a:ln>
        </p:spPr>
      </p:sp>
      <p:sp>
        <p:nvSpPr>
          <p:cNvPr id="4" name="Text 2"/>
          <p:cNvSpPr txBox="1"/>
          <p:nvPr/>
        </p:nvSpPr>
        <p:spPr>
          <a:xfrm>
            <a:off x="548640" y="1463040"/>
            <a:ext cx="365760" cy="365760"/>
          </a:xfrm>
          <a:prstGeom prst="rect">
            <a:avLst/>
          </a:prstGeom>
          <a:noFill/>
          <a:ln/>
        </p:spPr>
        <p:txBody>
          <a:bodyPr wrap="square" lIns="0" tIns="0" rIns="0" bIns="0" rtlCol="0" anchor="ctr"/>
          <a:lstStyle/>
          <a:p>
            <a:pPr algn="ctr" indent="0" marL="0">
              <a:buNone/>
            </a:pPr>
            <a:r>
              <a:rPr lang="en-US" sz="1200" b="1" dirty="0">
                <a:solidFill>
                  <a:srgbClr val="232F3E"/>
                </a:solidFill>
                <a:latin typeface="Arial" pitchFamily="34" charset="0"/>
                <a:ea typeface="Arial" pitchFamily="34" charset="-122"/>
                <a:cs typeface="Arial" pitchFamily="34" charset="-120"/>
              </a:rPr>
              <a:t>✓</a:t>
            </a:r>
            <a:endParaRPr lang="en-US" sz="1200" dirty="0"/>
          </a:p>
        </p:txBody>
      </p:sp>
      <p:sp>
        <p:nvSpPr>
          <p:cNvPr id="5" name="Text 3"/>
          <p:cNvSpPr txBox="1"/>
          <p:nvPr/>
        </p:nvSpPr>
        <p:spPr>
          <a:xfrm>
            <a:off x="1097280" y="1417320"/>
            <a:ext cx="749808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Infraestructura como código revisable, con change sets y drift</a:t>
            </a:r>
            <a:endParaRPr lang="en-US" sz="1400" dirty="0"/>
          </a:p>
        </p:txBody>
      </p:sp>
      <p:sp>
        <p:nvSpPr>
          <p:cNvPr id="6" name="Shape 4"/>
          <p:cNvSpPr/>
          <p:nvPr/>
        </p:nvSpPr>
        <p:spPr>
          <a:xfrm>
            <a:off x="548640" y="2011680"/>
            <a:ext cx="365760" cy="365760"/>
          </a:xfrm>
          <a:prstGeom prst="ellipse">
            <a:avLst/>
          </a:prstGeom>
          <a:solidFill>
            <a:srgbClr val="FF9900"/>
          </a:solidFill>
          <a:ln w="12700">
            <a:solidFill>
              <a:srgbClr val="FF9900"/>
            </a:solidFill>
            <a:prstDash val="solid"/>
          </a:ln>
        </p:spPr>
      </p:sp>
      <p:sp>
        <p:nvSpPr>
          <p:cNvPr id="7" name="Text 5"/>
          <p:cNvSpPr txBox="1"/>
          <p:nvPr/>
        </p:nvSpPr>
        <p:spPr>
          <a:xfrm>
            <a:off x="548640" y="2011680"/>
            <a:ext cx="365760" cy="365760"/>
          </a:xfrm>
          <a:prstGeom prst="rect">
            <a:avLst/>
          </a:prstGeom>
          <a:noFill/>
          <a:ln/>
        </p:spPr>
        <p:txBody>
          <a:bodyPr wrap="square" lIns="0" tIns="0" rIns="0" bIns="0" rtlCol="0" anchor="ctr"/>
          <a:lstStyle/>
          <a:p>
            <a:pPr algn="ctr" indent="0" marL="0">
              <a:buNone/>
            </a:pPr>
            <a:r>
              <a:rPr lang="en-US" sz="1200" b="1" dirty="0">
                <a:solidFill>
                  <a:srgbClr val="232F3E"/>
                </a:solidFill>
                <a:latin typeface="Arial" pitchFamily="34" charset="0"/>
                <a:ea typeface="Arial" pitchFamily="34" charset="-122"/>
                <a:cs typeface="Arial" pitchFamily="34" charset="-120"/>
              </a:rPr>
              <a:t>✓</a:t>
            </a:r>
            <a:endParaRPr lang="en-US" sz="1200" dirty="0"/>
          </a:p>
        </p:txBody>
      </p:sp>
      <p:sp>
        <p:nvSpPr>
          <p:cNvPr id="8" name="Text 6"/>
          <p:cNvSpPr txBox="1"/>
          <p:nvPr/>
        </p:nvSpPr>
        <p:spPr>
          <a:xfrm>
            <a:off x="1097280" y="1965960"/>
            <a:ext cx="749808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CI rápida y determinista con CodeBuild, informes y artefacto único</a:t>
            </a:r>
            <a:endParaRPr lang="en-US" sz="1400" dirty="0"/>
          </a:p>
        </p:txBody>
      </p:sp>
      <p:sp>
        <p:nvSpPr>
          <p:cNvPr id="9" name="Shape 7"/>
          <p:cNvSpPr/>
          <p:nvPr/>
        </p:nvSpPr>
        <p:spPr>
          <a:xfrm>
            <a:off x="548640" y="2560320"/>
            <a:ext cx="365760" cy="365760"/>
          </a:xfrm>
          <a:prstGeom prst="ellipse">
            <a:avLst/>
          </a:prstGeom>
          <a:solidFill>
            <a:srgbClr val="FF9900"/>
          </a:solidFill>
          <a:ln w="12700">
            <a:solidFill>
              <a:srgbClr val="FF9900"/>
            </a:solidFill>
            <a:prstDash val="solid"/>
          </a:ln>
        </p:spPr>
      </p:sp>
      <p:sp>
        <p:nvSpPr>
          <p:cNvPr id="10" name="Text 8"/>
          <p:cNvSpPr txBox="1"/>
          <p:nvPr/>
        </p:nvSpPr>
        <p:spPr>
          <a:xfrm>
            <a:off x="548640" y="2560320"/>
            <a:ext cx="365760" cy="365760"/>
          </a:xfrm>
          <a:prstGeom prst="rect">
            <a:avLst/>
          </a:prstGeom>
          <a:noFill/>
          <a:ln/>
        </p:spPr>
        <p:txBody>
          <a:bodyPr wrap="square" lIns="0" tIns="0" rIns="0" bIns="0" rtlCol="0" anchor="ctr"/>
          <a:lstStyle/>
          <a:p>
            <a:pPr algn="ctr" indent="0" marL="0">
              <a:buNone/>
            </a:pPr>
            <a:r>
              <a:rPr lang="en-US" sz="1200" b="1" dirty="0">
                <a:solidFill>
                  <a:srgbClr val="232F3E"/>
                </a:solidFill>
                <a:latin typeface="Arial" pitchFamily="34" charset="0"/>
                <a:ea typeface="Arial" pitchFamily="34" charset="-122"/>
                <a:cs typeface="Arial" pitchFamily="34" charset="-120"/>
              </a:rPr>
              <a:t>✓</a:t>
            </a:r>
            <a:endParaRPr lang="en-US" sz="1200" dirty="0"/>
          </a:p>
        </p:txBody>
      </p:sp>
      <p:sp>
        <p:nvSpPr>
          <p:cNvPr id="11" name="Text 9"/>
          <p:cNvSpPr txBox="1"/>
          <p:nvPr/>
        </p:nvSpPr>
        <p:spPr>
          <a:xfrm>
            <a:off x="1097280" y="2514600"/>
            <a:ext cx="749808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CodePipeline promociona el mismo artefacto entre entornos</a:t>
            </a:r>
            <a:endParaRPr lang="en-US" sz="1400" dirty="0"/>
          </a:p>
        </p:txBody>
      </p:sp>
      <p:sp>
        <p:nvSpPr>
          <p:cNvPr id="12" name="Shape 10"/>
          <p:cNvSpPr/>
          <p:nvPr/>
        </p:nvSpPr>
        <p:spPr>
          <a:xfrm>
            <a:off x="548640" y="3108960"/>
            <a:ext cx="365760" cy="365760"/>
          </a:xfrm>
          <a:prstGeom prst="ellipse">
            <a:avLst/>
          </a:prstGeom>
          <a:solidFill>
            <a:srgbClr val="FF9900"/>
          </a:solidFill>
          <a:ln w="12700">
            <a:solidFill>
              <a:srgbClr val="FF9900"/>
            </a:solidFill>
            <a:prstDash val="solid"/>
          </a:ln>
        </p:spPr>
      </p:sp>
      <p:sp>
        <p:nvSpPr>
          <p:cNvPr id="13" name="Text 11"/>
          <p:cNvSpPr txBox="1"/>
          <p:nvPr/>
        </p:nvSpPr>
        <p:spPr>
          <a:xfrm>
            <a:off x="548640" y="3108960"/>
            <a:ext cx="365760" cy="365760"/>
          </a:xfrm>
          <a:prstGeom prst="rect">
            <a:avLst/>
          </a:prstGeom>
          <a:noFill/>
          <a:ln/>
        </p:spPr>
        <p:txBody>
          <a:bodyPr wrap="square" lIns="0" tIns="0" rIns="0" bIns="0" rtlCol="0" anchor="ctr"/>
          <a:lstStyle/>
          <a:p>
            <a:pPr algn="ctr" indent="0" marL="0">
              <a:buNone/>
            </a:pPr>
            <a:r>
              <a:rPr lang="en-US" sz="1200" b="1" dirty="0">
                <a:solidFill>
                  <a:srgbClr val="232F3E"/>
                </a:solidFill>
                <a:latin typeface="Arial" pitchFamily="34" charset="0"/>
                <a:ea typeface="Arial" pitchFamily="34" charset="-122"/>
                <a:cs typeface="Arial" pitchFamily="34" charset="-120"/>
              </a:rPr>
              <a:t>✓</a:t>
            </a:r>
            <a:endParaRPr lang="en-US" sz="1200" dirty="0"/>
          </a:p>
        </p:txBody>
      </p:sp>
      <p:sp>
        <p:nvSpPr>
          <p:cNvPr id="14" name="Text 12"/>
          <p:cNvSpPr txBox="1"/>
          <p:nvPr/>
        </p:nvSpPr>
        <p:spPr>
          <a:xfrm>
            <a:off x="1097280" y="3063240"/>
            <a:ext cx="749808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Canary y alarmas: los fallos afectan a pocos y se revierten solos</a:t>
            </a:r>
            <a:endParaRPr lang="en-US" sz="1400" dirty="0"/>
          </a:p>
        </p:txBody>
      </p:sp>
      <p:sp>
        <p:nvSpPr>
          <p:cNvPr id="15" name="Shape 13"/>
          <p:cNvSpPr/>
          <p:nvPr/>
        </p:nvSpPr>
        <p:spPr>
          <a:xfrm>
            <a:off x="548640" y="3657600"/>
            <a:ext cx="365760" cy="365760"/>
          </a:xfrm>
          <a:prstGeom prst="ellipse">
            <a:avLst/>
          </a:prstGeom>
          <a:solidFill>
            <a:srgbClr val="FF9900"/>
          </a:solidFill>
          <a:ln w="12700">
            <a:solidFill>
              <a:srgbClr val="FF9900"/>
            </a:solidFill>
            <a:prstDash val="solid"/>
          </a:ln>
        </p:spPr>
      </p:sp>
      <p:sp>
        <p:nvSpPr>
          <p:cNvPr id="16" name="Text 14"/>
          <p:cNvSpPr txBox="1"/>
          <p:nvPr/>
        </p:nvSpPr>
        <p:spPr>
          <a:xfrm>
            <a:off x="548640" y="3657600"/>
            <a:ext cx="365760" cy="365760"/>
          </a:xfrm>
          <a:prstGeom prst="rect">
            <a:avLst/>
          </a:prstGeom>
          <a:noFill/>
          <a:ln/>
        </p:spPr>
        <p:txBody>
          <a:bodyPr wrap="square" lIns="0" tIns="0" rIns="0" bIns="0" rtlCol="0" anchor="ctr"/>
          <a:lstStyle/>
          <a:p>
            <a:pPr algn="ctr" indent="0" marL="0">
              <a:buNone/>
            </a:pPr>
            <a:r>
              <a:rPr lang="en-US" sz="1200" b="1" dirty="0">
                <a:solidFill>
                  <a:srgbClr val="232F3E"/>
                </a:solidFill>
                <a:latin typeface="Arial" pitchFamily="34" charset="0"/>
                <a:ea typeface="Arial" pitchFamily="34" charset="-122"/>
                <a:cs typeface="Arial" pitchFamily="34" charset="-120"/>
              </a:rPr>
              <a:t>✓</a:t>
            </a:r>
            <a:endParaRPr lang="en-US" sz="1200" dirty="0"/>
          </a:p>
        </p:txBody>
      </p:sp>
      <p:sp>
        <p:nvSpPr>
          <p:cNvPr id="17" name="Text 15"/>
          <p:cNvSpPr txBox="1"/>
          <p:nvPr/>
        </p:nvSpPr>
        <p:spPr>
          <a:xfrm>
            <a:off x="1097280" y="3611880"/>
            <a:ext cx="749808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Mínimo privilegio, OIDC y multi-cuenta para proteger la pipeline</a:t>
            </a:r>
            <a:endParaRPr lang="en-US" sz="1400" dirty="0"/>
          </a:p>
        </p:txBody>
      </p:sp>
      <p:sp>
        <p:nvSpPr>
          <p:cNvPr id="18" name="Text 16"/>
          <p:cNvSpPr txBox="1"/>
          <p:nvPr/>
        </p:nvSpPr>
        <p:spPr>
          <a:xfrm>
            <a:off x="548640" y="4480560"/>
            <a:ext cx="8046720" cy="365760"/>
          </a:xfrm>
          <a:prstGeom prst="rect">
            <a:avLst/>
          </a:prstGeom>
          <a:noFill/>
          <a:ln/>
        </p:spPr>
        <p:txBody>
          <a:bodyPr wrap="square" lIns="0" tIns="0" rIns="0" bIns="0" rtlCol="0" anchor="t"/>
          <a:lstStyle/>
          <a:p>
            <a:pPr indent="0" marL="0">
              <a:buNone/>
            </a:pPr>
            <a:r>
              <a:rPr lang="en-US" sz="1200" b="1" dirty="0">
                <a:solidFill>
                  <a:srgbClr val="FF9900"/>
                </a:solidFill>
                <a:latin typeface="Calibri" pitchFamily="34" charset="0"/>
                <a:ea typeface="Calibri" pitchFamily="34" charset="-122"/>
                <a:cs typeface="Calibri" pitchFamily="34" charset="-120"/>
              </a:rPr>
              <a:t>Gracias · Materiales y prácticas disponibles en el repositorio del curso</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Diseño e implementación de soluciones DevOps en AWS – Sesión 2</dc:title>
  <dc:subject>PptxGenJS Presentation</dc:subject>
  <dc:creator>Jorge</dc:creator>
  <cp:lastModifiedBy>Jorge</cp:lastModifiedBy>
  <cp:revision>1</cp:revision>
  <dcterms:created xsi:type="dcterms:W3CDTF">2026-09-30T08:41:20Z</dcterms:created>
  <dcterms:modified xsi:type="dcterms:W3CDTF">2026-09-30T08:41:20Z</dcterms:modified>
</cp:coreProperties>
</file>